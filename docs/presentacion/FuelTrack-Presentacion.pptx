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d0c0a27918f4778" /><Relationship Type="http://schemas.openxmlformats.org/officeDocument/2006/relationships/extended-properties" Target="/docProps/app.xml" Id="Ra9cec9035d484ac6" /><Relationship Type="http://schemas.openxmlformats.org/officeDocument/2006/relationships/officeDocument" Target="/ppt/presentation.xml" Id="Rb7ebc66edee64cf5" /></Relationships>
</file>

<file path=ppt/presentation.xml><?xml version="1.0" encoding="utf-8"?>
<p:presentation xmlns:p="http://schemas.openxmlformats.org/presentationml/2006/main">
  <p:sldMasterIdLst>
    <p:sldMasterId xmlns:r="http://schemas.openxmlformats.org/officeDocument/2006/relationships" id="2147483648" r:id="R0259d329e63844a8"/>
  </p:sldMasterIdLst>
  <p:notesMasterIdLst>
    <p:notesMasterId xmlns:r="http://schemas.openxmlformats.org/officeDocument/2006/relationships" r:id="Raf15f29a477d4d0d"/>
  </p:notesMasterIdLst>
  <p:sldIdLst>
    <p:sldId xmlns:r="http://schemas.openxmlformats.org/officeDocument/2006/relationships" id="256" r:id="R6dadc270fcfc4788"/>
    <p:sldId xmlns:r="http://schemas.openxmlformats.org/officeDocument/2006/relationships" id="257" r:id="Rf39154e8e4684f75"/>
    <p:sldId xmlns:r="http://schemas.openxmlformats.org/officeDocument/2006/relationships" id="258" r:id="R260cb64ce69940bb"/>
    <p:sldId xmlns:r="http://schemas.openxmlformats.org/officeDocument/2006/relationships" id="259" r:id="Rd1009e4035a44c7e"/>
    <p:sldId xmlns:r="http://schemas.openxmlformats.org/officeDocument/2006/relationships" id="260" r:id="R0b32fa7d315f4570"/>
    <p:sldId xmlns:r="http://schemas.openxmlformats.org/officeDocument/2006/relationships" id="261" r:id="R61569e53b2784174"/>
    <p:sldId xmlns:r="http://schemas.openxmlformats.org/officeDocument/2006/relationships" id="262" r:id="R437fff2e848a407d"/>
    <p:sldId xmlns:r="http://schemas.openxmlformats.org/officeDocument/2006/relationships" id="263" r:id="R5b042eb2271647e1"/>
    <p:sldId xmlns:r="http://schemas.openxmlformats.org/officeDocument/2006/relationships" id="264" r:id="Rb47f9ce45e5648f7"/>
    <p:sldId xmlns:r="http://schemas.openxmlformats.org/officeDocument/2006/relationships" id="265" r:id="R3e1af5379f69479d"/>
    <p:sldId xmlns:r="http://schemas.openxmlformats.org/officeDocument/2006/relationships" id="266" r:id="R51bd1bfc92ee4088"/>
    <p:sldId xmlns:r="http://schemas.openxmlformats.org/officeDocument/2006/relationships" id="267" r:id="R18b5a70889bf44a0"/>
    <p:sldId xmlns:r="http://schemas.openxmlformats.org/officeDocument/2006/relationships" id="268" r:id="Rf5a8d3a668594443"/>
    <p:sldId xmlns:r="http://schemas.openxmlformats.org/officeDocument/2006/relationships" id="269" r:id="R7b90c073b1094ea5"/>
    <p:sldId xmlns:r="http://schemas.openxmlformats.org/officeDocument/2006/relationships" id="270" r:id="R760182356eaa4090"/>
    <p:sldId xmlns:r="http://schemas.openxmlformats.org/officeDocument/2006/relationships" id="271" r:id="Rcbb8284fa05f45e1"/>
    <p:sldId xmlns:r="http://schemas.openxmlformats.org/officeDocument/2006/relationships" id="272" r:id="R5bf9dd2a20814326"/>
    <p:sldId xmlns:r="http://schemas.openxmlformats.org/officeDocument/2006/relationships" id="273" r:id="R9ae9c1ce555e4807"/>
    <p:sldId xmlns:r="http://schemas.openxmlformats.org/officeDocument/2006/relationships" id="274" r:id="R11ba1e5f5b6e44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d32c863f12417d" /><Relationship Type="http://schemas.openxmlformats.org/officeDocument/2006/relationships/slideMaster" Target="/ppt/slideMasters/slideMaster1.xml" Id="R0259d329e63844a8" /><Relationship Type="http://schemas.openxmlformats.org/officeDocument/2006/relationships/notesMaster" Target="/ppt/notesMasters/notesMaster1.xml" Id="Raf15f29a477d4d0d" /><Relationship Type="http://schemas.openxmlformats.org/officeDocument/2006/relationships/presProps" Target="/ppt/presProps.xml" Id="Rb4e55cfb7936427b" /><Relationship Type="http://schemas.openxmlformats.org/officeDocument/2006/relationships/tableStyles" Target="/ppt/tableStyles.xml" Id="R9d1e908c3b71432b" /><Relationship Type="http://schemas.openxmlformats.org/officeDocument/2006/relationships/slide" Target="/ppt/slides/slide1.xml" Id="R6dadc270fcfc4788" /><Relationship Type="http://schemas.openxmlformats.org/officeDocument/2006/relationships/slide" Target="/ppt/slides/slide2.xml" Id="Rf39154e8e4684f75" /><Relationship Type="http://schemas.openxmlformats.org/officeDocument/2006/relationships/slide" Target="/ppt/slides/slide3.xml" Id="R260cb64ce69940bb" /><Relationship Type="http://schemas.openxmlformats.org/officeDocument/2006/relationships/slide" Target="/ppt/slides/slide4.xml" Id="Rd1009e4035a44c7e" /><Relationship Type="http://schemas.openxmlformats.org/officeDocument/2006/relationships/slide" Target="/ppt/slides/slide5.xml" Id="R0b32fa7d315f4570" /><Relationship Type="http://schemas.openxmlformats.org/officeDocument/2006/relationships/slide" Target="/ppt/slides/slide6.xml" Id="R61569e53b2784174" /><Relationship Type="http://schemas.openxmlformats.org/officeDocument/2006/relationships/slide" Target="/ppt/slides/slide7.xml" Id="R437fff2e848a407d" /><Relationship Type="http://schemas.openxmlformats.org/officeDocument/2006/relationships/slide" Target="/ppt/slides/slide8.xml" Id="R5b042eb2271647e1" /><Relationship Type="http://schemas.openxmlformats.org/officeDocument/2006/relationships/slide" Target="/ppt/slides/slide9.xml" Id="Rb47f9ce45e5648f7" /><Relationship Type="http://schemas.openxmlformats.org/officeDocument/2006/relationships/slide" Target="/ppt/slides/slide10.xml" Id="R3e1af5379f69479d" /><Relationship Type="http://schemas.openxmlformats.org/officeDocument/2006/relationships/slide" Target="/ppt/slides/slide11.xml" Id="R51bd1bfc92ee4088" /><Relationship Type="http://schemas.openxmlformats.org/officeDocument/2006/relationships/slide" Target="/ppt/slides/slide12.xml" Id="R18b5a70889bf44a0" /><Relationship Type="http://schemas.openxmlformats.org/officeDocument/2006/relationships/slide" Target="/ppt/slides/slide13.xml" Id="Rf5a8d3a668594443" /><Relationship Type="http://schemas.openxmlformats.org/officeDocument/2006/relationships/slide" Target="/ppt/slides/slide14.xml" Id="R7b90c073b1094ea5" /><Relationship Type="http://schemas.openxmlformats.org/officeDocument/2006/relationships/slide" Target="/ppt/slides/slide15.xml" Id="R760182356eaa4090" /><Relationship Type="http://schemas.openxmlformats.org/officeDocument/2006/relationships/slide" Target="/ppt/slides/slide16.xml" Id="Rcbb8284fa05f45e1" /><Relationship Type="http://schemas.openxmlformats.org/officeDocument/2006/relationships/slide" Target="/ppt/slides/slide17.xml" Id="R5bf9dd2a20814326" /><Relationship Type="http://schemas.openxmlformats.org/officeDocument/2006/relationships/slide" Target="/ppt/slides/slide18.xml" Id="R9ae9c1ce555e4807" /><Relationship Type="http://schemas.openxmlformats.org/officeDocument/2006/relationships/slide" Target="/ppt/slides/slide19.xml" Id="R11ba1e5f5b6e44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69727c7bf164c9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a5a8368e238497f" /><Relationship Type="http://schemas.openxmlformats.org/officeDocument/2006/relationships/notesMaster" Target="/ppt/notesMasters/notesMaster1.xml" Id="Rad78f1226fbd4a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d66e9ac5c71a418a" /><Relationship Type="http://schemas.openxmlformats.org/officeDocument/2006/relationships/notesMaster" Target="/ppt/notesMasters/notesMaster1.xml" Id="Rb4e519bf05a041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9562d32823454f" /><Relationship Type="http://schemas.openxmlformats.org/officeDocument/2006/relationships/notesMaster" Target="/ppt/notesMasters/notesMaster1.xml" Id="Rc743a7097efc492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0111b61869a4653" /><Relationship Type="http://schemas.openxmlformats.org/officeDocument/2006/relationships/notesMaster" Target="/ppt/notesMasters/notesMaster1.xml" Id="R0c4bc65576cb43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0c84eae85b4a77" /><Relationship Type="http://schemas.openxmlformats.org/officeDocument/2006/relationships/notesMaster" Target="/ppt/notesMasters/notesMaster1.xml" Id="Red1f63cf59d849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1efc6631eafc48a7" /><Relationship Type="http://schemas.openxmlformats.org/officeDocument/2006/relationships/notesMaster" Target="/ppt/notesMasters/notesMaster1.xml" Id="R6994b8cb9ec74c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61febb0ad9f4e04" /><Relationship Type="http://schemas.openxmlformats.org/officeDocument/2006/relationships/notesMaster" Target="/ppt/notesMasters/notesMaster1.xml" Id="Rac3be15d1b74453a" /></Relationships>
</file>

<file path=ppt/notesSlides/_rels/notesSlide8.xml.rels>&#65279;<?xml version="1.0" encoding="utf-8"?><Relationships xmlns="http://schemas.openxmlformats.org/package/2006/relationships"><Relationship Type="http://schemas.openxmlformats.org/officeDocument/2006/relationships/slide" Target="/ppt/slides/slide8.xml" Id="R6b5e0ca791684136" /><Relationship Type="http://schemas.openxmlformats.org/officeDocument/2006/relationships/notesMaster" Target="/ppt/notesMasters/notesMaster1.xml" Id="R58428ef8683b4f5c"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57bbd07bfd460a" /><Relationship Type="http://schemas.openxmlformats.org/officeDocument/2006/relationships/notesMaster" Target="/ppt/notesMasters/notesMaster1.xml" Id="R15d1bc9c8cd245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390260a664f434e" /><Relationship Type="http://schemas.openxmlformats.org/officeDocument/2006/relationships/notesMaster" Target="/ppt/notesMasters/notesMaster1.xml" Id="R4b0ccc46a1c3481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d51adfd1b33453f" /><Relationship Type="http://schemas.openxmlformats.org/officeDocument/2006/relationships/notesMaster" Target="/ppt/notesMasters/notesMaster1.xml" Id="R025c31a32adb4d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bc8650b5a64f36" /><Relationship Type="http://schemas.openxmlformats.org/officeDocument/2006/relationships/notesMaster" Target="/ppt/notesMasters/notesMaster1.xml" Id="R5c333522244f464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ff7cce225f499b" /><Relationship Type="http://schemas.openxmlformats.org/officeDocument/2006/relationships/notesMaster" Target="/ppt/notesMasters/notesMaster1.xml" Id="R010f0d08980f41c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4c2b1167d454f33" /><Relationship Type="http://schemas.openxmlformats.org/officeDocument/2006/relationships/notesMaster" Target="/ppt/notesMasters/notesMaster1.xml" Id="Rac6f8ace00cc4fd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1d2871ceed4442e" /><Relationship Type="http://schemas.openxmlformats.org/officeDocument/2006/relationships/notesMaster" Target="/ppt/notesMasters/notesMaster1.xml" Id="Rd8534d75bcc2478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cc6efb17b68459d" /><Relationship Type="http://schemas.openxmlformats.org/officeDocument/2006/relationships/notesMaster" Target="/ppt/notesMasters/notesMaster1.xml" Id="Rbb75e4ec247248a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fa282a5c87d449a" /><Relationship Type="http://schemas.openxmlformats.org/officeDocument/2006/relationships/notesMaster" Target="/ppt/notesMasters/notesMaster1.xml" Id="R48668b52793d4cd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ab115ec6f164601" /><Relationship Type="http://schemas.openxmlformats.org/officeDocument/2006/relationships/notesMaster" Target="/ppt/notesMasters/notesMaster1.xml" Id="R20c7ae39ac3d483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2abfd2b3b824ff5" /><Relationship Type="http://schemas.openxmlformats.org/officeDocument/2006/relationships/notesMaster" Target="/ppt/notesMasters/notesMaster1.xml" Id="R0dd115178ed44e9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Apertura: presentamos FuelTrack como una solución para la operación de combustible. Nuestro cliente necesita saber quién autorizó cada salida, quién recibió el combustible y cuánto queda. El alcance procede del SRS v1.0, agosto 2026. Grupo 6. No atribuir ahorros ni certificaciones que no se midieron.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SRS plantea control de solicitudes, tickets, despacho e inventario. Presentar estos riesgos como necesidades del cliente, no como incidentes medidos en INTEC. Pregunta de apertura opcional: ¿cómo comprobaría hoy una salida específica de combustible? Fuente: docs/SRS.md, apartados 1 y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navegador y la app Android consumen la misma API. PostgreSQL conserva el estado del negocio. Los avisos complementan la operación. Una notificación pendiente no sustituye la validación del ticket. Fuentes: docs/02-ARQUITECTURA.md y código actual.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Explicar separación de responsabilidades. Solicitante consulta su información. Consulta y Auditor no deben registrar operaciones. Los permisos concretos están en docs/27-CONTROL-ACCESO-ROLES-RBAC.md. La demostración cambia cuentas reales; no se cambia un selector de rol ficticio.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Narrar el caso de un empleado y su vehículo. El supervisor puede ajustar la cantidad autorizada. Emitir el QR no descuenta inventario; el despacho confirmado sí. Después se revisan movimientos y cierre. Fuente: controladores de Solicitudes, TicketService, DispatchService, CierreDiarioService.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opción histórica añadida calcula el promedio por despacho del mismo vehículo y combustible en los 90 días anteriores, excluyendo hoy. Lo limita por cantidad configurada y capacidad del vehículo. Sin historial no inventa una cantidad. Es una regla de implementación que se propone al cliente y debe explicarse; el SRS no fija el algoritmo. Cada resultado queda pendiente de aprobación. Fuente: SolicitudRecurrenteService.cs.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QR contiene un sobre FTQR1 con los datos de autorización, SHA-256 y firma ECDSA P-256. Un UUID o número de ticket escrito a mano no autoriza el despacho. El servidor verifica firma, vigencia y estado. El QR de esta presentación no se expone para no compartir una autorización vigente. Fuentes: TicketQrService.cs y DispatchService.cs.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Captura del APK de QA en el emulador Pixel 8. El acceso local solicita credenciales reales. La conexión se dirige al mismo servidor de la web. El emulador permite revisar navegación y operaciones; no acredita una SIM ni pruebas físicas de cámara. El ingreso manual admite el contenido íntegro del QR firmado, no un código corto. Fuente: mobile/lib y evidencia Android de esta revisión.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Mostrar que entradas suman, despachos restan y transferencias afectan ambos tanques en una transacción. Las correcciones bloquean sobrecapacidad, cantidades inválidas, combustibles incompatibles y catálogos desactivados. No presentar un ajuste como una compra. Fuente: InventarioController.cs, RecepcionesController.cs y pruebas BusinessIntegrity.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indicadores usan datos de la API. La pantalla actualiza periódicamente y permite refresco manual. Los valores de la captura pertenecen al entorno de pruebas, no a una operación real de INTEC. Mostrar en la demo el efecto de un despacho nuevo. Fuente: DashboardPage.jsx y DashboardService.cs.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Mostrar filtros por fechas, empleado, vehículo, departamento, combustible y estado cuando corresponden al tipo de reporte. Exportar conserva los filtros aplicados. El cierre compara el volumen despachado y las existencias, y genera PDF. No todos los filtros son pertinentes para todos los reportes. Fuentes: ReporteService.cs, ReportesPage.jsx, CierreDiarioService.cs.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Distinguir lenguaje de framework. El frontend del repositorio está escrito en JavaScript/JSX, no afirmar TypeScript. Backend C# con .NET 10, Entity Framework Core y PostgreSQL. El SRS menciona .NET 8: el equipo documentó la decisión de usar .NET 10 el 29/08/2026 en docs/16-DECISION-NET10.md. Esa decisión del equipo no equivale a una aprobación contractual del cliente.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autenticación local y Keycloak se verifican en la suite. OAuth/PKCE y validación JWT no sustituyen TLS de producción. Auditoría append-only protege frente a cambios por la aplicación, pero no se promete protección absoluta frente a un administrador de la infraestructura. Fuentes: docs/07-SEGURIDAD.md, RS-01 a RS-06 y tests de seguridad.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división documentada tiene seis integrantes: tres builders y tres testers. Builder 1 se enfoca en backend y datos; Builder 2 en seguridad, tickets, móvil e integraciones; Builder 3 en web y UX. Los testers revisan por fases. Las herramientas de IA apoyaron construcción y revisión. No atribuir autoría individual ni nombres que no se verificaron. Fuente: docs/13-DIVISION-EQUIPO.md y docs/qa.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Explicar las correcciones sin afirmar que el software carece de errores. Se corrigieron capacidad y compatibilidad, validaciones de entidades inactivas, coherencia empleado/vehículo, privacidad, permisos, sesión, reportes y QR. La suite del servidor de esta revisión tiene 458 pruebas aprobadas y cero omitidas, incluidas Keycloak. Añadimos Textbee, modo histórico, PWA y corrección visual del escáner. Las pruebas anteriores de 166 checks son históricas; no sumarlas como pruebas nuevas.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Fuentes oficiales consultadas 22/09/2026: https://textbee.dev/docs y https://textbee.dev/docs/api-reference. FuelTrack usa la API HTTPS; Textbee pasa el mensaje al Android vinculado y su SIM lo envía. Se probaron las solicitudes y acuses con HTTP local. El equipo solo dispone del emulador por ahora, por lo que no hay evidencia de SMS entregado. Aceptación del proveedor no equivale a recepción en el destino.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Seguir el guion adjunto. Usar datos de prueba, cuentas de distintos roles y un ticket nuevo en cada ensayo. Antes de consumir, anotar inventario. Registrar 2 galones autorizados y verificar diferencia exacta. Reintentar el mismo QR para demostrar rechazo. No editar la base para fingir resultados. Si no hay SIM, mostrar el correo local y declarar que SMS externo sigue pendiente.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matriz adjunta cruza los 24 requisitos funcionales, los seis de seguridad, la arquitectura y siete criterios de aceptación. La demo local no acredita operación en producción. Requieren cierre externo: SMS y correo real en el entorno objetivo, cámara/lector físico, login nativo de Keycloak y despliegue con TLS 1.3/AES-256, backups, restauración y disponibilidad. La distribución Android actual es QA/debug. No afirmar 100% del SRS.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Cierre sugerido: proponemos revisar juntos el flujo presentado y registrar la aceptación con la matriz de requisitos. Podemos demostrar qué ocurrió con cada galón y cada ticket en el entorno probado. Preguntas: reglas de asignación histórica, responsables operativos, infraestructura y equipos para el piloto. No prometer disponibilidad garantizada ni costos no presupuestados.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f3dbd546bad40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f8b59d3d6d4d04" /><Relationship Type="http://schemas.openxmlformats.org/officeDocument/2006/relationships/slideLayout" Target="/ppt/slideLayouts/slideLayout1.xml" Id="Rb71c3a5e8eb1476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1c3a5e8eb1476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0cf5e2151a04f50" /><Relationship Type="http://schemas.openxmlformats.org/officeDocument/2006/relationships/notesSlide" Target="/ppt/notesSlides/notesSlide1.xml" Id="Re49b2754972a48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2d09682c00c485e" /><Relationship Type="http://schemas.openxmlformats.org/officeDocument/2006/relationships/notesSlide" Target="/ppt/notesSlides/notesSlide2.xml" Id="R8b84deb5d0114c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efe2467776a49e8" /><Relationship Type="http://schemas.openxmlformats.org/officeDocument/2006/relationships/notesSlide" Target="/ppt/notesSlides/notesSlide3.xml" Id="R57b735b6e731449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f505cd785ed4f35" /><Relationship Type="http://schemas.openxmlformats.org/officeDocument/2006/relationships/notesSlide" Target="/ppt/notesSlides/notesSlide4.xml" Id="Ra1fa4c7b1f8c4d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5ce13b221394f4c" /><Relationship Type="http://schemas.openxmlformats.org/officeDocument/2006/relationships/notesSlide" Target="/ppt/notesSlides/notesSlide5.xml" Id="R699f2195673941d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c8cbc30073d40ad" /><Relationship Type="http://schemas.openxmlformats.org/officeDocument/2006/relationships/image" Target="/ppt/media/image.png" Id="R1f0156eec4e744ab" /><Relationship Type="http://schemas.openxmlformats.org/officeDocument/2006/relationships/notesSlide" Target="/ppt/notesSlides/notesSlide6.xml" Id="R73366b4acacd45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4f8c7ea33204d67" /><Relationship Type="http://schemas.openxmlformats.org/officeDocument/2006/relationships/image" Target="/ppt/media/image2.png" Id="R53354ad0cd9445cb" /><Relationship Type="http://schemas.openxmlformats.org/officeDocument/2006/relationships/notesSlide" Target="/ppt/notesSlides/notesSlide7.xml" Id="Rf8942265fbab45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3fd5016268142d8" /><Relationship Type="http://schemas.openxmlformats.org/officeDocument/2006/relationships/image" Target="/ppt/media/image3.png" Id="Rcbe20d2b766d47ad" /><Relationship Type="http://schemas.openxmlformats.org/officeDocument/2006/relationships/notesSlide" Target="/ppt/notesSlides/notesSlide8.xml" Id="R6ea0994542b14a9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86e3acd342743bd" /><Relationship Type="http://schemas.openxmlformats.org/officeDocument/2006/relationships/image" Target="/ppt/media/image4.png" Id="R6f6c5beee22b459f" /><Relationship Type="http://schemas.openxmlformats.org/officeDocument/2006/relationships/notesSlide" Target="/ppt/notesSlides/notesSlide9.xml" Id="Re520e76b195f410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1fa80e9fede48a9" /><Relationship Type="http://schemas.openxmlformats.org/officeDocument/2006/relationships/image" Target="/ppt/media/image5.png" Id="Rd191330f12704dc9" /><Relationship Type="http://schemas.openxmlformats.org/officeDocument/2006/relationships/notesSlide" Target="/ppt/notesSlides/notesSlide10.xml" Id="Rddac0992889c4e8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56d7907773945a7" /><Relationship Type="http://schemas.openxmlformats.org/officeDocument/2006/relationships/image" Target="/ppt/media/image6.png" Id="R6f141be8df53402d" /><Relationship Type="http://schemas.openxmlformats.org/officeDocument/2006/relationships/notesSlide" Target="/ppt/notesSlides/notesSlide11.xml" Id="R1a9a24f938c14d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afc594995a84d1c" /><Relationship Type="http://schemas.openxmlformats.org/officeDocument/2006/relationships/notesSlide" Target="/ppt/notesSlides/notesSlide12.xml" Id="R96f3037193d5400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96dfb730acb4f9e" /><Relationship Type="http://schemas.openxmlformats.org/officeDocument/2006/relationships/notesSlide" Target="/ppt/notesSlides/notesSlide13.xml" Id="R0be57a6954be4a3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a0197ea3ac84d86" /><Relationship Type="http://schemas.openxmlformats.org/officeDocument/2006/relationships/notesSlide" Target="/ppt/notesSlides/notesSlide14.xml" Id="Rdbea32a323254e0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ad6ade6d13f4a8e" /><Relationship Type="http://schemas.openxmlformats.org/officeDocument/2006/relationships/notesSlide" Target="/ppt/notesSlides/notesSlide15.xml" Id="R3f72ee6d44c1404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d2fdd63c3374c6d" /><Relationship Type="http://schemas.openxmlformats.org/officeDocument/2006/relationships/notesSlide" Target="/ppt/notesSlides/notesSlide16.xml" Id="R39f26487a6f4410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1b239a0bffe45cd" /><Relationship Type="http://schemas.openxmlformats.org/officeDocument/2006/relationships/notesSlide" Target="/ppt/notesSlides/notesSlide17.xml" Id="Rc8025da39230457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f256afc224a43b9" /><Relationship Type="http://schemas.openxmlformats.org/officeDocument/2006/relationships/notesSlide" Target="/ppt/notesSlides/notesSlide18.xml" Id="R55bfd423beed4bc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2a85336ffdf4330" /><Relationship Type="http://schemas.openxmlformats.org/officeDocument/2006/relationships/notesSlide" Target="/ppt/notesSlides/notesSlide19.xml" Id="R77324f6675734a04" /></Relationships>
</file>

<file path=ppt/slides/slide1.xml><?xml version="1.0" encoding="utf-8"?>
<p:sld xmlns:p="http://schemas.openxmlformats.org/presentationml/2006/main">
  <p:cSld>
    <p:bg>
      <p:bgPr>
        <a:solidFill xmlns:a="http://schemas.openxmlformats.org/drawingml/2006/main">
          <a:srgbClr val="173D3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2DE36FC-FCBA-41FB-A014-B2294A4AE852}"/>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CBDDD5"/>
                </a:solidFill>
                <a:latin typeface="DejaVu Sans"/>
                <a:ea typeface="DejaVu Sans"/>
                <a:cs typeface="DejaVu Sans"/>
              </a:defRPr>
            </a:pPr>
            <a:r>
              <a:rPr sz="1200" b="0">
                <a:solidFill>
                  <a:srgbClr val="CBDDD5"/>
                </a:solidFill>
                <a:latin typeface="DejaVu Sans"/>
                <a:ea typeface="DejaVu Sans"/>
                <a:cs typeface="DejaVu Sans"/>
              </a:rPr>
              <a:t>01</a:t>
            </a:r>
          </a:p>
        </p:txBody>
      </p:sp>
      <p:sp>
        <p:nvSpPr>
          <p:cNvPr id="2" name="">
            <a:extLst xmlns:a="http://schemas.openxmlformats.org/drawingml/2006/main">
              <a:ext uri="{FF2B5EF4-FFF2-40B4-BE49-F238E27FC236}">
                <a16:creationId xmlns:a16="http://schemas.microsoft.com/office/drawing/2014/main" id="{CFAC38A8-AD25-48D2-811E-22B1ED70DA7B}"/>
              </a:ext>
            </a:extLst>
          </p:cNvPr>
          <p:cNvSpPr>
            <a:spLocks xmlns:a="http://schemas.openxmlformats.org/drawingml/2006/main" noGrp="1"/>
          </p:cNvSpPr>
          <p:nvPr/>
        </p:nvSpPr>
        <p:spPr>
          <a:xfrm xmlns:a="http://schemas.openxmlformats.org/drawingml/2006/main">
            <a:off x="666750" y="1809750"/>
            <a:ext cx="10858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200" b="1">
                <a:solidFill>
                  <a:srgbClr val="FFFFFF"/>
                </a:solidFill>
                <a:latin typeface="DejaVu Sans"/>
                <a:ea typeface="DejaVu Sans"/>
                <a:cs typeface="DejaVu Sans"/>
              </a:defRPr>
            </a:pPr>
            <a:r>
              <a:rPr sz="7200" b="1">
                <a:solidFill>
                  <a:srgbClr val="FFFFFF"/>
                </a:solidFill>
                <a:latin typeface="DejaVu Sans"/>
                <a:ea typeface="DejaVu Sans"/>
                <a:cs typeface="DejaVu Sans"/>
              </a:rPr>
              <a:t>FuelTrack</a:t>
            </a:r>
          </a:p>
        </p:txBody>
      </p:sp>
      <p:sp>
        <p:nvSpPr>
          <p:cNvPr id="3" name="">
            <a:extLst xmlns:a="http://schemas.openxmlformats.org/drawingml/2006/main">
              <a:ext uri="{FF2B5EF4-FFF2-40B4-BE49-F238E27FC236}">
                <a16:creationId xmlns:a16="http://schemas.microsoft.com/office/drawing/2014/main" id="{BC1E2B27-5B5F-4E85-889A-05B87E37E488}"/>
              </a:ext>
            </a:extLst>
          </p:cNvPr>
          <p:cNvSpPr>
            <a:spLocks xmlns:a="http://schemas.openxmlformats.org/drawingml/2006/main" noGrp="1"/>
          </p:cNvSpPr>
          <p:nvPr/>
        </p:nvSpPr>
        <p:spPr>
          <a:xfrm xmlns:a="http://schemas.openxmlformats.org/drawingml/2006/main">
            <a:off x="714375" y="3286125"/>
            <a:ext cx="990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E1EAE3"/>
                </a:solidFill>
                <a:latin typeface="DejaVu Sans"/>
                <a:ea typeface="DejaVu Sans"/>
                <a:cs typeface="DejaVu Sans"/>
              </a:defRPr>
            </a:pPr>
            <a:r>
              <a:rPr sz="3450" b="0">
                <a:solidFill>
                  <a:srgbClr val="E1EAE3"/>
                </a:solidFill>
                <a:latin typeface="DejaVu Sans"/>
                <a:ea typeface="DejaVu Sans"/>
                <a:cs typeface="DejaVu Sans"/>
              </a:rPr>
              <a:t>Tickets digitales e inventario</a:t>
            </a:r>
          </a:p>
          <a:p xmlns:a="http://schemas.openxmlformats.org/drawingml/2006/main">
            <a:pPr>
              <a:defRPr sz="3450" b="0">
                <a:solidFill>
                  <a:srgbClr val="E1EAE3"/>
                </a:solidFill>
                <a:latin typeface="DejaVu Sans"/>
                <a:ea typeface="DejaVu Sans"/>
                <a:cs typeface="DejaVu Sans"/>
              </a:defRPr>
            </a:pPr>
            <a:r>
              <a:rPr sz="3450" b="0">
                <a:solidFill>
                  <a:srgbClr val="E1EAE3"/>
                </a:solidFill>
                <a:latin typeface="DejaVu Sans"/>
                <a:ea typeface="DejaVu Sans"/>
                <a:cs typeface="DejaVu Sans"/>
              </a:rPr>
              <a:t>de combustible</a:t>
            </a:r>
          </a:p>
        </p:txBody>
      </p:sp>
      <p:sp>
        <p:nvSpPr>
          <p:cNvPr id="4" name="">
            <a:extLst xmlns:a="http://schemas.openxmlformats.org/drawingml/2006/main">
              <a:ext uri="{FF2B5EF4-FFF2-40B4-BE49-F238E27FC236}">
                <a16:creationId xmlns:a16="http://schemas.microsoft.com/office/drawing/2014/main" id="{46C7F89B-B62B-4477-87ED-F5B55C7508CD}"/>
              </a:ext>
            </a:extLst>
          </p:cNvPr>
          <p:cNvSpPr>
            <a:spLocks xmlns:a="http://schemas.openxmlformats.org/drawingml/2006/main" noGrp="1"/>
          </p:cNvSpPr>
          <p:nvPr/>
        </p:nvSpPr>
        <p:spPr>
          <a:xfrm xmlns:a="http://schemas.openxmlformats.org/drawingml/2006/main">
            <a:off x="714375" y="5572125"/>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CBDDD5"/>
                </a:solidFill>
                <a:latin typeface="DejaVu Sans"/>
                <a:ea typeface="DejaVu Sans"/>
                <a:cs typeface="DejaVu Sans"/>
              </a:defRPr>
            </a:pPr>
            <a:r>
              <a:rPr sz="1875" b="0">
                <a:solidFill>
                  <a:srgbClr val="CBDDD5"/>
                </a:solidFill>
                <a:latin typeface="DejaVu Sans"/>
                <a:ea typeface="DejaVu Sans"/>
                <a:cs typeface="DejaVu Sans"/>
              </a:rPr>
              <a:t>Grupo 6 · Presentación de producto</a:t>
            </a:r>
          </a:p>
        </p:txBody>
      </p:sp>
    </p:spTree>
    <p:extLst>
      <p:ext uri="{BB962C8B-B14F-4D97-AF65-F5344CB8AC3E}">
        <p14:creationId xmlns:p14="http://schemas.microsoft.com/office/powerpoint/2010/main" val="550581143"/>
      </p:ext>
    </p:extLst>
  </p:cSld>
</p:sld>
</file>

<file path=ppt/slides/slide2.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767D24-A3BF-4EA9-A676-2175ECC8002A}"/>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El problema que resolvemos</a:t>
            </a:r>
          </a:p>
        </p:txBody>
      </p:sp>
      <p:sp>
        <p:nvSpPr>
          <p:cNvPr id="2" name="">
            <a:extLst xmlns:a="http://schemas.openxmlformats.org/drawingml/2006/main">
              <a:ext uri="{FF2B5EF4-FFF2-40B4-BE49-F238E27FC236}">
                <a16:creationId xmlns:a16="http://schemas.microsoft.com/office/drawing/2014/main" id="{346FEEE9-3369-4972-9C06-0553F3F300D5}"/>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02</a:t>
            </a:r>
          </a:p>
        </p:txBody>
      </p:sp>
      <p:sp>
        <p:nvSpPr>
          <p:cNvPr id="3" name="">
            <a:extLst xmlns:a="http://schemas.openxmlformats.org/drawingml/2006/main">
              <a:ext uri="{FF2B5EF4-FFF2-40B4-BE49-F238E27FC236}">
                <a16:creationId xmlns:a16="http://schemas.microsoft.com/office/drawing/2014/main" id="{A6F254F4-5F5E-48EA-9CDD-52E29FDA205E}"/>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Autorización</a:t>
            </a:r>
          </a:p>
        </p:txBody>
      </p:sp>
      <p:sp>
        <p:nvSpPr>
          <p:cNvPr id="4" name="">
            <a:extLst xmlns:a="http://schemas.openxmlformats.org/drawingml/2006/main">
              <a:ext uri="{FF2B5EF4-FFF2-40B4-BE49-F238E27FC236}">
                <a16:creationId xmlns:a16="http://schemas.microsoft.com/office/drawing/2014/main" id="{F08D645F-C94E-4A87-8947-DA4D954FAC30}"/>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Relacionar cada salida con una solicitud aprobada.</a:t>
            </a:r>
          </a:p>
        </p:txBody>
      </p:sp>
      <p:sp>
        <p:nvSpPr>
          <p:cNvPr id="5" name="">
            <a:extLst xmlns:a="http://schemas.openxmlformats.org/drawingml/2006/main">
              <a:ext uri="{FF2B5EF4-FFF2-40B4-BE49-F238E27FC236}">
                <a16:creationId xmlns:a16="http://schemas.microsoft.com/office/drawing/2014/main" id="{BF3B924A-2211-4202-AA07-BF816A15F68A}"/>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Control de existencias</a:t>
            </a:r>
          </a:p>
        </p:txBody>
      </p:sp>
      <p:sp>
        <p:nvSpPr>
          <p:cNvPr id="6" name="">
            <a:extLst xmlns:a="http://schemas.openxmlformats.org/drawingml/2006/main">
              <a:ext uri="{FF2B5EF4-FFF2-40B4-BE49-F238E27FC236}">
                <a16:creationId xmlns:a16="http://schemas.microsoft.com/office/drawing/2014/main" id="{BA5B71EE-0DC6-4A28-962B-4ED8B6A00A61}"/>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Conocer entradas, despachos, ajustes y transferencias.</a:t>
            </a:r>
          </a:p>
        </p:txBody>
      </p:sp>
      <p:sp>
        <p:nvSpPr>
          <p:cNvPr id="7" name="">
            <a:extLst xmlns:a="http://schemas.openxmlformats.org/drawingml/2006/main">
              <a:ext uri="{FF2B5EF4-FFF2-40B4-BE49-F238E27FC236}">
                <a16:creationId xmlns:a16="http://schemas.microsoft.com/office/drawing/2014/main" id="{CB1590B6-241F-4594-9B27-483D93D0E187}"/>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Rendición de cuentas</a:t>
            </a:r>
          </a:p>
        </p:txBody>
      </p:sp>
      <p:sp>
        <p:nvSpPr>
          <p:cNvPr id="8" name="">
            <a:extLst xmlns:a="http://schemas.openxmlformats.org/drawingml/2006/main">
              <a:ext uri="{FF2B5EF4-FFF2-40B4-BE49-F238E27FC236}">
                <a16:creationId xmlns:a16="http://schemas.microsoft.com/office/drawing/2014/main" id="{B679F0FE-0C69-4AC8-9C5D-7B2F55F0171E}"/>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Reconstruir quién realizó cada operación y cuándo.</a:t>
            </a:r>
          </a:p>
        </p:txBody>
      </p:sp>
      <p:sp>
        <p:nvSpPr>
          <p:cNvPr id="9" name="">
            <a:extLst xmlns:a="http://schemas.openxmlformats.org/drawingml/2006/main">
              <a:ext uri="{FF2B5EF4-FFF2-40B4-BE49-F238E27FC236}">
                <a16:creationId xmlns:a16="http://schemas.microsoft.com/office/drawing/2014/main" id="{ED2703EE-7DA5-4003-8BDA-18CEEFD1107F}"/>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Consulta gerencial</a:t>
            </a:r>
          </a:p>
        </p:txBody>
      </p:sp>
      <p:sp>
        <p:nvSpPr>
          <p:cNvPr id="10" name="">
            <a:extLst xmlns:a="http://schemas.openxmlformats.org/drawingml/2006/main">
              <a:ext uri="{FF2B5EF4-FFF2-40B4-BE49-F238E27FC236}">
                <a16:creationId xmlns:a16="http://schemas.microsoft.com/office/drawing/2014/main" id="{65369420-5EFC-4B04-81A7-00C97B3B0B86}"/>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Examinar consumo por vehículo y departamento.</a:t>
            </a:r>
          </a:p>
        </p:txBody>
      </p:sp>
    </p:spTree>
    <p:extLst>
      <p:ext uri="{BB962C8B-B14F-4D97-AF65-F5344CB8AC3E}">
        <p14:creationId xmlns:p14="http://schemas.microsoft.com/office/powerpoint/2010/main" val="1199899523"/>
      </p:ext>
    </p:extLst>
  </p:cSld>
</p:sld>
</file>

<file path=ppt/slides/slide3.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2AC872-F7F8-4E4E-9473-FB54BAEAFC3E}"/>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Una operación conectada</a:t>
            </a:r>
          </a:p>
        </p:txBody>
      </p:sp>
      <p:sp>
        <p:nvSpPr>
          <p:cNvPr id="2" name="">
            <a:extLst xmlns:a="http://schemas.openxmlformats.org/drawingml/2006/main">
              <a:ext uri="{FF2B5EF4-FFF2-40B4-BE49-F238E27FC236}">
                <a16:creationId xmlns:a16="http://schemas.microsoft.com/office/drawing/2014/main" id="{DDFCD942-D487-4BDF-AA99-FD788428820D}"/>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03</a:t>
            </a:r>
          </a:p>
        </p:txBody>
      </p:sp>
      <p:sp>
        <p:nvSpPr>
          <p:cNvPr id="3" name="">
            <a:extLst xmlns:a="http://schemas.openxmlformats.org/drawingml/2006/main">
              <a:ext uri="{FF2B5EF4-FFF2-40B4-BE49-F238E27FC236}">
                <a16:creationId xmlns:a16="http://schemas.microsoft.com/office/drawing/2014/main" id="{0EC6828C-E96B-4508-97F2-67BF48979A97}"/>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Plataforma web</a:t>
            </a:r>
          </a:p>
        </p:txBody>
      </p:sp>
      <p:sp>
        <p:nvSpPr>
          <p:cNvPr id="4" name="">
            <a:extLst xmlns:a="http://schemas.openxmlformats.org/drawingml/2006/main">
              <a:ext uri="{FF2B5EF4-FFF2-40B4-BE49-F238E27FC236}">
                <a16:creationId xmlns:a16="http://schemas.microsoft.com/office/drawing/2014/main" id="{1C3FB2D0-3245-4D2E-81FB-6705505A7D0A}"/>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Administración, solicitudes, inventario y reportes.</a:t>
            </a:r>
          </a:p>
        </p:txBody>
      </p:sp>
      <p:sp>
        <p:nvSpPr>
          <p:cNvPr id="5" name="">
            <a:extLst xmlns:a="http://schemas.openxmlformats.org/drawingml/2006/main">
              <a:ext uri="{FF2B5EF4-FFF2-40B4-BE49-F238E27FC236}">
                <a16:creationId xmlns:a16="http://schemas.microsoft.com/office/drawing/2014/main" id="{69843EB6-CFCB-4CDB-A9F1-7F38041E0B76}"/>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Aplicación Android</a:t>
            </a:r>
          </a:p>
        </p:txBody>
      </p:sp>
      <p:sp>
        <p:nvSpPr>
          <p:cNvPr id="6" name="">
            <a:extLst xmlns:a="http://schemas.openxmlformats.org/drawingml/2006/main">
              <a:ext uri="{FF2B5EF4-FFF2-40B4-BE49-F238E27FC236}">
                <a16:creationId xmlns:a16="http://schemas.microsoft.com/office/drawing/2014/main" id="{82331D67-4092-4D14-9DD0-542D078943DD}"/>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Validación del QR, identidad y registro del despacho.</a:t>
            </a:r>
          </a:p>
        </p:txBody>
      </p:sp>
      <p:sp>
        <p:nvSpPr>
          <p:cNvPr id="7" name="">
            <a:extLst xmlns:a="http://schemas.openxmlformats.org/drawingml/2006/main">
              <a:ext uri="{FF2B5EF4-FFF2-40B4-BE49-F238E27FC236}">
                <a16:creationId xmlns:a16="http://schemas.microsoft.com/office/drawing/2014/main" id="{EE78476A-7F09-4743-85B2-3F603DBFB975}"/>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API y base de datos</a:t>
            </a:r>
          </a:p>
        </p:txBody>
      </p:sp>
      <p:sp>
        <p:nvSpPr>
          <p:cNvPr id="8" name="">
            <a:extLst xmlns:a="http://schemas.openxmlformats.org/drawingml/2006/main">
              <a:ext uri="{FF2B5EF4-FFF2-40B4-BE49-F238E27FC236}">
                <a16:creationId xmlns:a16="http://schemas.microsoft.com/office/drawing/2014/main" id="{3E814355-4BF4-4EE5-B922-C73BD96D6CC7}"/>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Reglas comunes, permisos y transacciones.</a:t>
            </a:r>
          </a:p>
        </p:txBody>
      </p:sp>
      <p:sp>
        <p:nvSpPr>
          <p:cNvPr id="9" name="">
            <a:extLst xmlns:a="http://schemas.openxmlformats.org/drawingml/2006/main">
              <a:ext uri="{FF2B5EF4-FFF2-40B4-BE49-F238E27FC236}">
                <a16:creationId xmlns:a16="http://schemas.microsoft.com/office/drawing/2014/main" id="{AF02DF3F-563F-444C-A824-0B5A11301AB6}"/>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Notificaciones</a:t>
            </a:r>
          </a:p>
        </p:txBody>
      </p:sp>
      <p:sp>
        <p:nvSpPr>
          <p:cNvPr id="10" name="">
            <a:extLst xmlns:a="http://schemas.openxmlformats.org/drawingml/2006/main">
              <a:ext uri="{FF2B5EF4-FFF2-40B4-BE49-F238E27FC236}">
                <a16:creationId xmlns:a16="http://schemas.microsoft.com/office/drawing/2014/main" id="{A6EFBFB8-1F3E-4EB0-B0E8-8DB9A04FAD64}"/>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Correo con PDF y SMS con enlace seguro al ticket.</a:t>
            </a:r>
          </a:p>
        </p:txBody>
      </p:sp>
    </p:spTree>
    <p:extLst>
      <p:ext uri="{BB962C8B-B14F-4D97-AF65-F5344CB8AC3E}">
        <p14:creationId xmlns:p14="http://schemas.microsoft.com/office/powerpoint/2010/main" val="434149885"/>
      </p:ext>
    </p:extLst>
  </p:cSld>
</p:sld>
</file>

<file path=ppt/slides/slide4.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F2D531B-44CC-4BFC-8D76-B8190619D0F4}"/>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Responsabilidades por rol</a:t>
            </a:r>
          </a:p>
        </p:txBody>
      </p:sp>
      <p:sp>
        <p:nvSpPr>
          <p:cNvPr id="2" name="">
            <a:extLst xmlns:a="http://schemas.openxmlformats.org/drawingml/2006/main">
              <a:ext uri="{FF2B5EF4-FFF2-40B4-BE49-F238E27FC236}">
                <a16:creationId xmlns:a16="http://schemas.microsoft.com/office/drawing/2014/main" id="{898BE34F-1E6A-435B-AB56-B0567964D7EB}"/>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04</a:t>
            </a:r>
          </a:p>
        </p:txBody>
      </p:sp>
      <p:sp>
        <p:nvSpPr>
          <p:cNvPr id="3" name="">
            <a:extLst xmlns:a="http://schemas.openxmlformats.org/drawingml/2006/main">
              <a:ext uri="{FF2B5EF4-FFF2-40B4-BE49-F238E27FC236}">
                <a16:creationId xmlns:a16="http://schemas.microsoft.com/office/drawing/2014/main" id="{6BE156D4-5C2E-47DD-BA13-5D9DD4FAD8DA}"/>
              </a:ext>
            </a:extLst>
          </p:cNvPr>
          <p:cNvSpPr>
            <a:spLocks xmlns:a="http://schemas.openxmlformats.org/drawingml/2006/main" noGrp="1"/>
          </p:cNvSpPr>
          <p:nvPr/>
        </p:nvSpPr>
        <p:spPr>
          <a:xfrm xmlns:a="http://schemas.openxmlformats.org/drawingml/2006/main">
            <a:off x="666750" y="17621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Administrador</a:t>
            </a:r>
          </a:p>
        </p:txBody>
      </p:sp>
      <p:sp>
        <p:nvSpPr>
          <p:cNvPr id="4" name="">
            <a:extLst xmlns:a="http://schemas.openxmlformats.org/drawingml/2006/main">
              <a:ext uri="{FF2B5EF4-FFF2-40B4-BE49-F238E27FC236}">
                <a16:creationId xmlns:a16="http://schemas.microsoft.com/office/drawing/2014/main" id="{44BA3681-3DBF-4DA7-968E-E3C00305D87D}"/>
              </a:ext>
            </a:extLst>
          </p:cNvPr>
          <p:cNvSpPr>
            <a:spLocks xmlns:a="http://schemas.openxmlformats.org/drawingml/2006/main" noGrp="1"/>
          </p:cNvSpPr>
          <p:nvPr/>
        </p:nvSpPr>
        <p:spPr>
          <a:xfrm xmlns:a="http://schemas.openxmlformats.org/drawingml/2006/main">
            <a:off x="4095750" y="17621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Usuarios, configuración, inventario y seguridad</a:t>
            </a:r>
          </a:p>
        </p:txBody>
      </p:sp>
      <p:sp>
        <p:nvSpPr>
          <p:cNvPr id="5" name="">
            <a:extLst xmlns:a="http://schemas.openxmlformats.org/drawingml/2006/main">
              <a:ext uri="{FF2B5EF4-FFF2-40B4-BE49-F238E27FC236}">
                <a16:creationId xmlns:a16="http://schemas.microsoft.com/office/drawing/2014/main" id="{63558F0B-EC71-4407-9CAF-8F6594D95FCD}"/>
              </a:ext>
            </a:extLst>
          </p:cNvPr>
          <p:cNvSpPr>
            <a:spLocks xmlns:a="http://schemas.openxmlformats.org/drawingml/2006/main" noGrp="1"/>
          </p:cNvSpPr>
          <p:nvPr/>
        </p:nvSpPr>
        <p:spPr>
          <a:xfrm xmlns:a="http://schemas.openxmlformats.org/drawingml/2006/main">
            <a:off x="666750" y="26003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Supervisor</a:t>
            </a:r>
          </a:p>
        </p:txBody>
      </p:sp>
      <p:sp>
        <p:nvSpPr>
          <p:cNvPr id="6" name="">
            <a:extLst xmlns:a="http://schemas.openxmlformats.org/drawingml/2006/main">
              <a:ext uri="{FF2B5EF4-FFF2-40B4-BE49-F238E27FC236}">
                <a16:creationId xmlns:a16="http://schemas.microsoft.com/office/drawing/2014/main" id="{DA39FCB2-394B-46E4-A350-E419BBA8357A}"/>
              </a:ext>
            </a:extLst>
          </p:cNvPr>
          <p:cNvSpPr>
            <a:spLocks xmlns:a="http://schemas.openxmlformats.org/drawingml/2006/main" noGrp="1"/>
          </p:cNvSpPr>
          <p:nvPr/>
        </p:nvSpPr>
        <p:spPr>
          <a:xfrm xmlns:a="http://schemas.openxmlformats.org/drawingml/2006/main">
            <a:off x="4095750" y="26003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Solicitudes, aprobaciones y suministro</a:t>
            </a:r>
          </a:p>
        </p:txBody>
      </p:sp>
      <p:sp>
        <p:nvSpPr>
          <p:cNvPr id="7" name="">
            <a:extLst xmlns:a="http://schemas.openxmlformats.org/drawingml/2006/main">
              <a:ext uri="{FF2B5EF4-FFF2-40B4-BE49-F238E27FC236}">
                <a16:creationId xmlns:a16="http://schemas.microsoft.com/office/drawing/2014/main" id="{A87FC887-06B8-4DE6-9887-2286BB8CE3E5}"/>
              </a:ext>
            </a:extLst>
          </p:cNvPr>
          <p:cNvSpPr>
            <a:spLocks xmlns:a="http://schemas.openxmlformats.org/drawingml/2006/main" noGrp="1"/>
          </p:cNvSpPr>
          <p:nvPr/>
        </p:nvSpPr>
        <p:spPr>
          <a:xfrm xmlns:a="http://schemas.openxmlformats.org/drawingml/2006/main">
            <a:off x="666750" y="34385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Despachador</a:t>
            </a:r>
          </a:p>
        </p:txBody>
      </p:sp>
      <p:sp>
        <p:nvSpPr>
          <p:cNvPr id="8" name="">
            <a:extLst xmlns:a="http://schemas.openxmlformats.org/drawingml/2006/main">
              <a:ext uri="{FF2B5EF4-FFF2-40B4-BE49-F238E27FC236}">
                <a16:creationId xmlns:a16="http://schemas.microsoft.com/office/drawing/2014/main" id="{01122A48-645D-487A-95BE-597B572C877B}"/>
              </a:ext>
            </a:extLst>
          </p:cNvPr>
          <p:cNvSpPr>
            <a:spLocks xmlns:a="http://schemas.openxmlformats.org/drawingml/2006/main" noGrp="1"/>
          </p:cNvSpPr>
          <p:nvPr/>
        </p:nvSpPr>
        <p:spPr>
          <a:xfrm xmlns:a="http://schemas.openxmlformats.org/drawingml/2006/main">
            <a:off x="4095750" y="34385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QR, identidad, despacho y cierre</a:t>
            </a:r>
          </a:p>
        </p:txBody>
      </p:sp>
      <p:sp>
        <p:nvSpPr>
          <p:cNvPr id="9" name="">
            <a:extLst xmlns:a="http://schemas.openxmlformats.org/drawingml/2006/main">
              <a:ext uri="{FF2B5EF4-FFF2-40B4-BE49-F238E27FC236}">
                <a16:creationId xmlns:a16="http://schemas.microsoft.com/office/drawing/2014/main" id="{2C8D3097-7A17-4901-93CD-AC74EF0F4D33}"/>
              </a:ext>
            </a:extLst>
          </p:cNvPr>
          <p:cNvSpPr>
            <a:spLocks xmlns:a="http://schemas.openxmlformats.org/drawingml/2006/main" noGrp="1"/>
          </p:cNvSpPr>
          <p:nvPr/>
        </p:nvSpPr>
        <p:spPr>
          <a:xfrm xmlns:a="http://schemas.openxmlformats.org/drawingml/2006/main">
            <a:off x="666750" y="42767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Solicitante</a:t>
            </a:r>
          </a:p>
        </p:txBody>
      </p:sp>
      <p:sp>
        <p:nvSpPr>
          <p:cNvPr id="10" name="">
            <a:extLst xmlns:a="http://schemas.openxmlformats.org/drawingml/2006/main">
              <a:ext uri="{FF2B5EF4-FFF2-40B4-BE49-F238E27FC236}">
                <a16:creationId xmlns:a16="http://schemas.microsoft.com/office/drawing/2014/main" id="{F6948376-5AD4-4EC6-A034-49CB7F574B02}"/>
              </a:ext>
            </a:extLst>
          </p:cNvPr>
          <p:cNvSpPr>
            <a:spLocks xmlns:a="http://schemas.openxmlformats.org/drawingml/2006/main" noGrp="1"/>
          </p:cNvSpPr>
          <p:nvPr/>
        </p:nvSpPr>
        <p:spPr>
          <a:xfrm xmlns:a="http://schemas.openxmlformats.org/drawingml/2006/main">
            <a:off x="4095750" y="42767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Solicitud y consulta de sus tickets</a:t>
            </a:r>
          </a:p>
        </p:txBody>
      </p:sp>
      <p:sp>
        <p:nvSpPr>
          <p:cNvPr id="11" name="">
            <a:extLst xmlns:a="http://schemas.openxmlformats.org/drawingml/2006/main">
              <a:ext uri="{FF2B5EF4-FFF2-40B4-BE49-F238E27FC236}">
                <a16:creationId xmlns:a16="http://schemas.microsoft.com/office/drawing/2014/main" id="{82BA6487-9FF9-429A-98CC-AE540FEBA24F}"/>
              </a:ext>
            </a:extLst>
          </p:cNvPr>
          <p:cNvSpPr>
            <a:spLocks xmlns:a="http://schemas.openxmlformats.org/drawingml/2006/main" noGrp="1"/>
          </p:cNvSpPr>
          <p:nvPr/>
        </p:nvSpPr>
        <p:spPr>
          <a:xfrm xmlns:a="http://schemas.openxmlformats.org/drawingml/2006/main">
            <a:off x="666750" y="51149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Auditor / Consulta</a:t>
            </a:r>
          </a:p>
        </p:txBody>
      </p:sp>
      <p:sp>
        <p:nvSpPr>
          <p:cNvPr id="12" name="">
            <a:extLst xmlns:a="http://schemas.openxmlformats.org/drawingml/2006/main">
              <a:ext uri="{FF2B5EF4-FFF2-40B4-BE49-F238E27FC236}">
                <a16:creationId xmlns:a16="http://schemas.microsoft.com/office/drawing/2014/main" id="{2189BC60-EB1C-48E7-851E-E38F0A9D50ED}"/>
              </a:ext>
            </a:extLst>
          </p:cNvPr>
          <p:cNvSpPr>
            <a:spLocks xmlns:a="http://schemas.openxmlformats.org/drawingml/2006/main" noGrp="1"/>
          </p:cNvSpPr>
          <p:nvPr/>
        </p:nvSpPr>
        <p:spPr>
          <a:xfrm xmlns:a="http://schemas.openxmlformats.org/drawingml/2006/main">
            <a:off x="4095750" y="51149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Lectura y revisión según los permisos asignados</a:t>
            </a:r>
          </a:p>
        </p:txBody>
      </p:sp>
    </p:spTree>
    <p:extLst>
      <p:ext uri="{BB962C8B-B14F-4D97-AF65-F5344CB8AC3E}">
        <p14:creationId xmlns:p14="http://schemas.microsoft.com/office/powerpoint/2010/main" val="516214401"/>
      </p:ext>
    </p:extLst>
  </p:cSld>
</p:sld>
</file>

<file path=ppt/slides/slide5.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C968525-BA85-40AD-BD55-1BB065970F20}"/>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Del pedido al cierre</a:t>
            </a:r>
          </a:p>
        </p:txBody>
      </p:sp>
      <p:sp>
        <p:nvSpPr>
          <p:cNvPr id="2" name="">
            <a:extLst xmlns:a="http://schemas.openxmlformats.org/drawingml/2006/main">
              <a:ext uri="{FF2B5EF4-FFF2-40B4-BE49-F238E27FC236}">
                <a16:creationId xmlns:a16="http://schemas.microsoft.com/office/drawing/2014/main" id="{68BB5E51-A8D0-486A-A43B-50D24761DA8A}"/>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05</a:t>
            </a:r>
          </a:p>
        </p:txBody>
      </p:sp>
      <p:sp>
        <p:nvSpPr>
          <p:cNvPr id="3" name="">
            <a:extLst xmlns:a="http://schemas.openxmlformats.org/drawingml/2006/main">
              <a:ext uri="{FF2B5EF4-FFF2-40B4-BE49-F238E27FC236}">
                <a16:creationId xmlns:a16="http://schemas.microsoft.com/office/drawing/2014/main" id="{A2FC408F-3934-46F4-A257-DB1FE0B81ED7}"/>
              </a:ext>
            </a:extLst>
          </p:cNvPr>
          <p:cNvSpPr>
            <a:spLocks xmlns:a="http://schemas.openxmlformats.org/drawingml/2006/main" noGrp="1"/>
          </p:cNvSpPr>
          <p:nvPr/>
        </p:nvSpPr>
        <p:spPr>
          <a:xfrm xmlns:a="http://schemas.openxmlformats.org/drawingml/2006/main">
            <a:off x="666750" y="16478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D99A32"/>
                </a:solidFill>
                <a:latin typeface="DejaVu Sans"/>
                <a:ea typeface="DejaVu Sans"/>
                <a:cs typeface="DejaVu Sans"/>
              </a:defRPr>
            </a:pPr>
            <a:r>
              <a:rPr sz="3150" b="1">
                <a:solidFill>
                  <a:srgbClr val="D99A32"/>
                </a:solidFill>
                <a:latin typeface="DejaVu Sans"/>
                <a:ea typeface="DejaVu Sans"/>
                <a:cs typeface="DejaVu Sans"/>
              </a:rPr>
              <a:t>01</a:t>
            </a:r>
          </a:p>
        </p:txBody>
      </p:sp>
      <p:sp>
        <p:nvSpPr>
          <p:cNvPr id="4" name="">
            <a:extLst xmlns:a="http://schemas.openxmlformats.org/drawingml/2006/main">
              <a:ext uri="{FF2B5EF4-FFF2-40B4-BE49-F238E27FC236}">
                <a16:creationId xmlns:a16="http://schemas.microsoft.com/office/drawing/2014/main" id="{1F658320-93D9-474D-A8CB-253C9D98263A}"/>
              </a:ext>
            </a:extLst>
          </p:cNvPr>
          <p:cNvSpPr>
            <a:spLocks xmlns:a="http://schemas.openxmlformats.org/drawingml/2006/main" noGrp="1"/>
          </p:cNvSpPr>
          <p:nvPr/>
        </p:nvSpPr>
        <p:spPr>
          <a:xfrm xmlns:a="http://schemas.openxmlformats.org/drawingml/2006/main">
            <a:off x="1714500" y="1676400"/>
            <a:ext cx="26193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Solicitud</a:t>
            </a:r>
          </a:p>
        </p:txBody>
      </p:sp>
      <p:sp>
        <p:nvSpPr>
          <p:cNvPr id="5" name="">
            <a:extLst xmlns:a="http://schemas.openxmlformats.org/drawingml/2006/main">
              <a:ext uri="{FF2B5EF4-FFF2-40B4-BE49-F238E27FC236}">
                <a16:creationId xmlns:a16="http://schemas.microsoft.com/office/drawing/2014/main" id="{4C32B5CF-7ED2-43B2-B828-8317D73685EA}"/>
              </a:ext>
            </a:extLst>
          </p:cNvPr>
          <p:cNvSpPr>
            <a:spLocks xmlns:a="http://schemas.openxmlformats.org/drawingml/2006/main" noGrp="1"/>
          </p:cNvSpPr>
          <p:nvPr/>
        </p:nvSpPr>
        <p:spPr>
          <a:xfrm xmlns:a="http://schemas.openxmlformats.org/drawingml/2006/main">
            <a:off x="4619625" y="1714500"/>
            <a:ext cx="685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Empleado, vehículo y combustible</a:t>
            </a:r>
          </a:p>
        </p:txBody>
      </p:sp>
      <p:sp>
        <p:nvSpPr>
          <p:cNvPr id="6" name="">
            <a:extLst xmlns:a="http://schemas.openxmlformats.org/drawingml/2006/main">
              <a:ext uri="{FF2B5EF4-FFF2-40B4-BE49-F238E27FC236}">
                <a16:creationId xmlns:a16="http://schemas.microsoft.com/office/drawing/2014/main" id="{928181FA-6562-4836-BECD-2A9B12F448DD}"/>
              </a:ext>
            </a:extLst>
          </p:cNvPr>
          <p:cNvSpPr>
            <a:spLocks xmlns:a="http://schemas.openxmlformats.org/drawingml/2006/main" noGrp="1"/>
          </p:cNvSpPr>
          <p:nvPr/>
        </p:nvSpPr>
        <p:spPr>
          <a:xfrm xmlns:a="http://schemas.openxmlformats.org/drawingml/2006/main">
            <a:off x="666750" y="25241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D99A32"/>
                </a:solidFill>
                <a:latin typeface="DejaVu Sans"/>
                <a:ea typeface="DejaVu Sans"/>
                <a:cs typeface="DejaVu Sans"/>
              </a:defRPr>
            </a:pPr>
            <a:r>
              <a:rPr sz="3150" b="1">
                <a:solidFill>
                  <a:srgbClr val="D99A32"/>
                </a:solidFill>
                <a:latin typeface="DejaVu Sans"/>
                <a:ea typeface="DejaVu Sans"/>
                <a:cs typeface="DejaVu Sans"/>
              </a:rPr>
              <a:t>02</a:t>
            </a:r>
          </a:p>
        </p:txBody>
      </p:sp>
      <p:sp>
        <p:nvSpPr>
          <p:cNvPr id="7" name="">
            <a:extLst xmlns:a="http://schemas.openxmlformats.org/drawingml/2006/main">
              <a:ext uri="{FF2B5EF4-FFF2-40B4-BE49-F238E27FC236}">
                <a16:creationId xmlns:a16="http://schemas.microsoft.com/office/drawing/2014/main" id="{D1BB684C-92CB-4BC1-B932-67DC31A16C11}"/>
              </a:ext>
            </a:extLst>
          </p:cNvPr>
          <p:cNvSpPr>
            <a:spLocks xmlns:a="http://schemas.openxmlformats.org/drawingml/2006/main" noGrp="1"/>
          </p:cNvSpPr>
          <p:nvPr/>
        </p:nvSpPr>
        <p:spPr>
          <a:xfrm xmlns:a="http://schemas.openxmlformats.org/drawingml/2006/main">
            <a:off x="1714500" y="2552700"/>
            <a:ext cx="26193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Aprobación</a:t>
            </a:r>
          </a:p>
        </p:txBody>
      </p:sp>
      <p:sp>
        <p:nvSpPr>
          <p:cNvPr id="8" name="">
            <a:extLst xmlns:a="http://schemas.openxmlformats.org/drawingml/2006/main">
              <a:ext uri="{FF2B5EF4-FFF2-40B4-BE49-F238E27FC236}">
                <a16:creationId xmlns:a16="http://schemas.microsoft.com/office/drawing/2014/main" id="{0F6FCDAA-BA38-46F4-935D-F94599DA7923}"/>
              </a:ext>
            </a:extLst>
          </p:cNvPr>
          <p:cNvSpPr>
            <a:spLocks xmlns:a="http://schemas.openxmlformats.org/drawingml/2006/main" noGrp="1"/>
          </p:cNvSpPr>
          <p:nvPr/>
        </p:nvSpPr>
        <p:spPr>
          <a:xfrm xmlns:a="http://schemas.openxmlformats.org/drawingml/2006/main">
            <a:off x="4619625" y="2590800"/>
            <a:ext cx="685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Cantidad autorizada y vigencia</a:t>
            </a:r>
          </a:p>
        </p:txBody>
      </p:sp>
      <p:sp>
        <p:nvSpPr>
          <p:cNvPr id="9" name="">
            <a:extLst xmlns:a="http://schemas.openxmlformats.org/drawingml/2006/main">
              <a:ext uri="{FF2B5EF4-FFF2-40B4-BE49-F238E27FC236}">
                <a16:creationId xmlns:a16="http://schemas.microsoft.com/office/drawing/2014/main" id="{D99425C7-A8BE-4C73-8BCC-C8D6C9AC84B6}"/>
              </a:ext>
            </a:extLst>
          </p:cNvPr>
          <p:cNvSpPr>
            <a:spLocks xmlns:a="http://schemas.openxmlformats.org/drawingml/2006/main" noGrp="1"/>
          </p:cNvSpPr>
          <p:nvPr/>
        </p:nvSpPr>
        <p:spPr>
          <a:xfrm xmlns:a="http://schemas.openxmlformats.org/drawingml/2006/main">
            <a:off x="666750" y="34004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D99A32"/>
                </a:solidFill>
                <a:latin typeface="DejaVu Sans"/>
                <a:ea typeface="DejaVu Sans"/>
                <a:cs typeface="DejaVu Sans"/>
              </a:defRPr>
            </a:pPr>
            <a:r>
              <a:rPr sz="3150" b="1">
                <a:solidFill>
                  <a:srgbClr val="D99A32"/>
                </a:solidFill>
                <a:latin typeface="DejaVu Sans"/>
                <a:ea typeface="DejaVu Sans"/>
                <a:cs typeface="DejaVu Sans"/>
              </a:rPr>
              <a:t>03</a:t>
            </a:r>
          </a:p>
        </p:txBody>
      </p:sp>
      <p:sp>
        <p:nvSpPr>
          <p:cNvPr id="10" name="">
            <a:extLst xmlns:a="http://schemas.openxmlformats.org/drawingml/2006/main">
              <a:ext uri="{FF2B5EF4-FFF2-40B4-BE49-F238E27FC236}">
                <a16:creationId xmlns:a16="http://schemas.microsoft.com/office/drawing/2014/main" id="{297CD576-3FAF-4BFB-9BEC-4CF09BE3A31A}"/>
              </a:ext>
            </a:extLst>
          </p:cNvPr>
          <p:cNvSpPr>
            <a:spLocks xmlns:a="http://schemas.openxmlformats.org/drawingml/2006/main" noGrp="1"/>
          </p:cNvSpPr>
          <p:nvPr/>
        </p:nvSpPr>
        <p:spPr>
          <a:xfrm xmlns:a="http://schemas.openxmlformats.org/drawingml/2006/main">
            <a:off x="1714500" y="3429000"/>
            <a:ext cx="26193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Ticket</a:t>
            </a:r>
          </a:p>
        </p:txBody>
      </p:sp>
      <p:sp>
        <p:nvSpPr>
          <p:cNvPr id="11" name="">
            <a:extLst xmlns:a="http://schemas.openxmlformats.org/drawingml/2006/main">
              <a:ext uri="{FF2B5EF4-FFF2-40B4-BE49-F238E27FC236}">
                <a16:creationId xmlns:a16="http://schemas.microsoft.com/office/drawing/2014/main" id="{8B21131F-6970-466E-BBC3-3B1CBF1A8BBE}"/>
              </a:ext>
            </a:extLst>
          </p:cNvPr>
          <p:cNvSpPr>
            <a:spLocks xmlns:a="http://schemas.openxmlformats.org/drawingml/2006/main" noGrp="1"/>
          </p:cNvSpPr>
          <p:nvPr/>
        </p:nvSpPr>
        <p:spPr>
          <a:xfrm xmlns:a="http://schemas.openxmlformats.org/drawingml/2006/main">
            <a:off x="4619625" y="3467100"/>
            <a:ext cx="685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Identificador único y QR firmado</a:t>
            </a:r>
          </a:p>
        </p:txBody>
      </p:sp>
      <p:sp>
        <p:nvSpPr>
          <p:cNvPr id="12" name="">
            <a:extLst xmlns:a="http://schemas.openxmlformats.org/drawingml/2006/main">
              <a:ext uri="{FF2B5EF4-FFF2-40B4-BE49-F238E27FC236}">
                <a16:creationId xmlns:a16="http://schemas.microsoft.com/office/drawing/2014/main" id="{3FF57910-8D33-456F-A25A-238665E3F195}"/>
              </a:ext>
            </a:extLst>
          </p:cNvPr>
          <p:cNvSpPr>
            <a:spLocks xmlns:a="http://schemas.openxmlformats.org/drawingml/2006/main" noGrp="1"/>
          </p:cNvSpPr>
          <p:nvPr/>
        </p:nvSpPr>
        <p:spPr>
          <a:xfrm xmlns:a="http://schemas.openxmlformats.org/drawingml/2006/main">
            <a:off x="666750" y="42767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D99A32"/>
                </a:solidFill>
                <a:latin typeface="DejaVu Sans"/>
                <a:ea typeface="DejaVu Sans"/>
                <a:cs typeface="DejaVu Sans"/>
              </a:defRPr>
            </a:pPr>
            <a:r>
              <a:rPr sz="3150" b="1">
                <a:solidFill>
                  <a:srgbClr val="D99A32"/>
                </a:solidFill>
                <a:latin typeface="DejaVu Sans"/>
                <a:ea typeface="DejaVu Sans"/>
                <a:cs typeface="DejaVu Sans"/>
              </a:rPr>
              <a:t>04</a:t>
            </a:r>
          </a:p>
        </p:txBody>
      </p:sp>
      <p:sp>
        <p:nvSpPr>
          <p:cNvPr id="13" name="">
            <a:extLst xmlns:a="http://schemas.openxmlformats.org/drawingml/2006/main">
              <a:ext uri="{FF2B5EF4-FFF2-40B4-BE49-F238E27FC236}">
                <a16:creationId xmlns:a16="http://schemas.microsoft.com/office/drawing/2014/main" id="{81F24619-F529-4224-95C5-14DF4A3425DB}"/>
              </a:ext>
            </a:extLst>
          </p:cNvPr>
          <p:cNvSpPr>
            <a:spLocks xmlns:a="http://schemas.openxmlformats.org/drawingml/2006/main" noGrp="1"/>
          </p:cNvSpPr>
          <p:nvPr/>
        </p:nvSpPr>
        <p:spPr>
          <a:xfrm xmlns:a="http://schemas.openxmlformats.org/drawingml/2006/main">
            <a:off x="1714500" y="4305300"/>
            <a:ext cx="26193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Despacho</a:t>
            </a:r>
          </a:p>
        </p:txBody>
      </p:sp>
      <p:sp>
        <p:nvSpPr>
          <p:cNvPr id="14" name="">
            <a:extLst xmlns:a="http://schemas.openxmlformats.org/drawingml/2006/main">
              <a:ext uri="{FF2B5EF4-FFF2-40B4-BE49-F238E27FC236}">
                <a16:creationId xmlns:a16="http://schemas.microsoft.com/office/drawing/2014/main" id="{99CD83DB-D40C-4604-A7E5-A26EC130A530}"/>
              </a:ext>
            </a:extLst>
          </p:cNvPr>
          <p:cNvSpPr>
            <a:spLocks xmlns:a="http://schemas.openxmlformats.org/drawingml/2006/main" noGrp="1"/>
          </p:cNvSpPr>
          <p:nvPr/>
        </p:nvSpPr>
        <p:spPr>
          <a:xfrm xmlns:a="http://schemas.openxmlformats.org/drawingml/2006/main">
            <a:off x="4619625" y="4343400"/>
            <a:ext cx="685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Identidad, estación y galones servidos</a:t>
            </a:r>
          </a:p>
        </p:txBody>
      </p:sp>
      <p:sp>
        <p:nvSpPr>
          <p:cNvPr id="15" name="">
            <a:extLst xmlns:a="http://schemas.openxmlformats.org/drawingml/2006/main">
              <a:ext uri="{FF2B5EF4-FFF2-40B4-BE49-F238E27FC236}">
                <a16:creationId xmlns:a16="http://schemas.microsoft.com/office/drawing/2014/main" id="{BFA0E270-E20E-4DB4-9AE0-392A5D846A4E}"/>
              </a:ext>
            </a:extLst>
          </p:cNvPr>
          <p:cNvSpPr>
            <a:spLocks xmlns:a="http://schemas.openxmlformats.org/drawingml/2006/main" noGrp="1"/>
          </p:cNvSpPr>
          <p:nvPr/>
        </p:nvSpPr>
        <p:spPr>
          <a:xfrm xmlns:a="http://schemas.openxmlformats.org/drawingml/2006/main">
            <a:off x="666750" y="51530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D99A32"/>
                </a:solidFill>
                <a:latin typeface="DejaVu Sans"/>
                <a:ea typeface="DejaVu Sans"/>
                <a:cs typeface="DejaVu Sans"/>
              </a:defRPr>
            </a:pPr>
            <a:r>
              <a:rPr sz="3150" b="1">
                <a:solidFill>
                  <a:srgbClr val="D99A32"/>
                </a:solidFill>
                <a:latin typeface="DejaVu Sans"/>
                <a:ea typeface="DejaVu Sans"/>
                <a:cs typeface="DejaVu Sans"/>
              </a:rPr>
              <a:t>05</a:t>
            </a:r>
          </a:p>
        </p:txBody>
      </p:sp>
      <p:sp>
        <p:nvSpPr>
          <p:cNvPr id="16" name="">
            <a:extLst xmlns:a="http://schemas.openxmlformats.org/drawingml/2006/main">
              <a:ext uri="{FF2B5EF4-FFF2-40B4-BE49-F238E27FC236}">
                <a16:creationId xmlns:a16="http://schemas.microsoft.com/office/drawing/2014/main" id="{B4BC2066-BBEC-4248-940D-7173ACA7341C}"/>
              </a:ext>
            </a:extLst>
          </p:cNvPr>
          <p:cNvSpPr>
            <a:spLocks xmlns:a="http://schemas.openxmlformats.org/drawingml/2006/main" noGrp="1"/>
          </p:cNvSpPr>
          <p:nvPr/>
        </p:nvSpPr>
        <p:spPr>
          <a:xfrm xmlns:a="http://schemas.openxmlformats.org/drawingml/2006/main">
            <a:off x="1714500" y="5181600"/>
            <a:ext cx="26193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Control</a:t>
            </a:r>
          </a:p>
        </p:txBody>
      </p:sp>
      <p:sp>
        <p:nvSpPr>
          <p:cNvPr id="17" name="">
            <a:extLst xmlns:a="http://schemas.openxmlformats.org/drawingml/2006/main">
              <a:ext uri="{FF2B5EF4-FFF2-40B4-BE49-F238E27FC236}">
                <a16:creationId xmlns:a16="http://schemas.microsoft.com/office/drawing/2014/main" id="{A99E09B1-5682-414E-AFAA-03ECDA50761E}"/>
              </a:ext>
            </a:extLst>
          </p:cNvPr>
          <p:cNvSpPr>
            <a:spLocks xmlns:a="http://schemas.openxmlformats.org/drawingml/2006/main" noGrp="1"/>
          </p:cNvSpPr>
          <p:nvPr/>
        </p:nvSpPr>
        <p:spPr>
          <a:xfrm xmlns:a="http://schemas.openxmlformats.org/drawingml/2006/main">
            <a:off x="4619625" y="5219700"/>
            <a:ext cx="685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Inventario, auditoría y cierre diario</a:t>
            </a:r>
          </a:p>
        </p:txBody>
      </p:sp>
    </p:spTree>
    <p:extLst>
      <p:ext uri="{BB962C8B-B14F-4D97-AF65-F5344CB8AC3E}">
        <p14:creationId xmlns:p14="http://schemas.microsoft.com/office/powerpoint/2010/main" val="1725462211"/>
      </p:ext>
    </p:extLst>
  </p:cSld>
</p:sld>
</file>

<file path=ppt/slides/slide6.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D6C27A3-7FF4-48B9-AE1A-FCBB851B06BE}"/>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Solicitudes programadas</a:t>
            </a:r>
          </a:p>
        </p:txBody>
      </p:sp>
      <p:sp>
        <p:nvSpPr>
          <p:cNvPr id="2" name="">
            <a:extLst xmlns:a="http://schemas.openxmlformats.org/drawingml/2006/main">
              <a:ext uri="{FF2B5EF4-FFF2-40B4-BE49-F238E27FC236}">
                <a16:creationId xmlns:a16="http://schemas.microsoft.com/office/drawing/2014/main" id="{4323682F-A38A-43D4-9486-164941CA60A3}"/>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06</a:t>
            </a:r>
          </a:p>
        </p:txBody>
      </p:sp>
      <p:sp>
        <p:nvSpPr>
          <p:cNvPr id="3" name="">
            <a:extLst xmlns:a="http://schemas.openxmlformats.org/drawingml/2006/main">
              <a:ext uri="{FF2B5EF4-FFF2-40B4-BE49-F238E27FC236}">
                <a16:creationId xmlns:a16="http://schemas.microsoft.com/office/drawing/2014/main" id="{74DE1F72-3BD5-4E9D-9380-2511D94DFDAF}"/>
              </a:ext>
            </a:extLst>
          </p:cNvPr>
          <p:cNvSpPr>
            <a:spLocks xmlns:a="http://schemas.openxmlformats.org/drawingml/2006/main" noGrp="1"/>
          </p:cNvSpPr>
          <p:nvPr/>
        </p:nvSpPr>
        <p:spPr>
          <a:xfrm xmlns:a="http://schemas.openxmlformats.org/drawingml/2006/main">
            <a:off x="666750" y="15525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73D35"/>
                </a:solidFill>
                <a:latin typeface="DejaVu Sans"/>
                <a:ea typeface="DejaVu Sans"/>
                <a:cs typeface="DejaVu Sans"/>
              </a:defRPr>
            </a:pPr>
            <a:r>
              <a:rPr sz="2250" b="1">
                <a:solidFill>
                  <a:srgbClr val="173D35"/>
                </a:solidFill>
                <a:latin typeface="DejaVu Sans"/>
                <a:ea typeface="DejaVu Sans"/>
                <a:cs typeface="DejaVu Sans"/>
              </a:rPr>
              <a:t>Cantidad fija o consumo histórico</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f0156eec4e744ab"/>
          <a:stretch xmlns:a="http://schemas.openxmlformats.org/drawingml/2006/main"/>
        </p:blipFill>
        <p:spPr>
          <a:xfrm xmlns:a="http://schemas.openxmlformats.org/drawingml/2006/main">
            <a:off x="4781550" y="2286000"/>
            <a:ext cx="6248400"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E8F0E0D-6A20-4E14-876B-D315AFCD3F41}"/>
              </a:ext>
            </a:extLst>
          </p:cNvPr>
          <p:cNvSpPr>
            <a:spLocks xmlns:a="http://schemas.openxmlformats.org/drawingml/2006/main" noGrp="1"/>
          </p:cNvSpPr>
          <p:nvPr/>
        </p:nvSpPr>
        <p:spPr>
          <a:xfrm xmlns:a="http://schemas.openxmlformats.org/drawingml/2006/main">
            <a:off x="666750" y="2457450"/>
            <a:ext cx="3333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Programación diaria, semanal o mensual.</a:t>
            </a:r>
          </a:p>
          <a:p xmlns:a="http://schemas.openxmlformats.org/drawingml/2006/main">
            <a:r>
              <a:t/>
            </a:r>
          </a:p>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Sin aprobación no se emite el ticket.</a:t>
            </a:r>
          </a:p>
          <a:p xmlns:a="http://schemas.openxmlformats.org/drawingml/2006/main">
            <a:r>
              <a:t/>
            </a:r>
          </a:p>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Una reserva impide generar dos veces el mismo día.</a:t>
            </a:r>
          </a:p>
        </p:txBody>
      </p:sp>
    </p:spTree>
    <p:extLst>
      <p:ext uri="{BB962C8B-B14F-4D97-AF65-F5344CB8AC3E}">
        <p14:creationId xmlns:p14="http://schemas.microsoft.com/office/powerpoint/2010/main" val="1741915710"/>
      </p:ext>
    </p:extLst>
  </p:cSld>
</p:sld>
</file>

<file path=ppt/slides/slide7.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2EAD4FC-CAE8-44CF-9B2C-E6B94C9A7370}"/>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Tickets verificables</a:t>
            </a:r>
          </a:p>
        </p:txBody>
      </p:sp>
      <p:sp>
        <p:nvSpPr>
          <p:cNvPr id="2" name="">
            <a:extLst xmlns:a="http://schemas.openxmlformats.org/drawingml/2006/main">
              <a:ext uri="{FF2B5EF4-FFF2-40B4-BE49-F238E27FC236}">
                <a16:creationId xmlns:a16="http://schemas.microsoft.com/office/drawing/2014/main" id="{9270DF36-5C04-4217-AA28-8A34CC4E9C56}"/>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07</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3354ad0cd9445cb"/>
          <a:stretch xmlns:a="http://schemas.openxmlformats.org/drawingml/2006/main"/>
        </p:blipFill>
        <p:spPr>
          <a:xfrm xmlns:a="http://schemas.openxmlformats.org/drawingml/2006/main">
            <a:off x="4605338" y="1685925"/>
            <a:ext cx="6934200" cy="43338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D2BBE07-8B5E-4DF8-8E29-D01AC3E94039}"/>
              </a:ext>
            </a:extLst>
          </p:cNvPr>
          <p:cNvSpPr>
            <a:spLocks xmlns:a="http://schemas.openxmlformats.org/drawingml/2006/main" noGrp="1"/>
          </p:cNvSpPr>
          <p:nvPr/>
        </p:nvSpPr>
        <p:spPr>
          <a:xfrm xmlns:a="http://schemas.openxmlformats.org/drawingml/2006/main">
            <a:off x="666750" y="1762125"/>
            <a:ext cx="352425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Identificador único</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Secuencia correlativa</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Vigencia y autorización</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PDF con QR firmado</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Control de uso único</a:t>
            </a:r>
          </a:p>
        </p:txBody>
      </p:sp>
    </p:spTree>
    <p:extLst>
      <p:ext uri="{BB962C8B-B14F-4D97-AF65-F5344CB8AC3E}">
        <p14:creationId xmlns:p14="http://schemas.microsoft.com/office/powerpoint/2010/main" val="2144950524"/>
      </p:ext>
    </p:extLst>
  </p:cSld>
</p:sld>
</file>

<file path=ppt/slides/slide8.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34BD21A-8596-420F-B968-8C91895A5844}"/>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FuelTrack en Android</a:t>
            </a:r>
          </a:p>
        </p:txBody>
      </p:sp>
      <p:sp>
        <p:nvSpPr>
          <p:cNvPr id="2" name="">
            <a:extLst xmlns:a="http://schemas.openxmlformats.org/drawingml/2006/main">
              <a:ext uri="{FF2B5EF4-FFF2-40B4-BE49-F238E27FC236}">
                <a16:creationId xmlns:a16="http://schemas.microsoft.com/office/drawing/2014/main" id="{FC3E7275-3DDD-4672-B1BF-3212AF96B121}"/>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08</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be20d2b766d47ad"/>
          <a:stretch xmlns:a="http://schemas.openxmlformats.org/drawingml/2006/main"/>
        </p:blipFill>
        <p:spPr>
          <a:xfrm xmlns:a="http://schemas.openxmlformats.org/drawingml/2006/main">
            <a:off x="8003381" y="1504950"/>
            <a:ext cx="2185988" cy="4857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773DDC7-A66A-4ECB-9415-8A32F75137CB}"/>
              </a:ext>
            </a:extLst>
          </p:cNvPr>
          <p:cNvSpPr>
            <a:spLocks xmlns:a="http://schemas.openxmlformats.org/drawingml/2006/main" noGrp="1"/>
          </p:cNvSpPr>
          <p:nvPr/>
        </p:nvSpPr>
        <p:spPr>
          <a:xfrm xmlns:a="http://schemas.openxmlformats.org/drawingml/2006/main">
            <a:off x="714375" y="1809750"/>
            <a:ext cx="6429375"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Acceso por usuario</a:t>
            </a:r>
          </a:p>
          <a:p xmlns:a="http://schemas.openxmlformats.org/drawingml/2006/main">
            <a:r>
              <a:t/>
            </a:r>
          </a:p>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Consulta de tickets</a:t>
            </a:r>
          </a:p>
          <a:p xmlns:a="http://schemas.openxmlformats.org/drawingml/2006/main">
            <a:r>
              <a:t/>
            </a:r>
          </a:p>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Validación en línea</a:t>
            </a:r>
          </a:p>
          <a:p xmlns:a="http://schemas.openxmlformats.org/drawingml/2006/main">
            <a:r>
              <a:t/>
            </a:r>
          </a:p>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Confirmación de identidad</a:t>
            </a:r>
          </a:p>
          <a:p xmlns:a="http://schemas.openxmlformats.org/drawingml/2006/main">
            <a:r>
              <a:t/>
            </a:r>
          </a:p>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Registro del despacho</a:t>
            </a:r>
          </a:p>
        </p:txBody>
      </p:sp>
    </p:spTree>
    <p:extLst>
      <p:ext uri="{BB962C8B-B14F-4D97-AF65-F5344CB8AC3E}">
        <p14:creationId xmlns:p14="http://schemas.microsoft.com/office/powerpoint/2010/main" val="343991576"/>
      </p:ext>
    </p:extLst>
  </p:cSld>
</p:sld>
</file>

<file path=ppt/slides/slide9.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64DF87B-3483-46FF-ADA9-6DDA3B2E1BEE}"/>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Inventario con reglas de negocio</a:t>
            </a:r>
          </a:p>
        </p:txBody>
      </p:sp>
      <p:sp>
        <p:nvSpPr>
          <p:cNvPr id="2" name="">
            <a:extLst xmlns:a="http://schemas.openxmlformats.org/drawingml/2006/main">
              <a:ext uri="{FF2B5EF4-FFF2-40B4-BE49-F238E27FC236}">
                <a16:creationId xmlns:a16="http://schemas.microsoft.com/office/drawing/2014/main" id="{CDEEA519-60ED-4AEE-880F-ABFCD744B3C6}"/>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09</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f6c5beee22b459f"/>
          <a:stretch xmlns:a="http://schemas.openxmlformats.org/drawingml/2006/main"/>
        </p:blipFill>
        <p:spPr>
          <a:xfrm xmlns:a="http://schemas.openxmlformats.org/drawingml/2006/main">
            <a:off x="4524375" y="1735336"/>
            <a:ext cx="7096125" cy="443507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4DCDB58-16AA-49F7-9321-E681799F26D7}"/>
              </a:ext>
            </a:extLst>
          </p:cNvPr>
          <p:cNvSpPr>
            <a:spLocks xmlns:a="http://schemas.openxmlformats.org/drawingml/2006/main" noGrp="1"/>
          </p:cNvSpPr>
          <p:nvPr/>
        </p:nvSpPr>
        <p:spPr>
          <a:xfrm xmlns:a="http://schemas.openxmlformats.org/drawingml/2006/main">
            <a:off x="666750" y="1857375"/>
            <a:ext cx="34290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Recepciones y compras</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Despachos y mermas</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Ajustes con motivo</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Transferencias compatibles</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Historial de movimientos</a:t>
            </a:r>
          </a:p>
        </p:txBody>
      </p:sp>
    </p:spTree>
    <p:extLst>
      <p:ext uri="{BB962C8B-B14F-4D97-AF65-F5344CB8AC3E}">
        <p14:creationId xmlns:p14="http://schemas.microsoft.com/office/powerpoint/2010/main" val="419010791"/>
      </p:ext>
    </p:extLst>
  </p:cSld>
</p:sld>
</file>

<file path=ppt/slides/slide10.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28676E5-266E-4B9E-84F8-E43258496A9D}"/>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Información para decidir</a:t>
            </a:r>
          </a:p>
        </p:txBody>
      </p:sp>
      <p:sp>
        <p:nvSpPr>
          <p:cNvPr id="2" name="">
            <a:extLst xmlns:a="http://schemas.openxmlformats.org/drawingml/2006/main">
              <a:ext uri="{FF2B5EF4-FFF2-40B4-BE49-F238E27FC236}">
                <a16:creationId xmlns:a16="http://schemas.microsoft.com/office/drawing/2014/main" id="{C322F129-DEE4-429C-8859-1796D89CAD64}"/>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10</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d191330f12704dc9"/>
          <a:stretch xmlns:a="http://schemas.openxmlformats.org/drawingml/2006/main"/>
        </p:blipFill>
        <p:spPr>
          <a:xfrm xmlns:a="http://schemas.openxmlformats.org/drawingml/2006/main">
            <a:off x="2514600" y="1476375"/>
            <a:ext cx="7162800" cy="4476750"/>
          </a:xfrm>
          <a:prstGeom xmlns:a="http://schemas.openxmlformats.org/drawingml/2006/main" prst="rect">
            <a:avLst/>
          </a:prstGeom>
        </p:spPr>
      </p:pic>
    </p:spTree>
    <p:extLst>
      <p:ext uri="{BB962C8B-B14F-4D97-AF65-F5344CB8AC3E}">
        <p14:creationId xmlns:p14="http://schemas.microsoft.com/office/powerpoint/2010/main" val="1330470533"/>
      </p:ext>
    </p:extLst>
  </p:cSld>
</p:sld>
</file>

<file path=ppt/slides/slide11.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508493D-AD2C-4876-9FB0-980761A12CC5}"/>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Reportes y cierre diario</a:t>
            </a:r>
          </a:p>
        </p:txBody>
      </p:sp>
      <p:sp>
        <p:nvSpPr>
          <p:cNvPr id="2" name="">
            <a:extLst xmlns:a="http://schemas.openxmlformats.org/drawingml/2006/main">
              <a:ext uri="{FF2B5EF4-FFF2-40B4-BE49-F238E27FC236}">
                <a16:creationId xmlns:a16="http://schemas.microsoft.com/office/drawing/2014/main" id="{A1135887-F7AB-4CC9-B1C4-EF0AD2E34E2D}"/>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11</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f141be8df53402d"/>
          <a:stretch xmlns:a="http://schemas.openxmlformats.org/drawingml/2006/main"/>
        </p:blipFill>
        <p:spPr>
          <a:xfrm xmlns:a="http://schemas.openxmlformats.org/drawingml/2006/main">
            <a:off x="4719638" y="1666875"/>
            <a:ext cx="6705600" cy="4191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0E0E106-64AD-4778-8655-8395CAD28494}"/>
              </a:ext>
            </a:extLst>
          </p:cNvPr>
          <p:cNvSpPr>
            <a:spLocks xmlns:a="http://schemas.openxmlformats.org/drawingml/2006/main" noGrp="1"/>
          </p:cNvSpPr>
          <p:nvPr/>
        </p:nvSpPr>
        <p:spPr>
          <a:xfrm xmlns:a="http://schemas.openxmlformats.org/drawingml/2006/main">
            <a:off x="666750" y="2000250"/>
            <a:ext cx="347662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Filtros por operación</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Excel, CSV y PDF</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Acta de cierre</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Trazabilidad del resultado</a:t>
            </a:r>
          </a:p>
        </p:txBody>
      </p:sp>
    </p:spTree>
    <p:extLst>
      <p:ext uri="{BB962C8B-B14F-4D97-AF65-F5344CB8AC3E}">
        <p14:creationId xmlns:p14="http://schemas.microsoft.com/office/powerpoint/2010/main" val="243063219"/>
      </p:ext>
    </p:extLst>
  </p:cSld>
</p:sld>
</file>

<file path=ppt/slides/slide12.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399CDF7-76F0-4823-AAA6-BDC88E1A5261}"/>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Lenguajes y tecnologías</a:t>
            </a:r>
          </a:p>
        </p:txBody>
      </p:sp>
      <p:sp>
        <p:nvSpPr>
          <p:cNvPr id="2" name="">
            <a:extLst xmlns:a="http://schemas.openxmlformats.org/drawingml/2006/main">
              <a:ext uri="{FF2B5EF4-FFF2-40B4-BE49-F238E27FC236}">
                <a16:creationId xmlns:a16="http://schemas.microsoft.com/office/drawing/2014/main" id="{D4B209B1-9E47-46B8-AA14-714CA2397892}"/>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12</a:t>
            </a:r>
          </a:p>
        </p:txBody>
      </p:sp>
      <p:graphicFrame>
        <p:nvGraphicFramePr>
          <p:cNvPr id="7" name=""/>
          <p:cNvGraphicFramePr/>
          <p:nvPr/>
        </p:nvGraphicFramePr>
        <p:xfrm>
          <a:off xmlns:a="http://schemas.openxmlformats.org/drawingml/2006/main" x="666750" y="1695450"/>
          <a:ext xmlns:a="http://schemas.openxmlformats.org/drawingml/2006/main" cx="10858500" cy="3619500"/>
        </p:xfrm>
        <a:graphic xmlns:a="http://schemas.openxmlformats.org/drawingml/2006/main">
          <a:graphicData uri="http://schemas.openxmlformats.org/drawingml/2006/table">
            <a:tbl>
              <a:tblPr/>
              <a:tblGrid>
                <a:gridCol w="2238375"/>
                <a:gridCol w="3000375"/>
                <a:gridCol w="5619750"/>
              </a:tblGrid>
              <a:tr h="603250">
                <a:tc>
                  <a:txBody>
                    <a:bodyPr/>
                    <a:lstStyle/>
                    <a:p>
                      <a:r>
                        <a:rPr sz="1800" b="1">
                          <a:solidFill>
                            <a:srgbClr val="FFFFFF"/>
                          </a:solidFill>
                          <a:latin typeface="DejaVu Sans"/>
                          <a:ea typeface="DejaVu Sans"/>
                          <a:cs typeface="DejaVu Sans"/>
                        </a:rPr>
                        <a:t>Capa</a:t>
                      </a:r>
                    </a:p>
                  </a:txBody>
                  <a:tcPr marL="91440" marR="91440" marT="45720" marB="45720">
                    <a:solidFill>
                      <a:srgbClr val="173D35"/>
                    </a:solidFill>
                  </a:tcPr>
                </a:tc>
                <a:tc>
                  <a:txBody>
                    <a:bodyPr/>
                    <a:lstStyle/>
                    <a:p>
                      <a:r>
                        <a:rPr sz="1800" b="1">
                          <a:solidFill>
                            <a:srgbClr val="FFFFFF"/>
                          </a:solidFill>
                          <a:latin typeface="DejaVu Sans"/>
                          <a:ea typeface="DejaVu Sans"/>
                          <a:cs typeface="DejaVu Sans"/>
                        </a:rPr>
                        <a:t>Lenguaje</a:t>
                      </a:r>
                    </a:p>
                  </a:txBody>
                  <a:tcPr marL="91440" marR="91440" marT="45720" marB="45720">
                    <a:solidFill>
                      <a:srgbClr val="173D35"/>
                    </a:solidFill>
                  </a:tcPr>
                </a:tc>
                <a:tc>
                  <a:txBody>
                    <a:bodyPr/>
                    <a:lstStyle/>
                    <a:p>
                      <a:r>
                        <a:rPr sz="1800" b="1">
                          <a:solidFill>
                            <a:srgbClr val="FFFFFF"/>
                          </a:solidFill>
                          <a:latin typeface="DejaVu Sans"/>
                          <a:ea typeface="DejaVu Sans"/>
                          <a:cs typeface="DejaVu Sans"/>
                        </a:rPr>
                        <a:t>Tecnología</a:t>
                      </a:r>
                    </a:p>
                  </a:txBody>
                  <a:tcPr marL="91440" marR="91440" marT="45720" marB="45720">
                    <a:solidFill>
                      <a:srgbClr val="173D35"/>
                    </a:solidFill>
                  </a:tcPr>
                </a:tc>
              </a:tr>
              <a:tr h="603250">
                <a:tc>
                  <a:txBody>
                    <a:bodyPr/>
                    <a:lstStyle/>
                    <a:p>
                      <a:r>
                        <a:rPr sz="1800" b="0">
                          <a:solidFill>
                            <a:srgbClr val="142C32"/>
                          </a:solidFill>
                          <a:latin typeface="DejaVu Sans"/>
                          <a:ea typeface="DejaVu Sans"/>
                          <a:cs typeface="DejaVu Sans"/>
                        </a:rPr>
                        <a:t>Web / PWA</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JavaScript, HTML, CSS</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React, Vite, Tailwind CSS</a:t>
                      </a:r>
                    </a:p>
                  </a:txBody>
                  <a:tcPr marL="91440" marR="91440" marT="45720" marB="45720">
                    <a:solidFill>
                      <a:srgbClr val="FFFFFF"/>
                    </a:solidFill>
                  </a:tcPr>
                </a:tc>
              </a:tr>
              <a:tr h="603250">
                <a:tc>
                  <a:txBody>
                    <a:bodyPr/>
                    <a:lstStyle/>
                    <a:p>
                      <a:r>
                        <a:rPr sz="1800" b="0">
                          <a:solidFill>
                            <a:srgbClr val="142C32"/>
                          </a:solidFill>
                          <a:latin typeface="DejaVu Sans"/>
                          <a:ea typeface="DejaVu Sans"/>
                          <a:cs typeface="DejaVu Sans"/>
                        </a:rPr>
                        <a:t>Servidor</a:t>
                      </a:r>
                    </a:p>
                  </a:txBody>
                  <a:tcPr marL="91440" marR="91440" marT="45720" marB="45720">
                    <a:solidFill>
                      <a:srgbClr val="E7EDE7"/>
                    </a:solidFill>
                  </a:tcPr>
                </a:tc>
                <a:tc>
                  <a:txBody>
                    <a:bodyPr/>
                    <a:lstStyle/>
                    <a:p>
                      <a:r>
                        <a:rPr sz="1800" b="0">
                          <a:solidFill>
                            <a:srgbClr val="142C32"/>
                          </a:solidFill>
                          <a:latin typeface="DejaVu Sans"/>
                          <a:ea typeface="DejaVu Sans"/>
                          <a:cs typeface="DejaVu Sans"/>
                        </a:rPr>
                        <a:t>C#</a:t>
                      </a:r>
                    </a:p>
                  </a:txBody>
                  <a:tcPr marL="91440" marR="91440" marT="45720" marB="45720">
                    <a:solidFill>
                      <a:srgbClr val="E7EDE7"/>
                    </a:solidFill>
                  </a:tcPr>
                </a:tc>
                <a:tc>
                  <a:txBody>
                    <a:bodyPr/>
                    <a:lstStyle/>
                    <a:p>
                      <a:r>
                        <a:rPr sz="1800" b="0">
                          <a:solidFill>
                            <a:srgbClr val="142C32"/>
                          </a:solidFill>
                          <a:latin typeface="DejaVu Sans"/>
                          <a:ea typeface="DejaVu Sans"/>
                          <a:cs typeface="DejaVu Sans"/>
                        </a:rPr>
                        <a:t>.NET 10, Entity Framework Core</a:t>
                      </a:r>
                    </a:p>
                  </a:txBody>
                  <a:tcPr marL="91440" marR="91440" marT="45720" marB="45720">
                    <a:solidFill>
                      <a:srgbClr val="E7EDE7"/>
                    </a:solidFill>
                  </a:tcPr>
                </a:tc>
              </a:tr>
              <a:tr h="603250">
                <a:tc>
                  <a:txBody>
                    <a:bodyPr/>
                    <a:lstStyle/>
                    <a:p>
                      <a:r>
                        <a:rPr sz="1800" b="0">
                          <a:solidFill>
                            <a:srgbClr val="142C32"/>
                          </a:solidFill>
                          <a:latin typeface="DejaVu Sans"/>
                          <a:ea typeface="DejaVu Sans"/>
                          <a:cs typeface="DejaVu Sans"/>
                        </a:rPr>
                        <a:t>Datos</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SQL</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PostgreSQL</a:t>
                      </a:r>
                    </a:p>
                  </a:txBody>
                  <a:tcPr marL="91440" marR="91440" marT="45720" marB="45720">
                    <a:solidFill>
                      <a:srgbClr val="FFFFFF"/>
                    </a:solidFill>
                  </a:tcPr>
                </a:tc>
              </a:tr>
              <a:tr h="603250">
                <a:tc>
                  <a:txBody>
                    <a:bodyPr/>
                    <a:lstStyle/>
                    <a:p>
                      <a:r>
                        <a:rPr sz="1800" b="0">
                          <a:solidFill>
                            <a:srgbClr val="142C32"/>
                          </a:solidFill>
                          <a:latin typeface="DejaVu Sans"/>
                          <a:ea typeface="DejaVu Sans"/>
                          <a:cs typeface="DejaVu Sans"/>
                        </a:rPr>
                        <a:t>Android</a:t>
                      </a:r>
                    </a:p>
                  </a:txBody>
                  <a:tcPr marL="91440" marR="91440" marT="45720" marB="45720">
                    <a:solidFill>
                      <a:srgbClr val="E7EDE7"/>
                    </a:solidFill>
                  </a:tcPr>
                </a:tc>
                <a:tc>
                  <a:txBody>
                    <a:bodyPr/>
                    <a:lstStyle/>
                    <a:p>
                      <a:r>
                        <a:rPr sz="1800" b="0">
                          <a:solidFill>
                            <a:srgbClr val="142C32"/>
                          </a:solidFill>
                          <a:latin typeface="DejaVu Sans"/>
                          <a:ea typeface="DejaVu Sans"/>
                          <a:cs typeface="DejaVu Sans"/>
                        </a:rPr>
                        <a:t>Dart</a:t>
                      </a:r>
                    </a:p>
                  </a:txBody>
                  <a:tcPr marL="91440" marR="91440" marT="45720" marB="45720">
                    <a:solidFill>
                      <a:srgbClr val="E7EDE7"/>
                    </a:solidFill>
                  </a:tcPr>
                </a:tc>
                <a:tc>
                  <a:txBody>
                    <a:bodyPr/>
                    <a:lstStyle/>
                    <a:p>
                      <a:r>
                        <a:rPr sz="1800" b="0">
                          <a:solidFill>
                            <a:srgbClr val="142C32"/>
                          </a:solidFill>
                          <a:latin typeface="DejaVu Sans"/>
                          <a:ea typeface="DejaVu Sans"/>
                          <a:cs typeface="DejaVu Sans"/>
                        </a:rPr>
                        <a:t>Flutter</a:t>
                      </a:r>
                    </a:p>
                  </a:txBody>
                  <a:tcPr marL="91440" marR="91440" marT="45720" marB="45720">
                    <a:solidFill>
                      <a:srgbClr val="E7EDE7"/>
                    </a:solidFill>
                  </a:tcPr>
                </a:tc>
              </a:tr>
              <a:tr h="603250">
                <a:tc>
                  <a:txBody>
                    <a:bodyPr/>
                    <a:lstStyle/>
                    <a:p>
                      <a:r>
                        <a:rPr sz="1800" b="0">
                          <a:solidFill>
                            <a:srgbClr val="142C32"/>
                          </a:solidFill>
                          <a:latin typeface="DejaVu Sans"/>
                          <a:ea typeface="DejaVu Sans"/>
                          <a:cs typeface="DejaVu Sans"/>
                        </a:rPr>
                        <a:t>Identidad e integración</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HTTP / JSON</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JWT, OAuth 2.0, Keycloak, SMTP, Textbee</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2D79A506-6F16-4A30-AB5A-80E1B734581D}"/>
              </a:ext>
            </a:extLst>
          </p:cNvPr>
          <p:cNvSpPr>
            <a:spLocks xmlns:a="http://schemas.openxmlformats.org/drawingml/2006/main" noGrp="1"/>
          </p:cNvSpPr>
          <p:nvPr/>
        </p:nvSpPr>
        <p:spPr>
          <a:xfrm xmlns:a="http://schemas.openxmlformats.org/drawingml/2006/main">
            <a:off x="666750" y="56864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66B"/>
                </a:solidFill>
                <a:latin typeface="DejaVu Sans"/>
                <a:ea typeface="DejaVu Sans"/>
                <a:cs typeface="DejaVu Sans"/>
              </a:defRPr>
            </a:pPr>
            <a:r>
              <a:rPr sz="1800" b="0">
                <a:solidFill>
                  <a:srgbClr val="53666B"/>
                </a:solidFill>
                <a:latin typeface="DejaVu Sans"/>
                <a:ea typeface="DejaVu Sans"/>
                <a:cs typeface="DejaVu Sans"/>
              </a:rPr>
              <a:t>Cambio documentado respecto al SRS: .NET 10 en lugar de .NET 8</a:t>
            </a:r>
          </a:p>
        </p:txBody>
      </p:sp>
    </p:spTree>
    <p:extLst>
      <p:ext uri="{BB962C8B-B14F-4D97-AF65-F5344CB8AC3E}">
        <p14:creationId xmlns:p14="http://schemas.microsoft.com/office/powerpoint/2010/main" val="1998300779"/>
      </p:ext>
    </p:extLst>
  </p:cSld>
</p:sld>
</file>

<file path=ppt/slides/slide13.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C30DF3-6B44-4855-8AA0-6431EEF0FBAC}"/>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Seguridad aplicada</a:t>
            </a:r>
          </a:p>
        </p:txBody>
      </p:sp>
      <p:sp>
        <p:nvSpPr>
          <p:cNvPr id="2" name="">
            <a:extLst xmlns:a="http://schemas.openxmlformats.org/drawingml/2006/main">
              <a:ext uri="{FF2B5EF4-FFF2-40B4-BE49-F238E27FC236}">
                <a16:creationId xmlns:a16="http://schemas.microsoft.com/office/drawing/2014/main" id="{335FB848-FB5E-491B-A645-6699BA27AA8F}"/>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13</a:t>
            </a:r>
          </a:p>
        </p:txBody>
      </p:sp>
      <p:sp>
        <p:nvSpPr>
          <p:cNvPr id="3" name="">
            <a:extLst xmlns:a="http://schemas.openxmlformats.org/drawingml/2006/main">
              <a:ext uri="{FF2B5EF4-FFF2-40B4-BE49-F238E27FC236}">
                <a16:creationId xmlns:a16="http://schemas.microsoft.com/office/drawing/2014/main" id="{BF85630D-A297-4A58-8C3A-D8EF282FBF62}"/>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Acceso</a:t>
            </a:r>
          </a:p>
        </p:txBody>
      </p:sp>
      <p:sp>
        <p:nvSpPr>
          <p:cNvPr id="4" name="">
            <a:extLst xmlns:a="http://schemas.openxmlformats.org/drawingml/2006/main">
              <a:ext uri="{FF2B5EF4-FFF2-40B4-BE49-F238E27FC236}">
                <a16:creationId xmlns:a16="http://schemas.microsoft.com/office/drawing/2014/main" id="{B04E7760-2B6D-4EC0-B3E4-BA6E8403AF89}"/>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Contraseñas, sesiones, renovación y revocación.</a:t>
            </a:r>
          </a:p>
        </p:txBody>
      </p:sp>
      <p:sp>
        <p:nvSpPr>
          <p:cNvPr id="5" name="">
            <a:extLst xmlns:a="http://schemas.openxmlformats.org/drawingml/2006/main">
              <a:ext uri="{FF2B5EF4-FFF2-40B4-BE49-F238E27FC236}">
                <a16:creationId xmlns:a16="http://schemas.microsoft.com/office/drawing/2014/main" id="{7A56BE4F-66B9-4E13-8F2C-BB8A8F3C6A39}"/>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Permisos</a:t>
            </a:r>
          </a:p>
        </p:txBody>
      </p:sp>
      <p:sp>
        <p:nvSpPr>
          <p:cNvPr id="6" name="">
            <a:extLst xmlns:a="http://schemas.openxmlformats.org/drawingml/2006/main">
              <a:ext uri="{FF2B5EF4-FFF2-40B4-BE49-F238E27FC236}">
                <a16:creationId xmlns:a16="http://schemas.microsoft.com/office/drawing/2014/main" id="{18F2E082-B8D8-432C-BE67-E4B55C0500B2}"/>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RBAC y consulta de tickets según su propietario.</a:t>
            </a:r>
          </a:p>
        </p:txBody>
      </p:sp>
      <p:sp>
        <p:nvSpPr>
          <p:cNvPr id="7" name="">
            <a:extLst xmlns:a="http://schemas.openxmlformats.org/drawingml/2006/main">
              <a:ext uri="{FF2B5EF4-FFF2-40B4-BE49-F238E27FC236}">
                <a16:creationId xmlns:a16="http://schemas.microsoft.com/office/drawing/2014/main" id="{E3248DF5-F904-488D-9E8F-1BB694C42900}"/>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QR</a:t>
            </a:r>
          </a:p>
        </p:txBody>
      </p:sp>
      <p:sp>
        <p:nvSpPr>
          <p:cNvPr id="8" name="">
            <a:extLst xmlns:a="http://schemas.openxmlformats.org/drawingml/2006/main">
              <a:ext uri="{FF2B5EF4-FFF2-40B4-BE49-F238E27FC236}">
                <a16:creationId xmlns:a16="http://schemas.microsoft.com/office/drawing/2014/main" id="{D0DAECC6-A297-4A74-A265-B833BB9AF286}"/>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Firma criptográfica, vigencia y rechazo de reutilización.</a:t>
            </a:r>
          </a:p>
        </p:txBody>
      </p:sp>
      <p:sp>
        <p:nvSpPr>
          <p:cNvPr id="9" name="">
            <a:extLst xmlns:a="http://schemas.openxmlformats.org/drawingml/2006/main">
              <a:ext uri="{FF2B5EF4-FFF2-40B4-BE49-F238E27FC236}">
                <a16:creationId xmlns:a16="http://schemas.microsoft.com/office/drawing/2014/main" id="{ACF47A30-14EE-42C5-BF4D-BC275778A15D}"/>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Auditoría</a:t>
            </a:r>
          </a:p>
        </p:txBody>
      </p:sp>
      <p:sp>
        <p:nvSpPr>
          <p:cNvPr id="10" name="">
            <a:extLst xmlns:a="http://schemas.openxmlformats.org/drawingml/2006/main">
              <a:ext uri="{FF2B5EF4-FFF2-40B4-BE49-F238E27FC236}">
                <a16:creationId xmlns:a16="http://schemas.microsoft.com/office/drawing/2014/main" id="{51F45C0A-36EC-43B4-9864-C45FD435FE7D}"/>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Eventos de negocio y protección frente a modificación.</a:t>
            </a:r>
          </a:p>
        </p:txBody>
      </p:sp>
    </p:spTree>
    <p:extLst>
      <p:ext uri="{BB962C8B-B14F-4D97-AF65-F5344CB8AC3E}">
        <p14:creationId xmlns:p14="http://schemas.microsoft.com/office/powerpoint/2010/main" val="2146074124"/>
      </p:ext>
    </p:extLst>
  </p:cSld>
</p:sld>
</file>

<file path=ppt/slides/slide14.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BBA449-D6D7-418D-8893-9C4AEF6FB09D}"/>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Trabajo del equipo</a:t>
            </a:r>
          </a:p>
        </p:txBody>
      </p:sp>
      <p:sp>
        <p:nvSpPr>
          <p:cNvPr id="2" name="">
            <a:extLst xmlns:a="http://schemas.openxmlformats.org/drawingml/2006/main">
              <a:ext uri="{FF2B5EF4-FFF2-40B4-BE49-F238E27FC236}">
                <a16:creationId xmlns:a16="http://schemas.microsoft.com/office/drawing/2014/main" id="{47728454-A7B8-4645-AAA7-4A9110687D85}"/>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14</a:t>
            </a:r>
          </a:p>
        </p:txBody>
      </p:sp>
      <p:sp>
        <p:nvSpPr>
          <p:cNvPr id="3" name="">
            <a:extLst xmlns:a="http://schemas.openxmlformats.org/drawingml/2006/main">
              <a:ext uri="{FF2B5EF4-FFF2-40B4-BE49-F238E27FC236}">
                <a16:creationId xmlns:a16="http://schemas.microsoft.com/office/drawing/2014/main" id="{372740F2-27BD-408A-9804-D3C6FA5D83AE}"/>
              </a:ext>
            </a:extLst>
          </p:cNvPr>
          <p:cNvSpPr>
            <a:spLocks xmlns:a="http://schemas.openxmlformats.org/drawingml/2006/main" noGrp="1"/>
          </p:cNvSpPr>
          <p:nvPr/>
        </p:nvSpPr>
        <p:spPr>
          <a:xfrm xmlns:a="http://schemas.openxmlformats.org/drawingml/2006/main">
            <a:off x="666750" y="1685925"/>
            <a:ext cx="5429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173D35"/>
                </a:solidFill>
                <a:latin typeface="DejaVu Sans"/>
                <a:ea typeface="DejaVu Sans"/>
                <a:cs typeface="DejaVu Sans"/>
              </a:defRPr>
            </a:pPr>
            <a:r>
              <a:rPr sz="4650" b="1">
                <a:solidFill>
                  <a:srgbClr val="173D35"/>
                </a:solidFill>
                <a:latin typeface="DejaVu Sans"/>
                <a:ea typeface="DejaVu Sans"/>
                <a:cs typeface="DejaVu Sans"/>
              </a:rPr>
              <a:t>6 integrantes</a:t>
            </a:r>
          </a:p>
        </p:txBody>
      </p:sp>
      <p:sp>
        <p:nvSpPr>
          <p:cNvPr id="4" name="">
            <a:extLst xmlns:a="http://schemas.openxmlformats.org/drawingml/2006/main">
              <a:ext uri="{FF2B5EF4-FFF2-40B4-BE49-F238E27FC236}">
                <a16:creationId xmlns:a16="http://schemas.microsoft.com/office/drawing/2014/main" id="{80135D55-7034-45B2-9FCE-832A6F656CE4}"/>
              </a:ext>
            </a:extLst>
          </p:cNvPr>
          <p:cNvSpPr>
            <a:spLocks xmlns:a="http://schemas.openxmlformats.org/drawingml/2006/main" noGrp="1"/>
          </p:cNvSpPr>
          <p:nvPr/>
        </p:nvSpPr>
        <p:spPr>
          <a:xfrm xmlns:a="http://schemas.openxmlformats.org/drawingml/2006/main">
            <a:off x="666750" y="2695575"/>
            <a:ext cx="809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42C32"/>
                </a:solidFill>
                <a:latin typeface="DejaVu Sans"/>
                <a:ea typeface="DejaVu Sans"/>
                <a:cs typeface="DejaVu Sans"/>
              </a:defRPr>
            </a:pPr>
            <a:r>
              <a:rPr sz="2700" b="0">
                <a:solidFill>
                  <a:srgbClr val="142C32"/>
                </a:solidFill>
                <a:latin typeface="DejaVu Sans"/>
                <a:ea typeface="DejaVu Sans"/>
                <a:cs typeface="DejaVu Sans"/>
              </a:rPr>
              <a:t>3 builders y 3 testers</a:t>
            </a:r>
          </a:p>
        </p:txBody>
      </p:sp>
      <p:sp>
        <p:nvSpPr>
          <p:cNvPr id="5" name="">
            <a:extLst xmlns:a="http://schemas.openxmlformats.org/drawingml/2006/main">
              <a:ext uri="{FF2B5EF4-FFF2-40B4-BE49-F238E27FC236}">
                <a16:creationId xmlns:a16="http://schemas.microsoft.com/office/drawing/2014/main" id="{1165E2F0-9E5F-49C7-ADDA-8EA36563432B}"/>
              </a:ext>
            </a:extLst>
          </p:cNvPr>
          <p:cNvSpPr>
            <a:spLocks xmlns:a="http://schemas.openxmlformats.org/drawingml/2006/main" noGrp="1"/>
          </p:cNvSpPr>
          <p:nvPr/>
        </p:nvSpPr>
        <p:spPr>
          <a:xfrm xmlns:a="http://schemas.openxmlformats.org/drawingml/2006/main">
            <a:off x="666750" y="383857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142C32"/>
                </a:solidFill>
                <a:latin typeface="DejaVu Sans"/>
                <a:ea typeface="DejaVu Sans"/>
                <a:cs typeface="DejaVu Sans"/>
              </a:defRPr>
            </a:pPr>
            <a:r>
              <a:rPr sz="2775" b="0">
                <a:solidFill>
                  <a:srgbClr val="142C32"/>
                </a:solidFill>
                <a:latin typeface="DejaVu Sans"/>
                <a:ea typeface="DejaVu Sans"/>
                <a:cs typeface="DejaVu Sans"/>
              </a:rPr>
              <a:t>Desarrollo por capas, entregas por fases</a:t>
            </a:r>
          </a:p>
          <a:p xmlns:a="http://schemas.openxmlformats.org/drawingml/2006/main">
            <a:pPr>
              <a:defRPr sz="2775" b="0">
                <a:solidFill>
                  <a:srgbClr val="142C32"/>
                </a:solidFill>
                <a:latin typeface="DejaVu Sans"/>
                <a:ea typeface="DejaVu Sans"/>
                <a:cs typeface="DejaVu Sans"/>
              </a:defRPr>
            </a:pPr>
            <a:r>
              <a:rPr sz="2775" b="0">
                <a:solidFill>
                  <a:srgbClr val="142C32"/>
                </a:solidFill>
                <a:latin typeface="DejaVu Sans"/>
                <a:ea typeface="DejaVu Sans"/>
                <a:cs typeface="DejaVu Sans"/>
              </a:rPr>
              <a:t>y revisión de los flujos completos</a:t>
            </a:r>
          </a:p>
        </p:txBody>
      </p:sp>
      <p:sp>
        <p:nvSpPr>
          <p:cNvPr id="6" name="">
            <a:extLst xmlns:a="http://schemas.openxmlformats.org/drawingml/2006/main">
              <a:ext uri="{FF2B5EF4-FFF2-40B4-BE49-F238E27FC236}">
                <a16:creationId xmlns:a16="http://schemas.microsoft.com/office/drawing/2014/main" id="{B2F4766F-7E6E-4BF9-AD60-69A51379BC9A}"/>
              </a:ext>
            </a:extLst>
          </p:cNvPr>
          <p:cNvSpPr>
            <a:spLocks xmlns:a="http://schemas.openxmlformats.org/drawingml/2006/main" noGrp="1"/>
          </p:cNvSpPr>
          <p:nvPr/>
        </p:nvSpPr>
        <p:spPr>
          <a:xfrm xmlns:a="http://schemas.openxmlformats.org/drawingml/2006/main">
            <a:off x="666750" y="55816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3666B"/>
                </a:solidFill>
                <a:latin typeface="DejaVu Sans"/>
                <a:ea typeface="DejaVu Sans"/>
                <a:cs typeface="DejaVu Sans"/>
              </a:defRPr>
            </a:pPr>
            <a:r>
              <a:rPr sz="1950" b="0">
                <a:solidFill>
                  <a:srgbClr val="53666B"/>
                </a:solidFill>
                <a:latin typeface="DejaVu Sans"/>
                <a:ea typeface="DejaVu Sans"/>
                <a:cs typeface="DejaVu Sans"/>
              </a:rPr>
              <a:t>Código, pruebas y documentación forman parte de la entrega</a:t>
            </a:r>
          </a:p>
        </p:txBody>
      </p:sp>
    </p:spTree>
    <p:extLst>
      <p:ext uri="{BB962C8B-B14F-4D97-AF65-F5344CB8AC3E}">
        <p14:creationId xmlns:p14="http://schemas.microsoft.com/office/powerpoint/2010/main" val="2138926830"/>
      </p:ext>
    </p:extLst>
  </p:cSld>
</p:sld>
</file>

<file path=ppt/slides/slide15.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BB036F-4C1C-4682-8741-2DADE91F2EDE}"/>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Correcciones y verificación</a:t>
            </a:r>
          </a:p>
        </p:txBody>
      </p:sp>
      <p:sp>
        <p:nvSpPr>
          <p:cNvPr id="2" name="">
            <a:extLst xmlns:a="http://schemas.openxmlformats.org/drawingml/2006/main">
              <a:ext uri="{FF2B5EF4-FFF2-40B4-BE49-F238E27FC236}">
                <a16:creationId xmlns:a16="http://schemas.microsoft.com/office/drawing/2014/main" id="{83AFEF81-3FB4-431B-9FDB-695BA17F8163}"/>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15</a:t>
            </a:r>
          </a:p>
        </p:txBody>
      </p:sp>
      <p:sp>
        <p:nvSpPr>
          <p:cNvPr id="3" name="">
            <a:extLst xmlns:a="http://schemas.openxmlformats.org/drawingml/2006/main">
              <a:ext uri="{FF2B5EF4-FFF2-40B4-BE49-F238E27FC236}">
                <a16:creationId xmlns:a16="http://schemas.microsoft.com/office/drawing/2014/main" id="{178960E7-1413-4322-8A2B-5B08AC0175AA}"/>
              </a:ext>
            </a:extLst>
          </p:cNvPr>
          <p:cNvSpPr>
            <a:spLocks xmlns:a="http://schemas.openxmlformats.org/drawingml/2006/main" noGrp="1"/>
          </p:cNvSpPr>
          <p:nvPr/>
        </p:nvSpPr>
        <p:spPr>
          <a:xfrm xmlns:a="http://schemas.openxmlformats.org/drawingml/2006/main">
            <a:off x="666750" y="1666875"/>
            <a:ext cx="476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200" b="1">
                <a:solidFill>
                  <a:srgbClr val="173D35"/>
                </a:solidFill>
                <a:latin typeface="DejaVu Sans"/>
                <a:ea typeface="DejaVu Sans"/>
                <a:cs typeface="DejaVu Sans"/>
              </a:defRPr>
            </a:pPr>
            <a:r>
              <a:rPr sz="7200" b="1">
                <a:solidFill>
                  <a:srgbClr val="173D35"/>
                </a:solidFill>
                <a:latin typeface="DejaVu Sans"/>
                <a:ea typeface="DejaVu Sans"/>
                <a:cs typeface="DejaVu Sans"/>
              </a:rPr>
              <a:t>458</a:t>
            </a:r>
          </a:p>
        </p:txBody>
      </p:sp>
      <p:sp>
        <p:nvSpPr>
          <p:cNvPr id="4" name="">
            <a:extLst xmlns:a="http://schemas.openxmlformats.org/drawingml/2006/main">
              <a:ext uri="{FF2B5EF4-FFF2-40B4-BE49-F238E27FC236}">
                <a16:creationId xmlns:a16="http://schemas.microsoft.com/office/drawing/2014/main" id="{9D95CEE9-412E-4FCA-8856-3D43D0647BA7}"/>
              </a:ext>
            </a:extLst>
          </p:cNvPr>
          <p:cNvSpPr>
            <a:spLocks xmlns:a="http://schemas.openxmlformats.org/drawingml/2006/main" noGrp="1"/>
          </p:cNvSpPr>
          <p:nvPr/>
        </p:nvSpPr>
        <p:spPr>
          <a:xfrm xmlns:a="http://schemas.openxmlformats.org/drawingml/2006/main">
            <a:off x="666750" y="2952750"/>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42C32"/>
                </a:solidFill>
                <a:latin typeface="DejaVu Sans"/>
                <a:ea typeface="DejaVu Sans"/>
                <a:cs typeface="DejaVu Sans"/>
              </a:defRPr>
            </a:pPr>
            <a:r>
              <a:rPr sz="2400" b="0">
                <a:solidFill>
                  <a:srgbClr val="142C32"/>
                </a:solidFill>
                <a:latin typeface="DejaVu Sans"/>
                <a:ea typeface="DejaVu Sans"/>
                <a:cs typeface="DejaVu Sans"/>
              </a:rPr>
              <a:t>pruebas del servidor aprobadas</a:t>
            </a:r>
          </a:p>
          <a:p xmlns:a="http://schemas.openxmlformats.org/drawingml/2006/main">
            <a:pPr>
              <a:defRPr sz="2400" b="0">
                <a:solidFill>
                  <a:srgbClr val="142C32"/>
                </a:solidFill>
                <a:latin typeface="DejaVu Sans"/>
                <a:ea typeface="DejaVu Sans"/>
                <a:cs typeface="DejaVu Sans"/>
              </a:defRPr>
            </a:pPr>
            <a:r>
              <a:rPr sz="2400" b="0">
                <a:solidFill>
                  <a:srgbClr val="142C32"/>
                </a:solidFill>
                <a:latin typeface="DejaVu Sans"/>
                <a:ea typeface="DejaVu Sans"/>
                <a:cs typeface="DejaVu Sans"/>
              </a:rPr>
              <a:t>0 fallidas · 0 omitidas</a:t>
            </a:r>
          </a:p>
        </p:txBody>
      </p:sp>
      <p:sp>
        <p:nvSpPr>
          <p:cNvPr id="5" name="">
            <a:extLst xmlns:a="http://schemas.openxmlformats.org/drawingml/2006/main">
              <a:ext uri="{FF2B5EF4-FFF2-40B4-BE49-F238E27FC236}">
                <a16:creationId xmlns:a16="http://schemas.microsoft.com/office/drawing/2014/main" id="{FF6DD4AE-2D49-4A92-BDD6-E6862CC6EA08}"/>
              </a:ext>
            </a:extLst>
          </p:cNvPr>
          <p:cNvSpPr>
            <a:spLocks xmlns:a="http://schemas.openxmlformats.org/drawingml/2006/main" noGrp="1"/>
          </p:cNvSpPr>
          <p:nvPr/>
        </p:nvSpPr>
        <p:spPr>
          <a:xfrm xmlns:a="http://schemas.openxmlformats.org/drawingml/2006/main">
            <a:off x="6667500" y="1838325"/>
            <a:ext cx="47625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Revisión por roles</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Casos límite y concurrencia</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Navegador y emulador</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Evidencia y guía manual</a:t>
            </a:r>
          </a:p>
        </p:txBody>
      </p:sp>
      <p:sp>
        <p:nvSpPr>
          <p:cNvPr id="6" name="">
            <a:extLst xmlns:a="http://schemas.openxmlformats.org/drawingml/2006/main">
              <a:ext uri="{FF2B5EF4-FFF2-40B4-BE49-F238E27FC236}">
                <a16:creationId xmlns:a16="http://schemas.microsoft.com/office/drawing/2014/main" id="{92FB6472-0848-4D1B-9397-5D50D649D026}"/>
              </a:ext>
            </a:extLst>
          </p:cNvPr>
          <p:cNvSpPr>
            <a:spLocks xmlns:a="http://schemas.openxmlformats.org/drawingml/2006/main" noGrp="1"/>
          </p:cNvSpPr>
          <p:nvPr/>
        </p:nvSpPr>
        <p:spPr>
          <a:xfrm xmlns:a="http://schemas.openxmlformats.org/drawingml/2006/main">
            <a:off x="666750" y="5629275"/>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66B"/>
                </a:solidFill>
                <a:latin typeface="DejaVu Sans"/>
                <a:ea typeface="DejaVu Sans"/>
                <a:cs typeface="DejaVu Sans"/>
              </a:defRPr>
            </a:pPr>
            <a:r>
              <a:rPr sz="1875" b="0">
                <a:solidFill>
                  <a:srgbClr val="53666B"/>
                </a:solidFill>
                <a:latin typeface="DejaVu Sans"/>
                <a:ea typeface="DejaVu Sans"/>
                <a:cs typeface="DejaVu Sans"/>
              </a:rPr>
              <a:t>El detalle de cobertura y pendientes acompaña esta presentación</a:t>
            </a:r>
          </a:p>
        </p:txBody>
      </p:sp>
    </p:spTree>
    <p:extLst>
      <p:ext uri="{BB962C8B-B14F-4D97-AF65-F5344CB8AC3E}">
        <p14:creationId xmlns:p14="http://schemas.microsoft.com/office/powerpoint/2010/main" val="892477290"/>
      </p:ext>
    </p:extLst>
  </p:cSld>
</p:sld>
</file>

<file path=ppt/slides/slide16.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7AB997-AE04-4517-B99A-0D917A6EAB6E}"/>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SMS con Textbee</a:t>
            </a:r>
          </a:p>
        </p:txBody>
      </p:sp>
      <p:sp>
        <p:nvSpPr>
          <p:cNvPr id="2" name="">
            <a:extLst xmlns:a="http://schemas.openxmlformats.org/drawingml/2006/main">
              <a:ext uri="{FF2B5EF4-FFF2-40B4-BE49-F238E27FC236}">
                <a16:creationId xmlns:a16="http://schemas.microsoft.com/office/drawing/2014/main" id="{9F436FDE-55A3-4B79-BFCA-08C893941A36}"/>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16</a:t>
            </a:r>
          </a:p>
        </p:txBody>
      </p:sp>
      <p:sp>
        <p:nvSpPr>
          <p:cNvPr id="3" name="">
            <a:extLst xmlns:a="http://schemas.openxmlformats.org/drawingml/2006/main">
              <a:ext uri="{FF2B5EF4-FFF2-40B4-BE49-F238E27FC236}">
                <a16:creationId xmlns:a16="http://schemas.microsoft.com/office/drawing/2014/main" id="{13197624-84A9-4957-AB85-EF75C2973E39}"/>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FuelTrack</a:t>
            </a:r>
          </a:p>
        </p:txBody>
      </p:sp>
      <p:sp>
        <p:nvSpPr>
          <p:cNvPr id="4" name="">
            <a:extLst xmlns:a="http://schemas.openxmlformats.org/drawingml/2006/main">
              <a:ext uri="{FF2B5EF4-FFF2-40B4-BE49-F238E27FC236}">
                <a16:creationId xmlns:a16="http://schemas.microsoft.com/office/drawing/2014/main" id="{132454EC-0615-4A96-9742-C8BD9187BD09}"/>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Envía el texto y el destinatario a la API de Textbee.</a:t>
            </a:r>
          </a:p>
        </p:txBody>
      </p:sp>
      <p:sp>
        <p:nvSpPr>
          <p:cNvPr id="5" name="">
            <a:extLst xmlns:a="http://schemas.openxmlformats.org/drawingml/2006/main">
              <a:ext uri="{FF2B5EF4-FFF2-40B4-BE49-F238E27FC236}">
                <a16:creationId xmlns:a16="http://schemas.microsoft.com/office/drawing/2014/main" id="{1E149EC7-4153-444A-9384-084C369F9760}"/>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Android vinculado</a:t>
            </a:r>
          </a:p>
        </p:txBody>
      </p:sp>
      <p:sp>
        <p:nvSpPr>
          <p:cNvPr id="6" name="">
            <a:extLst xmlns:a="http://schemas.openxmlformats.org/drawingml/2006/main">
              <a:ext uri="{FF2B5EF4-FFF2-40B4-BE49-F238E27FC236}">
                <a16:creationId xmlns:a16="http://schemas.microsoft.com/office/drawing/2014/main" id="{18C30442-541D-4947-8F6B-FB96AB3D0776}"/>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Usa su SIM y el plan del operador para enviar el SMS.</a:t>
            </a:r>
          </a:p>
        </p:txBody>
      </p:sp>
      <p:sp>
        <p:nvSpPr>
          <p:cNvPr id="7" name="">
            <a:extLst xmlns:a="http://schemas.openxmlformats.org/drawingml/2006/main">
              <a:ext uri="{FF2B5EF4-FFF2-40B4-BE49-F238E27FC236}">
                <a16:creationId xmlns:a16="http://schemas.microsoft.com/office/drawing/2014/main" id="{E9C19CC7-DDCC-4CAF-90A1-DFA68CEB900A}"/>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Ticket</a:t>
            </a:r>
          </a:p>
        </p:txBody>
      </p:sp>
      <p:sp>
        <p:nvSpPr>
          <p:cNvPr id="8" name="">
            <a:extLst xmlns:a="http://schemas.openxmlformats.org/drawingml/2006/main">
              <a:ext uri="{FF2B5EF4-FFF2-40B4-BE49-F238E27FC236}">
                <a16:creationId xmlns:a16="http://schemas.microsoft.com/office/drawing/2014/main" id="{F59E8C4B-D532-4AFF-94E6-D972E3A4CF2B}"/>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El destinatario recibe un enlace HTTPS al PDF con QR.</a:t>
            </a:r>
          </a:p>
        </p:txBody>
      </p:sp>
      <p:sp>
        <p:nvSpPr>
          <p:cNvPr id="9" name="">
            <a:extLst xmlns:a="http://schemas.openxmlformats.org/drawingml/2006/main">
              <a:ext uri="{FF2B5EF4-FFF2-40B4-BE49-F238E27FC236}">
                <a16:creationId xmlns:a16="http://schemas.microsoft.com/office/drawing/2014/main" id="{FB2ABE70-E0C7-467C-B2EC-55135AF8456C}"/>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Pendiente externo</a:t>
            </a:r>
          </a:p>
        </p:txBody>
      </p:sp>
      <p:sp>
        <p:nvSpPr>
          <p:cNvPr id="10" name="">
            <a:extLst xmlns:a="http://schemas.openxmlformats.org/drawingml/2006/main">
              <a:ext uri="{FF2B5EF4-FFF2-40B4-BE49-F238E27FC236}">
                <a16:creationId xmlns:a16="http://schemas.microsoft.com/office/drawing/2014/main" id="{1D57221E-2977-4182-92D3-C1558A8E6AA0}"/>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Vincular teléfono con SIM y confirmar una entrega real.</a:t>
            </a:r>
          </a:p>
        </p:txBody>
      </p:sp>
    </p:spTree>
    <p:extLst>
      <p:ext uri="{BB962C8B-B14F-4D97-AF65-F5344CB8AC3E}">
        <p14:creationId xmlns:p14="http://schemas.microsoft.com/office/powerpoint/2010/main" val="601492498"/>
      </p:ext>
    </p:extLst>
  </p:cSld>
</p:sld>
</file>

<file path=ppt/slides/slide17.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3FD365-C32D-4AC6-A0C6-E41A86963A0F}"/>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Demostración en vivo</a:t>
            </a:r>
          </a:p>
        </p:txBody>
      </p:sp>
      <p:sp>
        <p:nvSpPr>
          <p:cNvPr id="2" name="">
            <a:extLst xmlns:a="http://schemas.openxmlformats.org/drawingml/2006/main">
              <a:ext uri="{FF2B5EF4-FFF2-40B4-BE49-F238E27FC236}">
                <a16:creationId xmlns:a16="http://schemas.microsoft.com/office/drawing/2014/main" id="{08B918EC-5DD5-45FA-A2EB-C125513AB790}"/>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17</a:t>
            </a:r>
          </a:p>
        </p:txBody>
      </p:sp>
      <p:sp>
        <p:nvSpPr>
          <p:cNvPr id="3" name="">
            <a:extLst xmlns:a="http://schemas.openxmlformats.org/drawingml/2006/main">
              <a:ext uri="{FF2B5EF4-FFF2-40B4-BE49-F238E27FC236}">
                <a16:creationId xmlns:a16="http://schemas.microsoft.com/office/drawing/2014/main" id="{A7753AE5-A289-4B9E-8549-67245408F944}"/>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Solicitante y supervisor</a:t>
            </a:r>
          </a:p>
        </p:txBody>
      </p:sp>
      <p:sp>
        <p:nvSpPr>
          <p:cNvPr id="4" name="">
            <a:extLst xmlns:a="http://schemas.openxmlformats.org/drawingml/2006/main">
              <a:ext uri="{FF2B5EF4-FFF2-40B4-BE49-F238E27FC236}">
                <a16:creationId xmlns:a16="http://schemas.microsoft.com/office/drawing/2014/main" id="{56FD889E-2F46-4164-BB2A-A9369B92BB6D}"/>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Crear una solicitud y aprobarla.</a:t>
            </a:r>
          </a:p>
        </p:txBody>
      </p:sp>
      <p:sp>
        <p:nvSpPr>
          <p:cNvPr id="5" name="">
            <a:extLst xmlns:a="http://schemas.openxmlformats.org/drawingml/2006/main">
              <a:ext uri="{FF2B5EF4-FFF2-40B4-BE49-F238E27FC236}">
                <a16:creationId xmlns:a16="http://schemas.microsoft.com/office/drawing/2014/main" id="{8C1DFEEE-231B-41D6-B491-356EEF28390D}"/>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Ticket y despacho</a:t>
            </a:r>
          </a:p>
        </p:txBody>
      </p:sp>
      <p:sp>
        <p:nvSpPr>
          <p:cNvPr id="6" name="">
            <a:extLst xmlns:a="http://schemas.openxmlformats.org/drawingml/2006/main">
              <a:ext uri="{FF2B5EF4-FFF2-40B4-BE49-F238E27FC236}">
                <a16:creationId xmlns:a16="http://schemas.microsoft.com/office/drawing/2014/main" id="{FAC4ED0C-B2E0-47A3-B9F9-54112DC914AE}"/>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Emitir PDF, validar QR e identidad y servir combustible.</a:t>
            </a:r>
          </a:p>
        </p:txBody>
      </p:sp>
      <p:sp>
        <p:nvSpPr>
          <p:cNvPr id="7" name="">
            <a:extLst xmlns:a="http://schemas.openxmlformats.org/drawingml/2006/main">
              <a:ext uri="{FF2B5EF4-FFF2-40B4-BE49-F238E27FC236}">
                <a16:creationId xmlns:a16="http://schemas.microsoft.com/office/drawing/2014/main" id="{64A20057-A7BA-4600-92A4-156E56C720E7}"/>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Inventario y auditor</a:t>
            </a:r>
          </a:p>
        </p:txBody>
      </p:sp>
      <p:sp>
        <p:nvSpPr>
          <p:cNvPr id="8" name="">
            <a:extLst xmlns:a="http://schemas.openxmlformats.org/drawingml/2006/main">
              <a:ext uri="{FF2B5EF4-FFF2-40B4-BE49-F238E27FC236}">
                <a16:creationId xmlns:a16="http://schemas.microsoft.com/office/drawing/2014/main" id="{246B3BC2-F8CF-4850-B972-85294583F536}"/>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Verificar saldo, movimiento y evento de auditoría.</a:t>
            </a:r>
          </a:p>
        </p:txBody>
      </p:sp>
      <p:sp>
        <p:nvSpPr>
          <p:cNvPr id="9" name="">
            <a:extLst xmlns:a="http://schemas.openxmlformats.org/drawingml/2006/main">
              <a:ext uri="{FF2B5EF4-FFF2-40B4-BE49-F238E27FC236}">
                <a16:creationId xmlns:a16="http://schemas.microsoft.com/office/drawing/2014/main" id="{180A3568-48A5-4BEA-B55D-7B913C458560}"/>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Cierre y reporte</a:t>
            </a:r>
          </a:p>
        </p:txBody>
      </p:sp>
      <p:sp>
        <p:nvSpPr>
          <p:cNvPr id="10" name="">
            <a:extLst xmlns:a="http://schemas.openxmlformats.org/drawingml/2006/main">
              <a:ext uri="{FF2B5EF4-FFF2-40B4-BE49-F238E27FC236}">
                <a16:creationId xmlns:a16="http://schemas.microsoft.com/office/drawing/2014/main" id="{AB7DC9CC-FAE8-4FE4-98DA-8819752D301B}"/>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Exportar el resultado y revisar el acta diaria.</a:t>
            </a:r>
          </a:p>
        </p:txBody>
      </p:sp>
    </p:spTree>
    <p:extLst>
      <p:ext uri="{BB962C8B-B14F-4D97-AF65-F5344CB8AC3E}">
        <p14:creationId xmlns:p14="http://schemas.microsoft.com/office/powerpoint/2010/main" val="1224943287"/>
      </p:ext>
    </p:extLst>
  </p:cSld>
</p:sld>
</file>

<file path=ppt/slides/slide18.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737CC5-2F73-4F49-B5BA-FA13FBCAE10C}"/>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Aceptación y puesta en servicio</a:t>
            </a:r>
          </a:p>
        </p:txBody>
      </p:sp>
      <p:sp>
        <p:nvSpPr>
          <p:cNvPr id="2" name="">
            <a:extLst xmlns:a="http://schemas.openxmlformats.org/drawingml/2006/main">
              <a:ext uri="{FF2B5EF4-FFF2-40B4-BE49-F238E27FC236}">
                <a16:creationId xmlns:a16="http://schemas.microsoft.com/office/drawing/2014/main" id="{D515A9A2-9F1A-48EE-BBBD-A602B9567FAD}"/>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18</a:t>
            </a:r>
          </a:p>
        </p:txBody>
      </p:sp>
      <p:sp>
        <p:nvSpPr>
          <p:cNvPr id="3" name="">
            <a:extLst xmlns:a="http://schemas.openxmlformats.org/drawingml/2006/main">
              <a:ext uri="{FF2B5EF4-FFF2-40B4-BE49-F238E27FC236}">
                <a16:creationId xmlns:a16="http://schemas.microsoft.com/office/drawing/2014/main" id="{F816A61F-7DE6-43B3-98EA-58ECFDEEF71A}"/>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Validado localmente</a:t>
            </a:r>
          </a:p>
        </p:txBody>
      </p:sp>
      <p:sp>
        <p:nvSpPr>
          <p:cNvPr id="4" name="">
            <a:extLst xmlns:a="http://schemas.openxmlformats.org/drawingml/2006/main">
              <a:ext uri="{FF2B5EF4-FFF2-40B4-BE49-F238E27FC236}">
                <a16:creationId xmlns:a16="http://schemas.microsoft.com/office/drawing/2014/main" id="{7BC933E8-BC12-4B36-883A-6C9A2FD880C1}"/>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Flujos principales, controles, reportes y API.</a:t>
            </a:r>
          </a:p>
        </p:txBody>
      </p:sp>
      <p:sp>
        <p:nvSpPr>
          <p:cNvPr id="5" name="">
            <a:extLst xmlns:a="http://schemas.openxmlformats.org/drawingml/2006/main">
              <a:ext uri="{FF2B5EF4-FFF2-40B4-BE49-F238E27FC236}">
                <a16:creationId xmlns:a16="http://schemas.microsoft.com/office/drawing/2014/main" id="{FA041943-4719-4E4B-A0CA-64EEFD849B51}"/>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Pendiente de equipo</a:t>
            </a:r>
          </a:p>
        </p:txBody>
      </p:sp>
      <p:sp>
        <p:nvSpPr>
          <p:cNvPr id="6" name="">
            <a:extLst xmlns:a="http://schemas.openxmlformats.org/drawingml/2006/main">
              <a:ext uri="{FF2B5EF4-FFF2-40B4-BE49-F238E27FC236}">
                <a16:creationId xmlns:a16="http://schemas.microsoft.com/office/drawing/2014/main" id="{2BC128F1-9535-471A-B49A-A8A5FD25E8C9}"/>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SIM, cuenta Textbee y entrega real del SMS.</a:t>
            </a:r>
          </a:p>
        </p:txBody>
      </p:sp>
      <p:sp>
        <p:nvSpPr>
          <p:cNvPr id="7" name="">
            <a:extLst xmlns:a="http://schemas.openxmlformats.org/drawingml/2006/main">
              <a:ext uri="{FF2B5EF4-FFF2-40B4-BE49-F238E27FC236}">
                <a16:creationId xmlns:a16="http://schemas.microsoft.com/office/drawing/2014/main" id="{806147C5-66AC-4A07-B3E3-AF3E0665AF3E}"/>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Pendiente de despliegue</a:t>
            </a:r>
          </a:p>
        </p:txBody>
      </p:sp>
      <p:sp>
        <p:nvSpPr>
          <p:cNvPr id="8" name="">
            <a:extLst xmlns:a="http://schemas.openxmlformats.org/drawingml/2006/main">
              <a:ext uri="{FF2B5EF4-FFF2-40B4-BE49-F238E27FC236}">
                <a16:creationId xmlns:a16="http://schemas.microsoft.com/office/drawing/2014/main" id="{BE84BA34-A56D-457F-8C1C-7806BD989F4F}"/>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HTTPS, cifrado en reposo, respaldo y operación.</a:t>
            </a:r>
          </a:p>
        </p:txBody>
      </p:sp>
      <p:sp>
        <p:nvSpPr>
          <p:cNvPr id="9" name="">
            <a:extLst xmlns:a="http://schemas.openxmlformats.org/drawingml/2006/main">
              <a:ext uri="{FF2B5EF4-FFF2-40B4-BE49-F238E27FC236}">
                <a16:creationId xmlns:a16="http://schemas.microsoft.com/office/drawing/2014/main" id="{CDCE0BA1-2088-42F3-BA52-7F13B0A54722}"/>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Entrega al cliente</a:t>
            </a:r>
          </a:p>
        </p:txBody>
      </p:sp>
      <p:sp>
        <p:nvSpPr>
          <p:cNvPr id="10" name="">
            <a:extLst xmlns:a="http://schemas.openxmlformats.org/drawingml/2006/main">
              <a:ext uri="{FF2B5EF4-FFF2-40B4-BE49-F238E27FC236}">
                <a16:creationId xmlns:a16="http://schemas.microsoft.com/office/drawing/2014/main" id="{09E82472-D3FD-4208-8E6C-DF667005F83C}"/>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Presentación, aplicación, guion y matriz de requisitos.</a:t>
            </a:r>
          </a:p>
        </p:txBody>
      </p:sp>
    </p:spTree>
    <p:extLst>
      <p:ext uri="{BB962C8B-B14F-4D97-AF65-F5344CB8AC3E}">
        <p14:creationId xmlns:p14="http://schemas.microsoft.com/office/powerpoint/2010/main" val="1436859262"/>
      </p:ext>
    </p:extLst>
  </p:cSld>
</p:sld>
</file>

<file path=ppt/slides/slide19.xml><?xml version="1.0" encoding="utf-8"?>
<p:sld xmlns:p="http://schemas.openxmlformats.org/presentationml/2006/main">
  <p:cSld>
    <p:bg>
      <p:bgPr>
        <a:solidFill xmlns:a="http://schemas.openxmlformats.org/drawingml/2006/main">
          <a:srgbClr val="173D3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69D8B6A-1A14-4B18-8758-5D421943B7A0}"/>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FFFFF"/>
                </a:solidFill>
                <a:latin typeface="DejaVu Sans"/>
                <a:ea typeface="DejaVu Sans"/>
                <a:cs typeface="DejaVu Sans"/>
              </a:defRPr>
            </a:pPr>
            <a:r>
              <a:rPr sz="3300" b="1">
                <a:solidFill>
                  <a:srgbClr val="FFFFFF"/>
                </a:solidFill>
                <a:latin typeface="DejaVu Sans"/>
                <a:ea typeface="DejaVu Sans"/>
                <a:cs typeface="DejaVu Sans"/>
              </a:rPr>
              <a:t>FuelTrack</a:t>
            </a:r>
          </a:p>
        </p:txBody>
      </p:sp>
      <p:sp>
        <p:nvSpPr>
          <p:cNvPr id="2" name="">
            <a:extLst xmlns:a="http://schemas.openxmlformats.org/drawingml/2006/main">
              <a:ext uri="{FF2B5EF4-FFF2-40B4-BE49-F238E27FC236}">
                <a16:creationId xmlns:a16="http://schemas.microsoft.com/office/drawing/2014/main" id="{6D1DAD6A-CD56-411D-94D1-D83069CAE2AA}"/>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CBDDD5"/>
                </a:solidFill>
                <a:latin typeface="DejaVu Sans"/>
                <a:ea typeface="DejaVu Sans"/>
                <a:cs typeface="DejaVu Sans"/>
              </a:defRPr>
            </a:pPr>
            <a:r>
              <a:rPr sz="1200" b="0">
                <a:solidFill>
                  <a:srgbClr val="CBDDD5"/>
                </a:solidFill>
                <a:latin typeface="DejaVu Sans"/>
                <a:ea typeface="DejaVu Sans"/>
                <a:cs typeface="DejaVu Sans"/>
              </a:rPr>
              <a:t>19</a:t>
            </a:r>
          </a:p>
        </p:txBody>
      </p:sp>
      <p:sp>
        <p:nvSpPr>
          <p:cNvPr id="3" name="">
            <a:extLst xmlns:a="http://schemas.openxmlformats.org/drawingml/2006/main">
              <a:ext uri="{FF2B5EF4-FFF2-40B4-BE49-F238E27FC236}">
                <a16:creationId xmlns:a16="http://schemas.microsoft.com/office/drawing/2014/main" id="{0EBBF33C-3A38-45C6-822A-1EB5A8A4A2A6}"/>
              </a:ext>
            </a:extLst>
          </p:cNvPr>
          <p:cNvSpPr>
            <a:spLocks xmlns:a="http://schemas.openxmlformats.org/drawingml/2006/main" noGrp="1"/>
          </p:cNvSpPr>
          <p:nvPr/>
        </p:nvSpPr>
        <p:spPr>
          <a:xfrm xmlns:a="http://schemas.openxmlformats.org/drawingml/2006/main">
            <a:off x="666750" y="2190750"/>
            <a:ext cx="107632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FFFFFF"/>
                </a:solidFill>
                <a:latin typeface="DejaVu Sans"/>
                <a:ea typeface="DejaVu Sans"/>
                <a:cs typeface="DejaVu Sans"/>
              </a:defRPr>
            </a:pPr>
            <a:r>
              <a:rPr sz="4275" b="1">
                <a:solidFill>
                  <a:srgbClr val="FFFFFF"/>
                </a:solidFill>
                <a:latin typeface="DejaVu Sans"/>
                <a:ea typeface="DejaVu Sans"/>
                <a:cs typeface="DejaVu Sans"/>
              </a:rPr>
              <a:t>Control del combustible</a:t>
            </a:r>
          </a:p>
          <a:p xmlns:a="http://schemas.openxmlformats.org/drawingml/2006/main">
            <a:pPr>
              <a:defRPr sz="4275" b="1">
                <a:solidFill>
                  <a:srgbClr val="FFFFFF"/>
                </a:solidFill>
                <a:latin typeface="DejaVu Sans"/>
                <a:ea typeface="DejaVu Sans"/>
                <a:cs typeface="DejaVu Sans"/>
              </a:defRPr>
            </a:pPr>
            <a:r>
              <a:rPr sz="4275" b="1">
                <a:solidFill>
                  <a:srgbClr val="FFFFFF"/>
                </a:solidFill>
                <a:latin typeface="DejaVu Sans"/>
                <a:ea typeface="DejaVu Sans"/>
                <a:cs typeface="DejaVu Sans"/>
              </a:rPr>
              <a:t>con evidencia de cada operación</a:t>
            </a:r>
          </a:p>
        </p:txBody>
      </p:sp>
      <p:sp>
        <p:nvSpPr>
          <p:cNvPr id="4" name="">
            <a:extLst xmlns:a="http://schemas.openxmlformats.org/drawingml/2006/main">
              <a:ext uri="{FF2B5EF4-FFF2-40B4-BE49-F238E27FC236}">
                <a16:creationId xmlns:a16="http://schemas.microsoft.com/office/drawing/2014/main" id="{DAD81AA9-410C-49AF-B7C1-704ADDC8E8CB}"/>
              </a:ext>
            </a:extLst>
          </p:cNvPr>
          <p:cNvSpPr>
            <a:spLocks xmlns:a="http://schemas.openxmlformats.org/drawingml/2006/main" noGrp="1"/>
          </p:cNvSpPr>
          <p:nvPr/>
        </p:nvSpPr>
        <p:spPr>
          <a:xfrm xmlns:a="http://schemas.openxmlformats.org/drawingml/2006/main">
            <a:off x="714375" y="5143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CBDDD5"/>
                </a:solidFill>
                <a:latin typeface="DejaVu Sans"/>
                <a:ea typeface="DejaVu Sans"/>
                <a:cs typeface="DejaVu Sans"/>
              </a:defRPr>
            </a:pPr>
            <a:r>
              <a:rPr sz="2325" b="0">
                <a:solidFill>
                  <a:srgbClr val="CBDDD5"/>
                </a:solidFill>
                <a:latin typeface="DejaVu Sans"/>
                <a:ea typeface="DejaVu Sans"/>
                <a:cs typeface="DejaVu Sans"/>
              </a:rPr>
              <a:t>Revisión del producto y preguntas</a:t>
            </a:r>
          </a:p>
        </p:txBody>
      </p:sp>
    </p:spTree>
    <p:extLst>
      <p:ext uri="{BB962C8B-B14F-4D97-AF65-F5344CB8AC3E}">
        <p14:creationId xmlns:p14="http://schemas.microsoft.com/office/powerpoint/2010/main" val="15980491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2026-09-22T05:22:26.9620000Z</dcterms:created>
  <dcterms:modified xsi:type="dcterms:W3CDTF">2026-09-22T05:22:26.9620000Z</dcterms:modified>
</coreProperties>
</file>