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1723b7936979442a" /><Relationship Type="http://schemas.openxmlformats.org/officeDocument/2006/relationships/extended-properties" Target="/docProps/app.xml" Id="Rec7a86480d22448b" /><Relationship Type="http://schemas.openxmlformats.org/officeDocument/2006/relationships/officeDocument" Target="/ppt/presentation.xml" Id="Rb1664642753d4e91" /></Relationships>
</file>

<file path=ppt/presentation.xml><?xml version="1.0" encoding="utf-8"?>
<p:presentation xmlns:p="http://schemas.openxmlformats.org/presentationml/2006/main">
  <p:sldMasterIdLst>
    <p:sldMasterId xmlns:r="http://schemas.openxmlformats.org/officeDocument/2006/relationships" id="2147483648" r:id="R249ed2e261a44841"/>
  </p:sldMasterIdLst>
  <p:notesMasterIdLst>
    <p:notesMasterId xmlns:r="http://schemas.openxmlformats.org/officeDocument/2006/relationships" r:id="Re549598e1cea4625"/>
  </p:notesMasterIdLst>
  <p:sldIdLst>
    <p:sldId xmlns:r="http://schemas.openxmlformats.org/officeDocument/2006/relationships" id="256" r:id="R68b5a101d56142b2"/>
    <p:sldId xmlns:r="http://schemas.openxmlformats.org/officeDocument/2006/relationships" id="257" r:id="R5322464f38bc48a2"/>
    <p:sldId xmlns:r="http://schemas.openxmlformats.org/officeDocument/2006/relationships" id="258" r:id="Rdf8520ec92b840c6"/>
    <p:sldId xmlns:r="http://schemas.openxmlformats.org/officeDocument/2006/relationships" id="259" r:id="R498746f0c52b45fd"/>
    <p:sldId xmlns:r="http://schemas.openxmlformats.org/officeDocument/2006/relationships" id="260" r:id="R19185fd936b245af"/>
    <p:sldId xmlns:r="http://schemas.openxmlformats.org/officeDocument/2006/relationships" id="261" r:id="Rf992b93d60ad4f4a"/>
    <p:sldId xmlns:r="http://schemas.openxmlformats.org/officeDocument/2006/relationships" id="262" r:id="R6abc4419334f4159"/>
    <p:sldId xmlns:r="http://schemas.openxmlformats.org/officeDocument/2006/relationships" id="263" r:id="R682ff533a5f243ad"/>
    <p:sldId xmlns:r="http://schemas.openxmlformats.org/officeDocument/2006/relationships" id="264" r:id="Ra4d32891044a4965"/>
    <p:sldId xmlns:r="http://schemas.openxmlformats.org/officeDocument/2006/relationships" id="265" r:id="Ra52783ee867b44ab"/>
    <p:sldId xmlns:r="http://schemas.openxmlformats.org/officeDocument/2006/relationships" id="266" r:id="Rd30f23b98ef24a29"/>
    <p:sldId xmlns:r="http://schemas.openxmlformats.org/officeDocument/2006/relationships" id="267" r:id="R9551f23c29e54ad8"/>
    <p:sldId xmlns:r="http://schemas.openxmlformats.org/officeDocument/2006/relationships" id="268" r:id="R2b1a8d161b2b49a8"/>
    <p:sldId xmlns:r="http://schemas.openxmlformats.org/officeDocument/2006/relationships" id="269" r:id="Rdb2cf3f2acd34d40"/>
    <p:sldId xmlns:r="http://schemas.openxmlformats.org/officeDocument/2006/relationships" id="270" r:id="Ra5b51adb6c6d46e4"/>
    <p:sldId xmlns:r="http://schemas.openxmlformats.org/officeDocument/2006/relationships" id="271" r:id="Rc0acfe25b8aa48a2"/>
    <p:sldId xmlns:r="http://schemas.openxmlformats.org/officeDocument/2006/relationships" id="272" r:id="R96f1b462796b4272"/>
    <p:sldId xmlns:r="http://schemas.openxmlformats.org/officeDocument/2006/relationships" id="273" r:id="R39d7f59627584e10"/>
    <p:sldId xmlns:r="http://schemas.openxmlformats.org/officeDocument/2006/relationships" id="274" r:id="Raa8fb8b476c2457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2d4ec4e8de04d87" /><Relationship Type="http://schemas.openxmlformats.org/officeDocument/2006/relationships/slideMaster" Target="/ppt/slideMasters/slideMaster1.xml" Id="R249ed2e261a44841" /><Relationship Type="http://schemas.openxmlformats.org/officeDocument/2006/relationships/notesMaster" Target="/ppt/notesMasters/notesMaster1.xml" Id="Re549598e1cea4625" /><Relationship Type="http://schemas.openxmlformats.org/officeDocument/2006/relationships/presProps" Target="/ppt/presProps.xml" Id="R93fc6fe1e0d145fa" /><Relationship Type="http://schemas.openxmlformats.org/officeDocument/2006/relationships/tableStyles" Target="/ppt/tableStyles.xml" Id="R8165d4f6b98c47d5" /><Relationship Type="http://schemas.openxmlformats.org/officeDocument/2006/relationships/slide" Target="/ppt/slides/slide1.xml" Id="R68b5a101d56142b2" /><Relationship Type="http://schemas.openxmlformats.org/officeDocument/2006/relationships/slide" Target="/ppt/slides/slide2.xml" Id="R5322464f38bc48a2" /><Relationship Type="http://schemas.openxmlformats.org/officeDocument/2006/relationships/slide" Target="/ppt/slides/slide3.xml" Id="Rdf8520ec92b840c6" /><Relationship Type="http://schemas.openxmlformats.org/officeDocument/2006/relationships/slide" Target="/ppt/slides/slide4.xml" Id="R498746f0c52b45fd" /><Relationship Type="http://schemas.openxmlformats.org/officeDocument/2006/relationships/slide" Target="/ppt/slides/slide5.xml" Id="R19185fd936b245af" /><Relationship Type="http://schemas.openxmlformats.org/officeDocument/2006/relationships/slide" Target="/ppt/slides/slide6.xml" Id="Rf992b93d60ad4f4a" /><Relationship Type="http://schemas.openxmlformats.org/officeDocument/2006/relationships/slide" Target="/ppt/slides/slide7.xml" Id="R6abc4419334f4159" /><Relationship Type="http://schemas.openxmlformats.org/officeDocument/2006/relationships/slide" Target="/ppt/slides/slide8.xml" Id="R682ff533a5f243ad" /><Relationship Type="http://schemas.openxmlformats.org/officeDocument/2006/relationships/slide" Target="/ppt/slides/slide9.xml" Id="Ra4d32891044a4965" /><Relationship Type="http://schemas.openxmlformats.org/officeDocument/2006/relationships/slide" Target="/ppt/slides/slide10.xml" Id="Ra52783ee867b44ab" /><Relationship Type="http://schemas.openxmlformats.org/officeDocument/2006/relationships/slide" Target="/ppt/slides/slide11.xml" Id="Rd30f23b98ef24a29" /><Relationship Type="http://schemas.openxmlformats.org/officeDocument/2006/relationships/slide" Target="/ppt/slides/slide12.xml" Id="R9551f23c29e54ad8" /><Relationship Type="http://schemas.openxmlformats.org/officeDocument/2006/relationships/slide" Target="/ppt/slides/slide13.xml" Id="R2b1a8d161b2b49a8" /><Relationship Type="http://schemas.openxmlformats.org/officeDocument/2006/relationships/slide" Target="/ppt/slides/slide14.xml" Id="Rdb2cf3f2acd34d40" /><Relationship Type="http://schemas.openxmlformats.org/officeDocument/2006/relationships/slide" Target="/ppt/slides/slide15.xml" Id="Ra5b51adb6c6d46e4" /><Relationship Type="http://schemas.openxmlformats.org/officeDocument/2006/relationships/slide" Target="/ppt/slides/slide16.xml" Id="Rc0acfe25b8aa48a2" /><Relationship Type="http://schemas.openxmlformats.org/officeDocument/2006/relationships/slide" Target="/ppt/slides/slide17.xml" Id="R96f1b462796b4272" /><Relationship Type="http://schemas.openxmlformats.org/officeDocument/2006/relationships/slide" Target="/ppt/slides/slide18.xml" Id="R39d7f59627584e10" /><Relationship Type="http://schemas.openxmlformats.org/officeDocument/2006/relationships/slide" Target="/ppt/slides/slide19.xml" Id="Raa8fb8b476c2457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1caf79769104ed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ba868e7c83e427f" /><Relationship Type="http://schemas.openxmlformats.org/officeDocument/2006/relationships/notesMaster" Target="/ppt/notesMasters/notesMaster1.xml" Id="R9f1b9e5a18ef4a7a" /></Relationships>
</file>

<file path=ppt/notesSlides/_rels/notesSlide2.xml.rels>&#65279;<?xml version="1.0" encoding="utf-8"?><Relationships xmlns="http://schemas.openxmlformats.org/package/2006/relationships"><Relationship Type="http://schemas.openxmlformats.org/officeDocument/2006/relationships/slide" Target="/ppt/slides/slide2.xml" Id="Rd69777d7ec8d4da9" /><Relationship Type="http://schemas.openxmlformats.org/officeDocument/2006/relationships/notesMaster" Target="/ppt/notesMasters/notesMaster1.xml" Id="Ref45389d7507446c" /></Relationships>
</file>

<file path=ppt/notesSlides/_rels/notesSlide3.xml.rels>&#65279;<?xml version="1.0" encoding="utf-8"?><Relationships xmlns="http://schemas.openxmlformats.org/package/2006/relationships"><Relationship Type="http://schemas.openxmlformats.org/officeDocument/2006/relationships/slide" Target="/ppt/slides/slide3.xml" Id="R971a9f7f632543dc" /><Relationship Type="http://schemas.openxmlformats.org/officeDocument/2006/relationships/notesMaster" Target="/ppt/notesMasters/notesMaster1.xml" Id="R56af982906fe4dce" /></Relationships>
</file>

<file path=ppt/notesSlides/_rels/notesSlide4.xml.rels>&#65279;<?xml version="1.0" encoding="utf-8"?><Relationships xmlns="http://schemas.openxmlformats.org/package/2006/relationships"><Relationship Type="http://schemas.openxmlformats.org/officeDocument/2006/relationships/slide" Target="/ppt/slides/slide4.xml" Id="R768ee6f19c9640c0" /><Relationship Type="http://schemas.openxmlformats.org/officeDocument/2006/relationships/notesMaster" Target="/ppt/notesMasters/notesMaster1.xml" Id="Rf4d640b8f529403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0b3e5ef8d624628" /><Relationship Type="http://schemas.openxmlformats.org/officeDocument/2006/relationships/notesMaster" Target="/ppt/notesMasters/notesMaster1.xml" Id="R128e7b7e57aa4102" /></Relationships>
</file>

<file path=ppt/notesSlides/_rels/notesSlide6.xml.rels>&#65279;<?xml version="1.0" encoding="utf-8"?><Relationships xmlns="http://schemas.openxmlformats.org/package/2006/relationships"><Relationship Type="http://schemas.openxmlformats.org/officeDocument/2006/relationships/slide" Target="/ppt/slides/slide6.xml" Id="R4f6881764d0b4ebd" /><Relationship Type="http://schemas.openxmlformats.org/officeDocument/2006/relationships/notesMaster" Target="/ppt/notesMasters/notesMaster1.xml" Id="R67abd03ab6f84721" /></Relationships>
</file>

<file path=ppt/notesSlides/_rels/notesSlide7.xml.rels>&#65279;<?xml version="1.0" encoding="utf-8"?><Relationships xmlns="http://schemas.openxmlformats.org/package/2006/relationships"><Relationship Type="http://schemas.openxmlformats.org/officeDocument/2006/relationships/slide" Target="/ppt/slides/slide7.xml" Id="R36f4c56446c640de" /><Relationship Type="http://schemas.openxmlformats.org/officeDocument/2006/relationships/notesMaster" Target="/ppt/notesMasters/notesMaster1.xml" Id="R86a14758eb684fb1" /></Relationships>
</file>

<file path=ppt/notesSlides/_rels/notesSlide8.xml.rels>&#65279;<?xml version="1.0" encoding="utf-8"?><Relationships xmlns="http://schemas.openxmlformats.org/package/2006/relationships"><Relationship Type="http://schemas.openxmlformats.org/officeDocument/2006/relationships/slide" Target="/ppt/slides/slide8.xml" Id="R241aac1433844c18" /><Relationship Type="http://schemas.openxmlformats.org/officeDocument/2006/relationships/notesMaster" Target="/ppt/notesMasters/notesMaster1.xml" Id="Re5944eedab0a4a20" /></Relationships>
</file>

<file path=ppt/notesSlides/_rels/notesSlide9.xml.rels>&#65279;<?xml version="1.0" encoding="utf-8"?><Relationships xmlns="http://schemas.openxmlformats.org/package/2006/relationships"><Relationship Type="http://schemas.openxmlformats.org/officeDocument/2006/relationships/slide" Target="/ppt/slides/slide9.xml" Id="Rd8372df7c4574e41" /><Relationship Type="http://schemas.openxmlformats.org/officeDocument/2006/relationships/notesMaster" Target="/ppt/notesMasters/notesMaster1.xml" Id="R7abebb8c2ff44aa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f030ef4da1446b9" /><Relationship Type="http://schemas.openxmlformats.org/officeDocument/2006/relationships/notesMaster" Target="/ppt/notesMasters/notesMaster1.xml" Id="Rf0a61bfd16ab479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c4d7138e32774575" /><Relationship Type="http://schemas.openxmlformats.org/officeDocument/2006/relationships/notesMaster" Target="/ppt/notesMasters/notesMaster1.xml" Id="R219081cc88b04fe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d1155bad58f4b5d" /><Relationship Type="http://schemas.openxmlformats.org/officeDocument/2006/relationships/notesMaster" Target="/ppt/notesMasters/notesMaster1.xml" Id="R3d9ceb98e88448bb"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0a74c244bc04850" /><Relationship Type="http://schemas.openxmlformats.org/officeDocument/2006/relationships/notesMaster" Target="/ppt/notesMasters/notesMaster1.xml" Id="Rc195639dc31049f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02e6f9f0bc0347db" /><Relationship Type="http://schemas.openxmlformats.org/officeDocument/2006/relationships/notesMaster" Target="/ppt/notesMasters/notesMaster1.xml" Id="Rf65c4154737a483d"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136c62bd923d4040" /><Relationship Type="http://schemas.openxmlformats.org/officeDocument/2006/relationships/notesMaster" Target="/ppt/notesMasters/notesMaster1.xml" Id="Rb7c59ad9b6e343ad"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3ec4477d33742e4" /><Relationship Type="http://schemas.openxmlformats.org/officeDocument/2006/relationships/notesMaster" Target="/ppt/notesMasters/notesMaster1.xml" Id="R1f17021053124bc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36566755abe45b5" /><Relationship Type="http://schemas.openxmlformats.org/officeDocument/2006/relationships/notesMaster" Target="/ppt/notesMasters/notesMaster1.xml" Id="R46692b22b0de46df"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4edf010fb63241a5" /><Relationship Type="http://schemas.openxmlformats.org/officeDocument/2006/relationships/notesMaster" Target="/ppt/notesMasters/notesMaster1.xml" Id="Raee4b3d0906b4a05"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1a35b527eb14405" /><Relationship Type="http://schemas.openxmlformats.org/officeDocument/2006/relationships/notesMaster" Target="/ppt/notesMasters/notesMaster1.xml" Id="R90448924fa3d447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Presentación académica del Grupo 6 ante el profesor Santos Ramos. Logo oficial: https://identidad.intec.edu.do/manual-de-uso/logo. Se conserva el archivo original y su proporción.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SRS plantea control de solicitudes, tickets, despacho e inventario. Presentar estos riesgos como necesidades del cliente, no como incidentes medidos en INTEC. Pregunta de apertura opcional: ¿cómo comprobaría hoy una salida específica de combustible? Fuente: docs/SRS.md, apartados 1 y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navegador y la app Android consumen la misma API. PostgreSQL conserva el estado del negocio. Los avisos complementan la operación. Una notificación pendiente no sustituye la validación del ticket. Fuentes: docs/02-ARQUITECTURA.md y código actual.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separación de responsabilidades. Solicitante consulta su información. Consulta y Auditor no deben registrar operaciones. Los permisos concretos están en docs/27-CONTROL-ACCESO-ROLES-RBAC.md. La demostración cambia cuentas reales; no se cambia un selector de rol ficticio.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Narrar el caso de un empleado y su vehículo. El supervisor puede ajustar la cantidad autorizada. Emitir el QR no descuenta inventario; el despacho confirmado sí. Después se revisan movimientos y cierre. Fuente: controladores de Solicitudes, TicketService, DispatchService, CierreDiarioService.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opción histórica añadida calcula el promedio por despacho del mismo vehículo y combustible en los 90 días anteriores, excluyendo hoy. Lo limita por cantidad configurada y capacidad del vehículo. Sin historial no inventa una cantidad. Es una regla de implementación que se propone al cliente y debe explicarse; el SRS no fija el algoritmo. Cada resultado queda pendiente de aprobación. Fuente: SolicitudRecurrenteService.cs.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El QR contiene un sobre FTQR1 con los datos de autorización, SHA-256 y firma ECDSA P-256. Un UUID o número de ticket escrito a mano no autoriza el despacho. El servidor verifica firma, vigencia y estado. El QR de esta presentación no se expone para no compartir una autorización vigente. Fuentes: TicketQrService.cs y DispatchService.cs.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Captura del APK de QA en el emulador Pixel 8. El acceso local solicita credenciales reales. La conexión se dirige al mismo servidor de la web. El emulador permite revisar navegación y operaciones; no acredita una SIM ni pruebas físicas de cámara. El ingreso manual admite el contenido íntegro del QR firmado, no un código corto. Fuente: mobile/lib y evidencia Android de esta revisión.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que entradas suman, despachos restan y transferencias afectan ambos tanques en una transacción. Las correcciones bloquean sobrecapacidad, cantidades inválidas, combustibles incompatibles y catálogos desactivados. No presentar un ajuste como una compra. Fuente: InventarioController.cs, RecepcionesController.cs y pruebas BusinessIntegrity.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Los indicadores usan datos de la API. La pantalla actualiza periódicamente y permite refresco manual. Los valores de la captura pertenecen al entorno de pruebas, no a una operación real de INTEC. Mostrar en la demo el efecto de un despacho nuevo. Fuente: DashboardPage.jsx y DashboardService.cs.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Mostrar filtros por fechas, empleado, vehículo, departamento, combustible y estado cuando corresponden al tipo de reporte. Exportar conserva los filtros aplicados. El cierre compara el volumen despachado y las existencias, y genera PDF. No todos los filtros son pertinentes para todos los reportes. Fuentes: ReporteService.cs, ReportesPage.jsx, CierreDiarioService.cs.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Distinguir lenguaje de framework. El frontend del repositorio está escrito en JavaScript/JSX, no afirmar TypeScript. Backend C# con .NET 10, Entity Framework Core y PostgreSQL. El SRS menciona .NET 8: el equipo documentó la decisión de usar .NET 10 el 29/08/2026 en docs/16-DECISION-NET10.md. Esa decisión del equipo no equivale a una aprobación contractual del cliente.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autenticación local y Keycloak se verifican en la suite. OAuth/PKCE y validación JWT no sustituyen TLS de producción. Auditoría append-only protege frente a cambios por la aplicación, pero no se promete protección absoluta frente a un administrador de la infraestructura. Fuentes: docs/07-SEGURIDAD.md, RS-01 a RS-06 y tests de seguridad.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Integrantes y matrículas transcritos de la imagen suministrada por el usuario. Profesor Santos Ramos. No se atribuyen responsabilidades individuales que no hayan sido confirmadas. La división documentada del trabajo incluye desarrollo y pruebas por fases.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Explicar las correcciones sin afirmar que el software carece de errores. Se corrigieron capacidad y compatibilidad, validaciones de entidades inactivas, coherencia empleado/vehículo, privacidad, permisos, sesión, reportes y QR. La suite del servidor de esta revisión tiene 463 pruebas aprobadas y cero omitidas, incluidas Keycloak. Añadimos Textbee, modo histórico, PWA y corrección visual del escáner. Las pruebas anteriores de 166 checks son históricas; no sumarlas como pruebas nuevas.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Fuentes oficiales consultadas 22/09/2026: https://textbee.dev/docs y https://textbee.dev/docs/api-reference. FuelTrack usa la API HTTPS; Textbee pasa el mensaje al Android vinculado y su SIM lo envía. Se probaron las solicitudes y acuses con HTTP local. El equipo solo dispone del emulador por ahora, por lo que no hay evidencia de SMS entregado. Aceptación del proveedor no equivale a recepción en el destino.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Seguir el guion adjunto. Usar datos de prueba, cuentas de distintos roles y un ticket nuevo en cada ensayo. Antes de consumir, anotar inventario. Registrar 2 galones autorizados y verificar diferencia exacta. Reintentar el mismo QR para demostrar rechazo. No editar la base para fingir resultados. Si no hay SIM, mostrar el correo local y declarar que SMS externo sigue pendiente.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 matriz adjunta cruza los 24 requisitos funcionales, los seis de seguridad, la arquitectura y siete criterios de aceptación. Demo HTTPS publicada en https://fueltrack-intec-demo.onrender.com con Render Free y Neon. Verificados TLS 1.3, cinco roles, permisos, sobrecapacidad, QR inválido y PDF; esto no acredita operación productiva continua. Requieren cierre externo: SMS y correo real en el entorno objetivo, cámara/lector físico, login nativo de Keycloak y cifrado AES-256 en reposo, backups, restauración y disponibilidad. La distribución Android actual es QA/debug. No afirmar 100% del SRS.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Cierre sugerido: proponemos revisar juntos el flujo presentado y registrar la aceptación con la matriz de requisitos. Podemos demostrar qué ocurrió con cada galón y cada ticket en el entorno probado. Preguntas: reglas de asignación histórica, responsables operativos, infraestructura y equipos para el piloto. No prometer disponibilidad garantizada ni costos no presupuestados.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3205a40add342a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0ab8c253ed14332" /><Relationship Type="http://schemas.openxmlformats.org/officeDocument/2006/relationships/slideLayout" Target="/ppt/slideLayouts/slideLayout1.xml" Id="R4008f90aefbb456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008f90aefbb456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8e2d185ae7e4bef" /><Relationship Type="http://schemas.openxmlformats.org/officeDocument/2006/relationships/image" Target="/ppt/media/image.png" Id="Rf9043990f56f42a9" /><Relationship Type="http://schemas.openxmlformats.org/officeDocument/2006/relationships/notesSlide" Target="/ppt/notesSlides/notesSlide1.xml" Id="Rbea3cdd9690444f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a01317616a84092" /><Relationship Type="http://schemas.openxmlformats.org/officeDocument/2006/relationships/notesSlide" Target="/ppt/notesSlides/notesSlide2.xml" Id="Rea82afd4d31f434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a90333d75734424" /><Relationship Type="http://schemas.openxmlformats.org/officeDocument/2006/relationships/notesSlide" Target="/ppt/notesSlides/notesSlide3.xml" Id="Ree02436f1b8e4ef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28a8202814a94a25" /><Relationship Type="http://schemas.openxmlformats.org/officeDocument/2006/relationships/notesSlide" Target="/ppt/notesSlides/notesSlide4.xml" Id="Ra1052298065945b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3230c2622df84b6b" /><Relationship Type="http://schemas.openxmlformats.org/officeDocument/2006/relationships/notesSlide" Target="/ppt/notesSlides/notesSlide5.xml" Id="R871084a0745049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a1c073aa8b134cbf" /><Relationship Type="http://schemas.openxmlformats.org/officeDocument/2006/relationships/image" Target="/ppt/media/image2.png" Id="R4dd9d680c4ba4e86" /><Relationship Type="http://schemas.openxmlformats.org/officeDocument/2006/relationships/notesSlide" Target="/ppt/notesSlides/notesSlide6.xml" Id="R4cd0e275a5a046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5b9ccba470f040cb" /><Relationship Type="http://schemas.openxmlformats.org/officeDocument/2006/relationships/image" Target="/ppt/media/image3.png" Id="Rd324246e601e47a9" /><Relationship Type="http://schemas.openxmlformats.org/officeDocument/2006/relationships/notesSlide" Target="/ppt/notesSlides/notesSlide7.xml" Id="R7af5218404614e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b4e8a68bf17e45bb" /><Relationship Type="http://schemas.openxmlformats.org/officeDocument/2006/relationships/image" Target="/ppt/media/image4.png" Id="Rce31ef25137046cf" /><Relationship Type="http://schemas.openxmlformats.org/officeDocument/2006/relationships/notesSlide" Target="/ppt/notesSlides/notesSlide8.xml" Id="Ra0f56543079d4fe4"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a0c3e1dfbe1a46cf" /><Relationship Type="http://schemas.openxmlformats.org/officeDocument/2006/relationships/image" Target="/ppt/media/image5.png" Id="Rc02854231ccb4f67" /><Relationship Type="http://schemas.openxmlformats.org/officeDocument/2006/relationships/notesSlide" Target="/ppt/notesSlides/notesSlide9.xml" Id="Ra4d631d374794df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6396d151547242fc" /><Relationship Type="http://schemas.openxmlformats.org/officeDocument/2006/relationships/image" Target="/ppt/media/image6.png" Id="R9faa7759f730412d" /><Relationship Type="http://schemas.openxmlformats.org/officeDocument/2006/relationships/notesSlide" Target="/ppt/notesSlides/notesSlide10.xml" Id="Rd3e9f2e9a161474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15c6c8c5ba0e4f64" /><Relationship Type="http://schemas.openxmlformats.org/officeDocument/2006/relationships/image" Target="/ppt/media/image7.png" Id="R7036d46bf0484dc3" /><Relationship Type="http://schemas.openxmlformats.org/officeDocument/2006/relationships/notesSlide" Target="/ppt/notesSlides/notesSlide11.xml" Id="R6115fc11e4e748c2"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90458b6d6ba14007" /><Relationship Type="http://schemas.openxmlformats.org/officeDocument/2006/relationships/notesSlide" Target="/ppt/notesSlides/notesSlide12.xml" Id="R937b61610742429a"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bf5dd63a18054541" /><Relationship Type="http://schemas.openxmlformats.org/officeDocument/2006/relationships/notesSlide" Target="/ppt/notesSlides/notesSlide13.xml" Id="Rcc6733c87bda481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37c28d0813f4e79" /><Relationship Type="http://schemas.openxmlformats.org/officeDocument/2006/relationships/notesSlide" Target="/ppt/notesSlides/notesSlide14.xml" Id="Rf81a5eb01ef74ae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e3454eddad384b57" /><Relationship Type="http://schemas.openxmlformats.org/officeDocument/2006/relationships/notesSlide" Target="/ppt/notesSlides/notesSlide15.xml" Id="R5044d4b4403e4820"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d5d2258a6e24480a" /><Relationship Type="http://schemas.openxmlformats.org/officeDocument/2006/relationships/notesSlide" Target="/ppt/notesSlides/notesSlide16.xml" Id="R282acc3e151a403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26a13d7cde7e4f14" /><Relationship Type="http://schemas.openxmlformats.org/officeDocument/2006/relationships/notesSlide" Target="/ppt/notesSlides/notesSlide17.xml" Id="Rb1adad94b5fb42bb"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6b9ef5f853fa4559" /><Relationship Type="http://schemas.openxmlformats.org/officeDocument/2006/relationships/notesSlide" Target="/ppt/notesSlides/notesSlide18.xml" Id="R5882e24a9eea4871"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e255c759bd3742e4" /><Relationship Type="http://schemas.openxmlformats.org/officeDocument/2006/relationships/notesSlide" Target="/ppt/notesSlides/notesSlide19.xml" Id="Rccf3d30e265c4e5f" /></Relationships>
</file>

<file path=ppt/slides/slide1.xml><?xml version="1.0" encoding="utf-8"?>
<p:sld xmlns:p="http://schemas.openxmlformats.org/presentationml/2006/main">
  <p:cSld>
    <p:bg>
      <p:bgPr>
        <a:solidFill xmlns:a="http://schemas.openxmlformats.org/drawingml/2006/main">
          <a:srgbClr val="173D35"/>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2BFBC2-0A1A-47CF-99B4-9F02890EF78C}"/>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DD5"/>
                </a:solidFill>
                <a:latin typeface="DejaVu Sans"/>
                <a:ea typeface="DejaVu Sans"/>
                <a:cs typeface="DejaVu Sans"/>
              </a:defRPr>
            </a:pPr>
            <a:r>
              <a:rPr sz="1200" b="0">
                <a:solidFill>
                  <a:srgbClr val="CBDDD5"/>
                </a:solidFill>
                <a:latin typeface="DejaVu Sans"/>
                <a:ea typeface="DejaVu Sans"/>
                <a:cs typeface="DejaVu Sans"/>
              </a:rPr>
              <a:t>01</a:t>
            </a:r>
          </a:p>
        </p:txBody>
      </p:sp>
      <p:sp>
        <p:nvSpPr>
          <p:cNvPr id="2" name="">
            <a:extLst xmlns:a="http://schemas.openxmlformats.org/drawingml/2006/main">
              <a:ext uri="{FF2B5EF4-FFF2-40B4-BE49-F238E27FC236}">
                <a16:creationId xmlns:a16="http://schemas.microsoft.com/office/drawing/2014/main" id="{3757F878-3C7B-4205-8D1E-5CD874A5EF7E}"/>
              </a:ext>
            </a:extLst>
          </p:cNvPr>
          <p:cNvSpPr>
            <a:spLocks xmlns:a="http://schemas.openxmlformats.org/drawingml/2006/main" noGrp="1"/>
          </p:cNvSpPr>
          <p:nvPr/>
        </p:nvSpPr>
        <p:spPr>
          <a:xfrm xmlns:a="http://schemas.openxmlformats.org/drawingml/2006/main">
            <a:off x="666750" y="1809750"/>
            <a:ext cx="10858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FFFFFF"/>
                </a:solidFill>
                <a:latin typeface="DejaVu Sans"/>
                <a:ea typeface="DejaVu Sans"/>
                <a:cs typeface="DejaVu Sans"/>
              </a:defRPr>
            </a:pPr>
            <a:r>
              <a:rPr sz="7200" b="1">
                <a:solidFill>
                  <a:srgbClr val="FFFFFF"/>
                </a:solidFill>
                <a:latin typeface="DejaVu Sans"/>
                <a:ea typeface="DejaVu Sans"/>
                <a:cs typeface="DejaVu Sans"/>
              </a:rPr>
              <a:t>FuelTrack</a:t>
            </a:r>
          </a:p>
        </p:txBody>
      </p:sp>
      <p:sp>
        <p:nvSpPr>
          <p:cNvPr id="3" name="">
            <a:extLst xmlns:a="http://schemas.openxmlformats.org/drawingml/2006/main">
              <a:ext uri="{FF2B5EF4-FFF2-40B4-BE49-F238E27FC236}">
                <a16:creationId xmlns:a16="http://schemas.microsoft.com/office/drawing/2014/main" id="{5E0CCEAD-447F-4A7C-8DF0-7FF3916FDF54}"/>
              </a:ext>
            </a:extLst>
          </p:cNvPr>
          <p:cNvSpPr>
            <a:spLocks xmlns:a="http://schemas.openxmlformats.org/drawingml/2006/main" noGrp="1"/>
          </p:cNvSpPr>
          <p:nvPr/>
        </p:nvSpPr>
        <p:spPr>
          <a:xfrm xmlns:a="http://schemas.openxmlformats.org/drawingml/2006/main">
            <a:off x="714375" y="3286125"/>
            <a:ext cx="9906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0">
                <a:solidFill>
                  <a:srgbClr val="E1EAE3"/>
                </a:solidFill>
                <a:latin typeface="DejaVu Sans"/>
                <a:ea typeface="DejaVu Sans"/>
                <a:cs typeface="DejaVu Sans"/>
              </a:defRPr>
            </a:pPr>
            <a:r>
              <a:rPr sz="3450" b="0">
                <a:solidFill>
                  <a:srgbClr val="E1EAE3"/>
                </a:solidFill>
                <a:latin typeface="DejaVu Sans"/>
                <a:ea typeface="DejaVu Sans"/>
                <a:cs typeface="DejaVu Sans"/>
              </a:rPr>
              <a:t>Tickets digitales e inventario</a:t>
            </a:r>
          </a:p>
          <a:p xmlns:a="http://schemas.openxmlformats.org/drawingml/2006/main">
            <a:pPr>
              <a:defRPr sz="3450" b="0">
                <a:solidFill>
                  <a:srgbClr val="E1EAE3"/>
                </a:solidFill>
                <a:latin typeface="DejaVu Sans"/>
                <a:ea typeface="DejaVu Sans"/>
                <a:cs typeface="DejaVu Sans"/>
              </a:defRPr>
            </a:pPr>
            <a:r>
              <a:rPr sz="3450" b="0">
                <a:solidFill>
                  <a:srgbClr val="E1EAE3"/>
                </a:solidFill>
                <a:latin typeface="DejaVu Sans"/>
                <a:ea typeface="DejaVu Sans"/>
                <a:cs typeface="DejaVu Sans"/>
              </a:rPr>
              <a:t>de combustible</a:t>
            </a:r>
          </a:p>
        </p:txBody>
      </p:sp>
      <p:sp>
        <p:nvSpPr>
          <p:cNvPr id="4" name="">
            <a:extLst xmlns:a="http://schemas.openxmlformats.org/drawingml/2006/main">
              <a:ext uri="{FF2B5EF4-FFF2-40B4-BE49-F238E27FC236}">
                <a16:creationId xmlns:a16="http://schemas.microsoft.com/office/drawing/2014/main" id="{5C0B0A9F-9B97-4C09-88EB-7E69637EE927}"/>
              </a:ext>
            </a:extLst>
          </p:cNvPr>
          <p:cNvSpPr>
            <a:spLocks xmlns:a="http://schemas.openxmlformats.org/drawingml/2006/main" noGrp="1"/>
          </p:cNvSpPr>
          <p:nvPr/>
        </p:nvSpPr>
        <p:spPr>
          <a:xfrm xmlns:a="http://schemas.openxmlformats.org/drawingml/2006/main">
            <a:off x="714375" y="5286375"/>
            <a:ext cx="9525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BDDD5"/>
                </a:solidFill>
                <a:latin typeface="DejaVu Sans"/>
                <a:ea typeface="DejaVu Sans"/>
                <a:cs typeface="DejaVu Sans"/>
              </a:defRPr>
            </a:pPr>
            <a:r>
              <a:rPr sz="1875" b="0">
                <a:solidFill>
                  <a:srgbClr val="CBDDD5"/>
                </a:solidFill>
                <a:latin typeface="DejaVu Sans"/>
                <a:ea typeface="DejaVu Sans"/>
                <a:cs typeface="DejaVu Sans"/>
              </a:rPr>
              <a:t>Grupo 6 · Presentación de producto</a:t>
            </a:r>
          </a:p>
        </p:txBody>
      </p:sp>
      <p:sp>
        <p:nvSpPr>
          <p:cNvPr id="5" name="">
            <a:extLst xmlns:a="http://schemas.openxmlformats.org/drawingml/2006/main">
              <a:ext uri="{FF2B5EF4-FFF2-40B4-BE49-F238E27FC236}">
                <a16:creationId xmlns:a16="http://schemas.microsoft.com/office/drawing/2014/main" id="{14ED29B4-1CD1-43FC-BC9B-8D7B79ACF592}"/>
              </a:ext>
            </a:extLst>
          </p:cNvPr>
          <p:cNvSpPr>
            <a:spLocks xmlns:a="http://schemas.openxmlformats.org/drawingml/2006/main" noGrp="1"/>
          </p:cNvSpPr>
          <p:nvPr/>
        </p:nvSpPr>
        <p:spPr>
          <a:xfrm xmlns:a="http://schemas.openxmlformats.org/drawingml/2006/main">
            <a:off x="714375" y="5762625"/>
            <a:ext cx="9525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CBDDD5"/>
                </a:solidFill>
                <a:latin typeface="DejaVu Sans"/>
                <a:ea typeface="DejaVu Sans"/>
                <a:cs typeface="DejaVu Sans"/>
              </a:defRPr>
            </a:pPr>
            <a:r>
              <a:rPr sz="1875" b="0">
                <a:solidFill>
                  <a:srgbClr val="CBDDD5"/>
                </a:solidFill>
                <a:latin typeface="DejaVu Sans"/>
                <a:ea typeface="DejaVu Sans"/>
                <a:cs typeface="DejaVu Sans"/>
              </a:rPr>
              <a:t>Profesor: Santos Ramos</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f9043990f56f42a9"/>
          <a:stretch xmlns:a="http://schemas.openxmlformats.org/drawingml/2006/main"/>
        </p:blipFill>
        <p:spPr>
          <a:xfrm xmlns:a="http://schemas.openxmlformats.org/drawingml/2006/main">
            <a:off x="9865281" y="476250"/>
            <a:ext cx="1653064" cy="1857375"/>
          </a:xfrm>
          <a:prstGeom xmlns:a="http://schemas.openxmlformats.org/drawingml/2006/main" prst="rect">
            <a:avLst/>
          </a:prstGeom>
        </p:spPr>
      </p:pic>
    </p:spTree>
    <p:extLst>
      <p:ext uri="{BB962C8B-B14F-4D97-AF65-F5344CB8AC3E}">
        <p14:creationId xmlns:p14="http://schemas.microsoft.com/office/powerpoint/2010/main" val="633881197"/>
      </p:ext>
    </p:extLst>
  </p:cSld>
</p:sld>
</file>

<file path=ppt/slides/slide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45EDB30-A83A-404C-B853-7B314204B1DF}"/>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El problema que resolvemos</a:t>
            </a:r>
          </a:p>
        </p:txBody>
      </p:sp>
      <p:sp>
        <p:nvSpPr>
          <p:cNvPr id="2" name="">
            <a:extLst xmlns:a="http://schemas.openxmlformats.org/drawingml/2006/main">
              <a:ext uri="{FF2B5EF4-FFF2-40B4-BE49-F238E27FC236}">
                <a16:creationId xmlns:a16="http://schemas.microsoft.com/office/drawing/2014/main" id="{C903D633-E1E3-46AD-8680-A1690E15145B}"/>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02</a:t>
            </a:r>
          </a:p>
        </p:txBody>
      </p:sp>
      <p:sp>
        <p:nvSpPr>
          <p:cNvPr id="3" name="">
            <a:extLst xmlns:a="http://schemas.openxmlformats.org/drawingml/2006/main">
              <a:ext uri="{FF2B5EF4-FFF2-40B4-BE49-F238E27FC236}">
                <a16:creationId xmlns:a16="http://schemas.microsoft.com/office/drawing/2014/main" id="{D8A0A183-A787-4369-B20F-54C398EF7466}"/>
              </a:ext>
            </a:extLst>
          </p:cNvPr>
          <p:cNvSpPr>
            <a:spLocks xmlns:a="http://schemas.openxmlformats.org/drawingml/2006/main" noGrp="1"/>
          </p:cNvSpPr>
          <p:nvPr/>
        </p:nvSpPr>
        <p:spPr>
          <a:xfrm xmlns:a="http://schemas.openxmlformats.org/drawingml/2006/main">
            <a:off x="666750" y="18097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Autorización</a:t>
            </a:r>
          </a:p>
        </p:txBody>
      </p:sp>
      <p:sp>
        <p:nvSpPr>
          <p:cNvPr id="4" name="">
            <a:extLst xmlns:a="http://schemas.openxmlformats.org/drawingml/2006/main">
              <a:ext uri="{FF2B5EF4-FFF2-40B4-BE49-F238E27FC236}">
                <a16:creationId xmlns:a16="http://schemas.microsoft.com/office/drawing/2014/main" id="{8ED85875-0650-4FCB-8EB0-4387A06D0B73}"/>
              </a:ext>
            </a:extLst>
          </p:cNvPr>
          <p:cNvSpPr>
            <a:spLocks xmlns:a="http://schemas.openxmlformats.org/drawingml/2006/main" noGrp="1"/>
          </p:cNvSpPr>
          <p:nvPr/>
        </p:nvSpPr>
        <p:spPr>
          <a:xfrm xmlns:a="http://schemas.openxmlformats.org/drawingml/2006/main">
            <a:off x="4333875" y="180975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Relacionar cada salida con una solicitud aprobada.</a:t>
            </a:r>
          </a:p>
        </p:txBody>
      </p:sp>
      <p:sp>
        <p:nvSpPr>
          <p:cNvPr id="5" name="">
            <a:extLst xmlns:a="http://schemas.openxmlformats.org/drawingml/2006/main">
              <a:ext uri="{FF2B5EF4-FFF2-40B4-BE49-F238E27FC236}">
                <a16:creationId xmlns:a16="http://schemas.microsoft.com/office/drawing/2014/main" id="{DFFB1555-B5C8-4BB1-BE1B-4FEF38616350}"/>
              </a:ext>
            </a:extLst>
          </p:cNvPr>
          <p:cNvSpPr>
            <a:spLocks xmlns:a="http://schemas.openxmlformats.org/drawingml/2006/main" noGrp="1"/>
          </p:cNvSpPr>
          <p:nvPr/>
        </p:nvSpPr>
        <p:spPr>
          <a:xfrm xmlns:a="http://schemas.openxmlformats.org/drawingml/2006/main">
            <a:off x="666750" y="28956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Control de existencias</a:t>
            </a:r>
          </a:p>
        </p:txBody>
      </p:sp>
      <p:sp>
        <p:nvSpPr>
          <p:cNvPr id="6" name="">
            <a:extLst xmlns:a="http://schemas.openxmlformats.org/drawingml/2006/main">
              <a:ext uri="{FF2B5EF4-FFF2-40B4-BE49-F238E27FC236}">
                <a16:creationId xmlns:a16="http://schemas.microsoft.com/office/drawing/2014/main" id="{39F696ED-CC42-4E0B-BB26-5B97362DF92F}"/>
              </a:ext>
            </a:extLst>
          </p:cNvPr>
          <p:cNvSpPr>
            <a:spLocks xmlns:a="http://schemas.openxmlformats.org/drawingml/2006/main" noGrp="1"/>
          </p:cNvSpPr>
          <p:nvPr/>
        </p:nvSpPr>
        <p:spPr>
          <a:xfrm xmlns:a="http://schemas.openxmlformats.org/drawingml/2006/main">
            <a:off x="4333875" y="289560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Conocer entradas, despachos, ajustes y transferencias.</a:t>
            </a:r>
          </a:p>
        </p:txBody>
      </p:sp>
      <p:sp>
        <p:nvSpPr>
          <p:cNvPr id="7" name="">
            <a:extLst xmlns:a="http://schemas.openxmlformats.org/drawingml/2006/main">
              <a:ext uri="{FF2B5EF4-FFF2-40B4-BE49-F238E27FC236}">
                <a16:creationId xmlns:a16="http://schemas.microsoft.com/office/drawing/2014/main" id="{39E934ED-BC49-45D0-A501-F338B45BAF5E}"/>
              </a:ext>
            </a:extLst>
          </p:cNvPr>
          <p:cNvSpPr>
            <a:spLocks xmlns:a="http://schemas.openxmlformats.org/drawingml/2006/main" noGrp="1"/>
          </p:cNvSpPr>
          <p:nvPr/>
        </p:nvSpPr>
        <p:spPr>
          <a:xfrm xmlns:a="http://schemas.openxmlformats.org/drawingml/2006/main">
            <a:off x="666750" y="39814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Rendición de cuentas</a:t>
            </a:r>
          </a:p>
        </p:txBody>
      </p:sp>
      <p:sp>
        <p:nvSpPr>
          <p:cNvPr id="8" name="">
            <a:extLst xmlns:a="http://schemas.openxmlformats.org/drawingml/2006/main">
              <a:ext uri="{FF2B5EF4-FFF2-40B4-BE49-F238E27FC236}">
                <a16:creationId xmlns:a16="http://schemas.microsoft.com/office/drawing/2014/main" id="{078BF06B-4C6C-4BFF-8E90-6FE25750D013}"/>
              </a:ext>
            </a:extLst>
          </p:cNvPr>
          <p:cNvSpPr>
            <a:spLocks xmlns:a="http://schemas.openxmlformats.org/drawingml/2006/main" noGrp="1"/>
          </p:cNvSpPr>
          <p:nvPr/>
        </p:nvSpPr>
        <p:spPr>
          <a:xfrm xmlns:a="http://schemas.openxmlformats.org/drawingml/2006/main">
            <a:off x="4333875" y="398145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Reconstruir quién realizó cada operación y cuándo.</a:t>
            </a:r>
          </a:p>
        </p:txBody>
      </p:sp>
      <p:sp>
        <p:nvSpPr>
          <p:cNvPr id="9" name="">
            <a:extLst xmlns:a="http://schemas.openxmlformats.org/drawingml/2006/main">
              <a:ext uri="{FF2B5EF4-FFF2-40B4-BE49-F238E27FC236}">
                <a16:creationId xmlns:a16="http://schemas.microsoft.com/office/drawing/2014/main" id="{CBE3E4E3-BD65-46BE-8DEB-AB20BAF299D1}"/>
              </a:ext>
            </a:extLst>
          </p:cNvPr>
          <p:cNvSpPr>
            <a:spLocks xmlns:a="http://schemas.openxmlformats.org/drawingml/2006/main" noGrp="1"/>
          </p:cNvSpPr>
          <p:nvPr/>
        </p:nvSpPr>
        <p:spPr>
          <a:xfrm xmlns:a="http://schemas.openxmlformats.org/drawingml/2006/main">
            <a:off x="666750" y="50673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Consulta gerencial</a:t>
            </a:r>
          </a:p>
        </p:txBody>
      </p:sp>
      <p:sp>
        <p:nvSpPr>
          <p:cNvPr id="10" name="">
            <a:extLst xmlns:a="http://schemas.openxmlformats.org/drawingml/2006/main">
              <a:ext uri="{FF2B5EF4-FFF2-40B4-BE49-F238E27FC236}">
                <a16:creationId xmlns:a16="http://schemas.microsoft.com/office/drawing/2014/main" id="{4C7DE0C0-DA23-4862-A012-A6E1BF278204}"/>
              </a:ext>
            </a:extLst>
          </p:cNvPr>
          <p:cNvSpPr>
            <a:spLocks xmlns:a="http://schemas.openxmlformats.org/drawingml/2006/main" noGrp="1"/>
          </p:cNvSpPr>
          <p:nvPr/>
        </p:nvSpPr>
        <p:spPr>
          <a:xfrm xmlns:a="http://schemas.openxmlformats.org/drawingml/2006/main">
            <a:off x="4333875" y="506730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Examinar consumo por vehículo y departamento.</a:t>
            </a:r>
          </a:p>
        </p:txBody>
      </p:sp>
    </p:spTree>
    <p:extLst>
      <p:ext uri="{BB962C8B-B14F-4D97-AF65-F5344CB8AC3E}">
        <p14:creationId xmlns:p14="http://schemas.microsoft.com/office/powerpoint/2010/main" val="1580988706"/>
      </p:ext>
    </p:extLst>
  </p:cSld>
</p:sld>
</file>

<file path=ppt/slides/slide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F35BE9B3-366F-4659-A05C-C12221EC057F}"/>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Una operación conectada</a:t>
            </a:r>
          </a:p>
        </p:txBody>
      </p:sp>
      <p:sp>
        <p:nvSpPr>
          <p:cNvPr id="2" name="">
            <a:extLst xmlns:a="http://schemas.openxmlformats.org/drawingml/2006/main">
              <a:ext uri="{FF2B5EF4-FFF2-40B4-BE49-F238E27FC236}">
                <a16:creationId xmlns:a16="http://schemas.microsoft.com/office/drawing/2014/main" id="{49F5C918-57CE-4C3D-AC7F-E482CDF029F2}"/>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03</a:t>
            </a:r>
          </a:p>
        </p:txBody>
      </p:sp>
      <p:sp>
        <p:nvSpPr>
          <p:cNvPr id="3" name="">
            <a:extLst xmlns:a="http://schemas.openxmlformats.org/drawingml/2006/main">
              <a:ext uri="{FF2B5EF4-FFF2-40B4-BE49-F238E27FC236}">
                <a16:creationId xmlns:a16="http://schemas.microsoft.com/office/drawing/2014/main" id="{0F024F43-9CB2-43D8-843F-79FF8A097A5A}"/>
              </a:ext>
            </a:extLst>
          </p:cNvPr>
          <p:cNvSpPr>
            <a:spLocks xmlns:a="http://schemas.openxmlformats.org/drawingml/2006/main" noGrp="1"/>
          </p:cNvSpPr>
          <p:nvPr/>
        </p:nvSpPr>
        <p:spPr>
          <a:xfrm xmlns:a="http://schemas.openxmlformats.org/drawingml/2006/main">
            <a:off x="619125" y="1762125"/>
            <a:ext cx="2857500" cy="147637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4" name="">
            <a:extLst xmlns:a="http://schemas.openxmlformats.org/drawingml/2006/main">
              <a:ext uri="{FF2B5EF4-FFF2-40B4-BE49-F238E27FC236}">
                <a16:creationId xmlns:a16="http://schemas.microsoft.com/office/drawing/2014/main" id="{BF00C167-8D2F-4196-9B52-EE1B88372464}"/>
              </a:ext>
            </a:extLst>
          </p:cNvPr>
          <p:cNvSpPr>
            <a:spLocks xmlns:a="http://schemas.openxmlformats.org/drawingml/2006/main" noGrp="1"/>
          </p:cNvSpPr>
          <p:nvPr/>
        </p:nvSpPr>
        <p:spPr>
          <a:xfrm xmlns:a="http://schemas.openxmlformats.org/drawingml/2006/main">
            <a:off x="695325" y="1933575"/>
            <a:ext cx="2705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Web / PWA</a:t>
            </a:r>
          </a:p>
        </p:txBody>
      </p:sp>
      <p:sp>
        <p:nvSpPr>
          <p:cNvPr id="5" name="">
            <a:extLst xmlns:a="http://schemas.openxmlformats.org/drawingml/2006/main">
              <a:ext uri="{FF2B5EF4-FFF2-40B4-BE49-F238E27FC236}">
                <a16:creationId xmlns:a16="http://schemas.microsoft.com/office/drawing/2014/main" id="{E820D810-ADD2-463C-9CE7-28F572AAF701}"/>
              </a:ext>
            </a:extLst>
          </p:cNvPr>
          <p:cNvSpPr>
            <a:spLocks xmlns:a="http://schemas.openxmlformats.org/drawingml/2006/main" noGrp="1"/>
          </p:cNvSpPr>
          <p:nvPr/>
        </p:nvSpPr>
        <p:spPr>
          <a:xfrm xmlns:a="http://schemas.openxmlformats.org/drawingml/2006/main">
            <a:off x="695325" y="2447925"/>
            <a:ext cx="2705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Administración y reportes</a:t>
            </a:r>
          </a:p>
        </p:txBody>
      </p:sp>
      <p:sp>
        <p:nvSpPr>
          <p:cNvPr id="6" name="">
            <a:extLst xmlns:a="http://schemas.openxmlformats.org/drawingml/2006/main">
              <a:ext uri="{FF2B5EF4-FFF2-40B4-BE49-F238E27FC236}">
                <a16:creationId xmlns:a16="http://schemas.microsoft.com/office/drawing/2014/main" id="{56E6FD40-8D70-4C56-AAD3-4E8EA84B9CEF}"/>
              </a:ext>
            </a:extLst>
          </p:cNvPr>
          <p:cNvSpPr>
            <a:spLocks xmlns:a="http://schemas.openxmlformats.org/drawingml/2006/main" noGrp="1"/>
          </p:cNvSpPr>
          <p:nvPr/>
        </p:nvSpPr>
        <p:spPr>
          <a:xfrm xmlns:a="http://schemas.openxmlformats.org/drawingml/2006/main">
            <a:off x="619125" y="3952875"/>
            <a:ext cx="2857500" cy="147637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7" name="">
            <a:extLst xmlns:a="http://schemas.openxmlformats.org/drawingml/2006/main">
              <a:ext uri="{FF2B5EF4-FFF2-40B4-BE49-F238E27FC236}">
                <a16:creationId xmlns:a16="http://schemas.microsoft.com/office/drawing/2014/main" id="{1CB43707-F665-4E64-8D1A-05FBC6C88ECB}"/>
              </a:ext>
            </a:extLst>
          </p:cNvPr>
          <p:cNvSpPr>
            <a:spLocks xmlns:a="http://schemas.openxmlformats.org/drawingml/2006/main" noGrp="1"/>
          </p:cNvSpPr>
          <p:nvPr/>
        </p:nvSpPr>
        <p:spPr>
          <a:xfrm xmlns:a="http://schemas.openxmlformats.org/drawingml/2006/main">
            <a:off x="695325" y="4124325"/>
            <a:ext cx="2705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Android</a:t>
            </a:r>
          </a:p>
        </p:txBody>
      </p:sp>
      <p:sp>
        <p:nvSpPr>
          <p:cNvPr id="8" name="">
            <a:extLst xmlns:a="http://schemas.openxmlformats.org/drawingml/2006/main">
              <a:ext uri="{FF2B5EF4-FFF2-40B4-BE49-F238E27FC236}">
                <a16:creationId xmlns:a16="http://schemas.microsoft.com/office/drawing/2014/main" id="{D0A1DE81-D717-49A6-ACE7-79395B3656B6}"/>
              </a:ext>
            </a:extLst>
          </p:cNvPr>
          <p:cNvSpPr>
            <a:spLocks xmlns:a="http://schemas.openxmlformats.org/drawingml/2006/main" noGrp="1"/>
          </p:cNvSpPr>
          <p:nvPr/>
        </p:nvSpPr>
        <p:spPr>
          <a:xfrm xmlns:a="http://schemas.openxmlformats.org/drawingml/2006/main">
            <a:off x="695325" y="4638675"/>
            <a:ext cx="2705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Validación y despacho</a:t>
            </a:r>
          </a:p>
        </p:txBody>
      </p:sp>
      <p:sp>
        <p:nvSpPr>
          <p:cNvPr id="9" name="">
            <a:extLst xmlns:a="http://schemas.openxmlformats.org/drawingml/2006/main">
              <a:ext uri="{FF2B5EF4-FFF2-40B4-BE49-F238E27FC236}">
                <a16:creationId xmlns:a16="http://schemas.microsoft.com/office/drawing/2014/main" id="{9972EF0F-BE71-47AF-960D-00E608F13D10}"/>
              </a:ext>
            </a:extLst>
          </p:cNvPr>
          <p:cNvSpPr>
            <a:spLocks xmlns:a="http://schemas.openxmlformats.org/drawingml/2006/main" noGrp="1"/>
          </p:cNvSpPr>
          <p:nvPr/>
        </p:nvSpPr>
        <p:spPr>
          <a:xfrm xmlns:a="http://schemas.openxmlformats.org/drawingml/2006/main">
            <a:off x="4762500" y="2857500"/>
            <a:ext cx="2857500" cy="147637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10" name="">
            <a:extLst xmlns:a="http://schemas.openxmlformats.org/drawingml/2006/main">
              <a:ext uri="{FF2B5EF4-FFF2-40B4-BE49-F238E27FC236}">
                <a16:creationId xmlns:a16="http://schemas.microsoft.com/office/drawing/2014/main" id="{B7CFE0B3-68CB-419F-9EE8-DFD2FF7CE7BB}"/>
              </a:ext>
            </a:extLst>
          </p:cNvPr>
          <p:cNvSpPr>
            <a:spLocks xmlns:a="http://schemas.openxmlformats.org/drawingml/2006/main" noGrp="1"/>
          </p:cNvSpPr>
          <p:nvPr/>
        </p:nvSpPr>
        <p:spPr>
          <a:xfrm xmlns:a="http://schemas.openxmlformats.org/drawingml/2006/main">
            <a:off x="4838700" y="3028950"/>
            <a:ext cx="27051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API .NET</a:t>
            </a:r>
          </a:p>
        </p:txBody>
      </p:sp>
      <p:sp>
        <p:nvSpPr>
          <p:cNvPr id="11" name="">
            <a:extLst xmlns:a="http://schemas.openxmlformats.org/drawingml/2006/main">
              <a:ext uri="{FF2B5EF4-FFF2-40B4-BE49-F238E27FC236}">
                <a16:creationId xmlns:a16="http://schemas.microsoft.com/office/drawing/2014/main" id="{6005E1C7-7908-410C-9BBB-A448D74C0452}"/>
              </a:ext>
            </a:extLst>
          </p:cNvPr>
          <p:cNvSpPr>
            <a:spLocks xmlns:a="http://schemas.openxmlformats.org/drawingml/2006/main" noGrp="1"/>
          </p:cNvSpPr>
          <p:nvPr/>
        </p:nvSpPr>
        <p:spPr>
          <a:xfrm xmlns:a="http://schemas.openxmlformats.org/drawingml/2006/main">
            <a:off x="4838700" y="3543300"/>
            <a:ext cx="2705100"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Permisos y reglas comunes</a:t>
            </a:r>
          </a:p>
        </p:txBody>
      </p:sp>
      <p:sp>
        <p:nvSpPr>
          <p:cNvPr id="12" name="">
            <a:extLst xmlns:a="http://schemas.openxmlformats.org/drawingml/2006/main">
              <a:ext uri="{FF2B5EF4-FFF2-40B4-BE49-F238E27FC236}">
                <a16:creationId xmlns:a16="http://schemas.microsoft.com/office/drawing/2014/main" id="{FA8CDD98-11FC-4624-8C3B-6A993A788E07}"/>
              </a:ext>
            </a:extLst>
          </p:cNvPr>
          <p:cNvSpPr>
            <a:spLocks xmlns:a="http://schemas.openxmlformats.org/drawingml/2006/main" noGrp="1"/>
          </p:cNvSpPr>
          <p:nvPr/>
        </p:nvSpPr>
        <p:spPr>
          <a:xfrm xmlns:a="http://schemas.openxmlformats.org/drawingml/2006/main">
            <a:off x="8810625" y="1762125"/>
            <a:ext cx="2714625" cy="147637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13" name="">
            <a:extLst xmlns:a="http://schemas.openxmlformats.org/drawingml/2006/main">
              <a:ext uri="{FF2B5EF4-FFF2-40B4-BE49-F238E27FC236}">
                <a16:creationId xmlns:a16="http://schemas.microsoft.com/office/drawing/2014/main" id="{524FB4F0-E626-4F2C-8D76-C769C1932412}"/>
              </a:ext>
            </a:extLst>
          </p:cNvPr>
          <p:cNvSpPr>
            <a:spLocks xmlns:a="http://schemas.openxmlformats.org/drawingml/2006/main" noGrp="1"/>
          </p:cNvSpPr>
          <p:nvPr/>
        </p:nvSpPr>
        <p:spPr>
          <a:xfrm xmlns:a="http://schemas.openxmlformats.org/drawingml/2006/main">
            <a:off x="8886825" y="1933575"/>
            <a:ext cx="2562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PostgreSQL</a:t>
            </a:r>
          </a:p>
        </p:txBody>
      </p:sp>
      <p:sp>
        <p:nvSpPr>
          <p:cNvPr id="14" name="">
            <a:extLst xmlns:a="http://schemas.openxmlformats.org/drawingml/2006/main">
              <a:ext uri="{FF2B5EF4-FFF2-40B4-BE49-F238E27FC236}">
                <a16:creationId xmlns:a16="http://schemas.microsoft.com/office/drawing/2014/main" id="{498CA77E-98B1-4589-8008-7BC07F496B61}"/>
              </a:ext>
            </a:extLst>
          </p:cNvPr>
          <p:cNvSpPr>
            <a:spLocks xmlns:a="http://schemas.openxmlformats.org/drawingml/2006/main" noGrp="1"/>
          </p:cNvSpPr>
          <p:nvPr/>
        </p:nvSpPr>
        <p:spPr>
          <a:xfrm xmlns:a="http://schemas.openxmlformats.org/drawingml/2006/main">
            <a:off x="8886825" y="2447925"/>
            <a:ext cx="25622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Operaciones y auditoría</a:t>
            </a:r>
          </a:p>
        </p:txBody>
      </p:sp>
      <p:sp>
        <p:nvSpPr>
          <p:cNvPr id="15" name="">
            <a:extLst xmlns:a="http://schemas.openxmlformats.org/drawingml/2006/main">
              <a:ext uri="{FF2B5EF4-FFF2-40B4-BE49-F238E27FC236}">
                <a16:creationId xmlns:a16="http://schemas.microsoft.com/office/drawing/2014/main" id="{EACEC1F4-F523-4602-ABB9-A85EBE5014C2}"/>
              </a:ext>
            </a:extLst>
          </p:cNvPr>
          <p:cNvSpPr>
            <a:spLocks xmlns:a="http://schemas.openxmlformats.org/drawingml/2006/main" noGrp="1"/>
          </p:cNvSpPr>
          <p:nvPr/>
        </p:nvSpPr>
        <p:spPr>
          <a:xfrm xmlns:a="http://schemas.openxmlformats.org/drawingml/2006/main">
            <a:off x="8810625" y="3952875"/>
            <a:ext cx="2714625" cy="147637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16" name="">
            <a:extLst xmlns:a="http://schemas.openxmlformats.org/drawingml/2006/main">
              <a:ext uri="{FF2B5EF4-FFF2-40B4-BE49-F238E27FC236}">
                <a16:creationId xmlns:a16="http://schemas.microsoft.com/office/drawing/2014/main" id="{2D535442-8FA1-4E3F-80A0-1D4D0C2A65FD}"/>
              </a:ext>
            </a:extLst>
          </p:cNvPr>
          <p:cNvSpPr>
            <a:spLocks xmlns:a="http://schemas.openxmlformats.org/drawingml/2006/main" noGrp="1"/>
          </p:cNvSpPr>
          <p:nvPr/>
        </p:nvSpPr>
        <p:spPr>
          <a:xfrm xmlns:a="http://schemas.openxmlformats.org/drawingml/2006/main">
            <a:off x="8886825" y="4124325"/>
            <a:ext cx="2562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Notificaciones</a:t>
            </a:r>
          </a:p>
        </p:txBody>
      </p:sp>
      <p:sp>
        <p:nvSpPr>
          <p:cNvPr id="17" name="">
            <a:extLst xmlns:a="http://schemas.openxmlformats.org/drawingml/2006/main">
              <a:ext uri="{FF2B5EF4-FFF2-40B4-BE49-F238E27FC236}">
                <a16:creationId xmlns:a16="http://schemas.microsoft.com/office/drawing/2014/main" id="{036CCE4A-1946-4B96-9F83-5F74D981F769}"/>
              </a:ext>
            </a:extLst>
          </p:cNvPr>
          <p:cNvSpPr>
            <a:spLocks xmlns:a="http://schemas.openxmlformats.org/drawingml/2006/main" noGrp="1"/>
          </p:cNvSpPr>
          <p:nvPr/>
        </p:nvSpPr>
        <p:spPr>
          <a:xfrm xmlns:a="http://schemas.openxmlformats.org/drawingml/2006/main">
            <a:off x="8886825" y="4638675"/>
            <a:ext cx="2562225" cy="752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Correo y SMS</a:t>
            </a:r>
          </a:p>
        </p:txBody>
      </p:sp>
      <p:cxnSp>
        <p:nvCxnSpPr>
          <p:cNvPr id="40" name=""/>
          <p:cNvCxnSpPr>
            <a:stCxn xmlns:a="http://schemas.openxmlformats.org/drawingml/2006/main" id="3" idx="3"/>
            <a:endCxn xmlns:a="http://schemas.openxmlformats.org/drawingml/2006/main" id="9" idx="1"/>
          </p:cNvCxnSpPr>
          <p:nvPr/>
        </p:nvCxnSpPr>
        <p:spPr>
          <a:xfrm xmlns:a="http://schemas.openxmlformats.org/drawingml/2006/main">
            <a:off x="3476625" y="2500313"/>
            <a:ext cx="1285875" cy="1095375"/>
          </a:xfrm>
          <a:prstGeom xmlns:a="http://schemas.openxmlformats.org/drawingml/2006/main" prst="bentConnector3">
            <a:avLst>
              <a:gd name="adj1" fmla="val 50000"/>
            </a:avLst>
          </a:prstGeom>
          <a:ln xmlns:a="http://schemas.openxmlformats.org/drawingml/2006/main" w="28575">
            <a:solidFill>
              <a:srgbClr val="D99A32"/>
            </a:solidFill>
            <a:tailEnd type="arrow" w="med" len="med"/>
          </a:ln>
        </p:spPr>
      </p:cxnSp>
      <p:cxnSp>
        <p:nvCxnSpPr>
          <p:cNvPr id="41" name=""/>
          <p:cNvCxnSpPr>
            <a:stCxn xmlns:a="http://schemas.openxmlformats.org/drawingml/2006/main" id="6" idx="3"/>
            <a:endCxn xmlns:a="http://schemas.openxmlformats.org/drawingml/2006/main" id="9" idx="1"/>
          </p:cNvCxnSpPr>
          <p:nvPr/>
        </p:nvCxnSpPr>
        <p:spPr>
          <a:xfrm xmlns:a="http://schemas.openxmlformats.org/drawingml/2006/main" flipV="1">
            <a:off x="3476625" y="3595688"/>
            <a:ext cx="1285875" cy="1095375"/>
          </a:xfrm>
          <a:prstGeom xmlns:a="http://schemas.openxmlformats.org/drawingml/2006/main" prst="bentConnector3">
            <a:avLst>
              <a:gd name="adj1" fmla="val 50000"/>
            </a:avLst>
          </a:prstGeom>
          <a:ln xmlns:a="http://schemas.openxmlformats.org/drawingml/2006/main" w="28575">
            <a:solidFill>
              <a:srgbClr val="D99A32"/>
            </a:solidFill>
            <a:tailEnd type="arrow" w="med" len="med"/>
          </a:ln>
        </p:spPr>
      </p:cxnSp>
      <p:cxnSp>
        <p:nvCxnSpPr>
          <p:cNvPr id="42" name=""/>
          <p:cNvCxnSpPr>
            <a:stCxn xmlns:a="http://schemas.openxmlformats.org/drawingml/2006/main" id="9" idx="3"/>
            <a:endCxn xmlns:a="http://schemas.openxmlformats.org/drawingml/2006/main" id="12" idx="1"/>
          </p:cNvCxnSpPr>
          <p:nvPr/>
        </p:nvCxnSpPr>
        <p:spPr>
          <a:xfrm xmlns:a="http://schemas.openxmlformats.org/drawingml/2006/main" flipV="1">
            <a:off x="7620000" y="2500313"/>
            <a:ext cx="1190625" cy="1095375"/>
          </a:xfrm>
          <a:prstGeom xmlns:a="http://schemas.openxmlformats.org/drawingml/2006/main" prst="bentConnector3">
            <a:avLst>
              <a:gd name="adj1" fmla="val 50000"/>
            </a:avLst>
          </a:prstGeom>
          <a:ln xmlns:a="http://schemas.openxmlformats.org/drawingml/2006/main" w="28575">
            <a:solidFill>
              <a:srgbClr val="D99A32"/>
            </a:solidFill>
            <a:tailEnd type="arrow" w="med" len="med"/>
          </a:ln>
        </p:spPr>
      </p:cxnSp>
      <p:cxnSp>
        <p:nvCxnSpPr>
          <p:cNvPr id="43" name=""/>
          <p:cNvCxnSpPr>
            <a:stCxn xmlns:a="http://schemas.openxmlformats.org/drawingml/2006/main" id="9" idx="3"/>
            <a:endCxn xmlns:a="http://schemas.openxmlformats.org/drawingml/2006/main" id="15" idx="1"/>
          </p:cNvCxnSpPr>
          <p:nvPr/>
        </p:nvCxnSpPr>
        <p:spPr>
          <a:xfrm xmlns:a="http://schemas.openxmlformats.org/drawingml/2006/main">
            <a:off x="7620000" y="3595688"/>
            <a:ext cx="1190625" cy="1095375"/>
          </a:xfrm>
          <a:prstGeom xmlns:a="http://schemas.openxmlformats.org/drawingml/2006/main" prst="bentConnector3">
            <a:avLst>
              <a:gd name="adj1" fmla="val 50000"/>
            </a:avLst>
          </a:prstGeom>
          <a:ln xmlns:a="http://schemas.openxmlformats.org/drawingml/2006/main" w="28575">
            <a:solidFill>
              <a:srgbClr val="D99A32"/>
            </a:solidFill>
            <a:tailEnd type="arrow" w="med" len="med"/>
          </a:ln>
        </p:spPr>
      </p:cxnSp>
      <p:sp>
        <p:nvSpPr>
          <p:cNvPr id="22" name="">
            <a:extLst xmlns:a="http://schemas.openxmlformats.org/drawingml/2006/main">
              <a:ext uri="{FF2B5EF4-FFF2-40B4-BE49-F238E27FC236}">
                <a16:creationId xmlns:a16="http://schemas.microsoft.com/office/drawing/2014/main" id="{F9AF2016-21DC-43D1-9061-5A6D68068353}"/>
              </a:ext>
            </a:extLst>
          </p:cNvPr>
          <p:cNvSpPr>
            <a:spLocks xmlns:a="http://schemas.openxmlformats.org/drawingml/2006/main" noGrp="1"/>
          </p:cNvSpPr>
          <p:nvPr/>
        </p:nvSpPr>
        <p:spPr>
          <a:xfrm xmlns:a="http://schemas.openxmlformats.org/drawingml/2006/main">
            <a:off x="666750" y="5762625"/>
            <a:ext cx="10668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66B"/>
                </a:solidFill>
                <a:latin typeface="DejaVu Sans"/>
                <a:ea typeface="DejaVu Sans"/>
                <a:cs typeface="DejaVu Sans"/>
              </a:defRPr>
            </a:pPr>
            <a:r>
              <a:rPr sz="1950" b="0">
                <a:solidFill>
                  <a:srgbClr val="53666B"/>
                </a:solidFill>
                <a:latin typeface="DejaVu Sans"/>
                <a:ea typeface="DejaVu Sans"/>
                <a:cs typeface="DejaVu Sans"/>
              </a:rPr>
              <a:t>Ambas aplicaciones comparten las mismas reglas y existencias</a:t>
            </a:r>
          </a:p>
        </p:txBody>
      </p:sp>
    </p:spTree>
    <p:extLst>
      <p:ext uri="{BB962C8B-B14F-4D97-AF65-F5344CB8AC3E}">
        <p14:creationId xmlns:p14="http://schemas.microsoft.com/office/powerpoint/2010/main" val="882500254"/>
      </p:ext>
    </p:extLst>
  </p:cSld>
</p:sld>
</file>

<file path=ppt/slides/slide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5AD71AEA-3665-447D-95BE-A89ABD84D5BC}"/>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Responsabilidades por rol</a:t>
            </a:r>
          </a:p>
        </p:txBody>
      </p:sp>
      <p:sp>
        <p:nvSpPr>
          <p:cNvPr id="2" name="">
            <a:extLst xmlns:a="http://schemas.openxmlformats.org/drawingml/2006/main">
              <a:ext uri="{FF2B5EF4-FFF2-40B4-BE49-F238E27FC236}">
                <a16:creationId xmlns:a16="http://schemas.microsoft.com/office/drawing/2014/main" id="{F221A198-584E-41EF-B854-28948EF45FE0}"/>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04</a:t>
            </a:r>
          </a:p>
        </p:txBody>
      </p:sp>
      <p:sp>
        <p:nvSpPr>
          <p:cNvPr id="3" name="">
            <a:extLst xmlns:a="http://schemas.openxmlformats.org/drawingml/2006/main">
              <a:ext uri="{FF2B5EF4-FFF2-40B4-BE49-F238E27FC236}">
                <a16:creationId xmlns:a16="http://schemas.microsoft.com/office/drawing/2014/main" id="{9FAA14A5-698F-46C9-9065-6803EC899B54}"/>
              </a:ext>
            </a:extLst>
          </p:cNvPr>
          <p:cNvSpPr>
            <a:spLocks xmlns:a="http://schemas.openxmlformats.org/drawingml/2006/main" noGrp="1"/>
          </p:cNvSpPr>
          <p:nvPr/>
        </p:nvSpPr>
        <p:spPr>
          <a:xfrm xmlns:a="http://schemas.openxmlformats.org/drawingml/2006/main">
            <a:off x="666750" y="17621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Administrador</a:t>
            </a:r>
          </a:p>
        </p:txBody>
      </p:sp>
      <p:sp>
        <p:nvSpPr>
          <p:cNvPr id="4" name="">
            <a:extLst xmlns:a="http://schemas.openxmlformats.org/drawingml/2006/main">
              <a:ext uri="{FF2B5EF4-FFF2-40B4-BE49-F238E27FC236}">
                <a16:creationId xmlns:a16="http://schemas.microsoft.com/office/drawing/2014/main" id="{3C4310DB-7D7E-40DF-A2FB-F472B261D50A}"/>
              </a:ext>
            </a:extLst>
          </p:cNvPr>
          <p:cNvSpPr>
            <a:spLocks xmlns:a="http://schemas.openxmlformats.org/drawingml/2006/main" noGrp="1"/>
          </p:cNvSpPr>
          <p:nvPr/>
        </p:nvSpPr>
        <p:spPr>
          <a:xfrm xmlns:a="http://schemas.openxmlformats.org/drawingml/2006/main">
            <a:off x="4095750" y="176212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Usuarios, configuración, inventario y seguridad</a:t>
            </a:r>
          </a:p>
        </p:txBody>
      </p:sp>
      <p:sp>
        <p:nvSpPr>
          <p:cNvPr id="5" name="">
            <a:extLst xmlns:a="http://schemas.openxmlformats.org/drawingml/2006/main">
              <a:ext uri="{FF2B5EF4-FFF2-40B4-BE49-F238E27FC236}">
                <a16:creationId xmlns:a16="http://schemas.microsoft.com/office/drawing/2014/main" id="{902FFFD5-FBAF-489D-A347-E564B359C0BD}"/>
              </a:ext>
            </a:extLst>
          </p:cNvPr>
          <p:cNvSpPr>
            <a:spLocks xmlns:a="http://schemas.openxmlformats.org/drawingml/2006/main" noGrp="1"/>
          </p:cNvSpPr>
          <p:nvPr/>
        </p:nvSpPr>
        <p:spPr>
          <a:xfrm xmlns:a="http://schemas.openxmlformats.org/drawingml/2006/main">
            <a:off x="666750" y="26003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Supervisor</a:t>
            </a:r>
          </a:p>
        </p:txBody>
      </p:sp>
      <p:sp>
        <p:nvSpPr>
          <p:cNvPr id="6" name="">
            <a:extLst xmlns:a="http://schemas.openxmlformats.org/drawingml/2006/main">
              <a:ext uri="{FF2B5EF4-FFF2-40B4-BE49-F238E27FC236}">
                <a16:creationId xmlns:a16="http://schemas.microsoft.com/office/drawing/2014/main" id="{36E779B3-C734-4643-BDE5-F455D1FCD8E9}"/>
              </a:ext>
            </a:extLst>
          </p:cNvPr>
          <p:cNvSpPr>
            <a:spLocks xmlns:a="http://schemas.openxmlformats.org/drawingml/2006/main" noGrp="1"/>
          </p:cNvSpPr>
          <p:nvPr/>
        </p:nvSpPr>
        <p:spPr>
          <a:xfrm xmlns:a="http://schemas.openxmlformats.org/drawingml/2006/main">
            <a:off x="4095750" y="260032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Solicitudes, aprobaciones y suministro</a:t>
            </a:r>
          </a:p>
        </p:txBody>
      </p:sp>
      <p:sp>
        <p:nvSpPr>
          <p:cNvPr id="7" name="">
            <a:extLst xmlns:a="http://schemas.openxmlformats.org/drawingml/2006/main">
              <a:ext uri="{FF2B5EF4-FFF2-40B4-BE49-F238E27FC236}">
                <a16:creationId xmlns:a16="http://schemas.microsoft.com/office/drawing/2014/main" id="{3D846AE5-1366-49EE-8B79-BD70DEA1C5CD}"/>
              </a:ext>
            </a:extLst>
          </p:cNvPr>
          <p:cNvSpPr>
            <a:spLocks xmlns:a="http://schemas.openxmlformats.org/drawingml/2006/main" noGrp="1"/>
          </p:cNvSpPr>
          <p:nvPr/>
        </p:nvSpPr>
        <p:spPr>
          <a:xfrm xmlns:a="http://schemas.openxmlformats.org/drawingml/2006/main">
            <a:off x="666750" y="34385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Despachador</a:t>
            </a:r>
          </a:p>
        </p:txBody>
      </p:sp>
      <p:sp>
        <p:nvSpPr>
          <p:cNvPr id="8" name="">
            <a:extLst xmlns:a="http://schemas.openxmlformats.org/drawingml/2006/main">
              <a:ext uri="{FF2B5EF4-FFF2-40B4-BE49-F238E27FC236}">
                <a16:creationId xmlns:a16="http://schemas.microsoft.com/office/drawing/2014/main" id="{C7D2037F-CFE3-4B71-8FFC-C95962E05DBA}"/>
              </a:ext>
            </a:extLst>
          </p:cNvPr>
          <p:cNvSpPr>
            <a:spLocks xmlns:a="http://schemas.openxmlformats.org/drawingml/2006/main" noGrp="1"/>
          </p:cNvSpPr>
          <p:nvPr/>
        </p:nvSpPr>
        <p:spPr>
          <a:xfrm xmlns:a="http://schemas.openxmlformats.org/drawingml/2006/main">
            <a:off x="4095750" y="343852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QR, identidad, despacho y cierre</a:t>
            </a:r>
          </a:p>
        </p:txBody>
      </p:sp>
      <p:sp>
        <p:nvSpPr>
          <p:cNvPr id="9" name="">
            <a:extLst xmlns:a="http://schemas.openxmlformats.org/drawingml/2006/main">
              <a:ext uri="{FF2B5EF4-FFF2-40B4-BE49-F238E27FC236}">
                <a16:creationId xmlns:a16="http://schemas.microsoft.com/office/drawing/2014/main" id="{3C61AEAC-63B0-4501-AD15-C2767F319AC5}"/>
              </a:ext>
            </a:extLst>
          </p:cNvPr>
          <p:cNvSpPr>
            <a:spLocks xmlns:a="http://schemas.openxmlformats.org/drawingml/2006/main" noGrp="1"/>
          </p:cNvSpPr>
          <p:nvPr/>
        </p:nvSpPr>
        <p:spPr>
          <a:xfrm xmlns:a="http://schemas.openxmlformats.org/drawingml/2006/main">
            <a:off x="666750" y="42767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Solicitante</a:t>
            </a:r>
          </a:p>
        </p:txBody>
      </p:sp>
      <p:sp>
        <p:nvSpPr>
          <p:cNvPr id="10" name="">
            <a:extLst xmlns:a="http://schemas.openxmlformats.org/drawingml/2006/main">
              <a:ext uri="{FF2B5EF4-FFF2-40B4-BE49-F238E27FC236}">
                <a16:creationId xmlns:a16="http://schemas.microsoft.com/office/drawing/2014/main" id="{73B83EBB-0501-458A-8FD2-4A346F325F27}"/>
              </a:ext>
            </a:extLst>
          </p:cNvPr>
          <p:cNvSpPr>
            <a:spLocks xmlns:a="http://schemas.openxmlformats.org/drawingml/2006/main" noGrp="1"/>
          </p:cNvSpPr>
          <p:nvPr/>
        </p:nvSpPr>
        <p:spPr>
          <a:xfrm xmlns:a="http://schemas.openxmlformats.org/drawingml/2006/main">
            <a:off x="4095750" y="427672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Solicitud y consulta de sus tickets</a:t>
            </a:r>
          </a:p>
        </p:txBody>
      </p:sp>
      <p:sp>
        <p:nvSpPr>
          <p:cNvPr id="11" name="">
            <a:extLst xmlns:a="http://schemas.openxmlformats.org/drawingml/2006/main">
              <a:ext uri="{FF2B5EF4-FFF2-40B4-BE49-F238E27FC236}">
                <a16:creationId xmlns:a16="http://schemas.microsoft.com/office/drawing/2014/main" id="{2F019DA9-3CEF-4A80-A944-ACFEE23B6932}"/>
              </a:ext>
            </a:extLst>
          </p:cNvPr>
          <p:cNvSpPr>
            <a:spLocks xmlns:a="http://schemas.openxmlformats.org/drawingml/2006/main" noGrp="1"/>
          </p:cNvSpPr>
          <p:nvPr/>
        </p:nvSpPr>
        <p:spPr>
          <a:xfrm xmlns:a="http://schemas.openxmlformats.org/drawingml/2006/main">
            <a:off x="666750" y="5114925"/>
            <a:ext cx="3143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73D35"/>
                </a:solidFill>
                <a:latin typeface="DejaVu Sans"/>
                <a:ea typeface="DejaVu Sans"/>
                <a:cs typeface="DejaVu Sans"/>
              </a:defRPr>
            </a:pPr>
            <a:r>
              <a:rPr sz="2100" b="1">
                <a:solidFill>
                  <a:srgbClr val="173D35"/>
                </a:solidFill>
                <a:latin typeface="DejaVu Sans"/>
                <a:ea typeface="DejaVu Sans"/>
                <a:cs typeface="DejaVu Sans"/>
              </a:rPr>
              <a:t>Auditor / Consulta</a:t>
            </a:r>
          </a:p>
        </p:txBody>
      </p:sp>
      <p:sp>
        <p:nvSpPr>
          <p:cNvPr id="12" name="">
            <a:extLst xmlns:a="http://schemas.openxmlformats.org/drawingml/2006/main">
              <a:ext uri="{FF2B5EF4-FFF2-40B4-BE49-F238E27FC236}">
                <a16:creationId xmlns:a16="http://schemas.microsoft.com/office/drawing/2014/main" id="{73EA334F-C409-4534-B236-DB793127ED68}"/>
              </a:ext>
            </a:extLst>
          </p:cNvPr>
          <p:cNvSpPr>
            <a:spLocks xmlns:a="http://schemas.openxmlformats.org/drawingml/2006/main" noGrp="1"/>
          </p:cNvSpPr>
          <p:nvPr/>
        </p:nvSpPr>
        <p:spPr>
          <a:xfrm xmlns:a="http://schemas.openxmlformats.org/drawingml/2006/main">
            <a:off x="4095750" y="5114925"/>
            <a:ext cx="75247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Lectura y revisión según los permisos asignados</a:t>
            </a:r>
          </a:p>
        </p:txBody>
      </p:sp>
    </p:spTree>
    <p:extLst>
      <p:ext uri="{BB962C8B-B14F-4D97-AF65-F5344CB8AC3E}">
        <p14:creationId xmlns:p14="http://schemas.microsoft.com/office/powerpoint/2010/main" val="1559073387"/>
      </p:ext>
    </p:extLst>
  </p:cSld>
</p:sld>
</file>

<file path=ppt/slides/slide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4" name="">
            <a:extLst xmlns:a="http://schemas.openxmlformats.org/drawingml/2006/main">
              <a:ext uri="{FF2B5EF4-FFF2-40B4-BE49-F238E27FC236}">
                <a16:creationId xmlns:a16="http://schemas.microsoft.com/office/drawing/2014/main" id="{0392FD64-08AC-4E8A-89C8-76392EFD91CF}"/>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Del pedido al cierre</a:t>
            </a:r>
          </a:p>
        </p:txBody>
      </p:sp>
      <p:sp>
        <p:nvSpPr>
          <p:cNvPr id="2" name="">
            <a:extLst xmlns:a="http://schemas.openxmlformats.org/drawingml/2006/main">
              <a:ext uri="{FF2B5EF4-FFF2-40B4-BE49-F238E27FC236}">
                <a16:creationId xmlns:a16="http://schemas.microsoft.com/office/drawing/2014/main" id="{DF1A4877-7FCE-407E-9AFC-2BB3A60AA149}"/>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05</a:t>
            </a:r>
          </a:p>
        </p:txBody>
      </p:sp>
      <p:sp>
        <p:nvSpPr>
          <p:cNvPr id="3" name="">
            <a:extLst xmlns:a="http://schemas.openxmlformats.org/drawingml/2006/main">
              <a:ext uri="{FF2B5EF4-FFF2-40B4-BE49-F238E27FC236}">
                <a16:creationId xmlns:a16="http://schemas.microsoft.com/office/drawing/2014/main" id="{B8C01336-5CC2-44BE-9AD8-B391867F3D06}"/>
              </a:ext>
            </a:extLst>
          </p:cNvPr>
          <p:cNvSpPr>
            <a:spLocks xmlns:a="http://schemas.openxmlformats.org/drawingml/2006/main" noGrp="1"/>
          </p:cNvSpPr>
          <p:nvPr/>
        </p:nvSpPr>
        <p:spPr>
          <a:xfrm xmlns:a="http://schemas.openxmlformats.org/drawingml/2006/main">
            <a:off x="619125" y="2619375"/>
            <a:ext cx="2000250" cy="15716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4" name="">
            <a:extLst xmlns:a="http://schemas.openxmlformats.org/drawingml/2006/main">
              <a:ext uri="{FF2B5EF4-FFF2-40B4-BE49-F238E27FC236}">
                <a16:creationId xmlns:a16="http://schemas.microsoft.com/office/drawing/2014/main" id="{9A4F1358-9CA9-4738-B703-99B466787E52}"/>
              </a:ext>
            </a:extLst>
          </p:cNvPr>
          <p:cNvSpPr>
            <a:spLocks xmlns:a="http://schemas.openxmlformats.org/drawingml/2006/main" noGrp="1"/>
          </p:cNvSpPr>
          <p:nvPr/>
        </p:nvSpPr>
        <p:spPr>
          <a:xfrm xmlns:a="http://schemas.openxmlformats.org/drawingml/2006/main">
            <a:off x="695325" y="279082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D35"/>
                </a:solidFill>
                <a:latin typeface="DejaVu Sans"/>
                <a:ea typeface="DejaVu Sans"/>
                <a:cs typeface="DejaVu Sans"/>
              </a:defRPr>
            </a:pPr>
            <a:r>
              <a:rPr sz="1800" b="1">
                <a:solidFill>
                  <a:srgbClr val="173D35"/>
                </a:solidFill>
                <a:latin typeface="DejaVu Sans"/>
                <a:ea typeface="DejaVu Sans"/>
                <a:cs typeface="DejaVu Sans"/>
              </a:rPr>
              <a:t>Solicitud</a:t>
            </a:r>
          </a:p>
        </p:txBody>
      </p:sp>
      <p:sp>
        <p:nvSpPr>
          <p:cNvPr id="5" name="">
            <a:extLst xmlns:a="http://schemas.openxmlformats.org/drawingml/2006/main">
              <a:ext uri="{FF2B5EF4-FFF2-40B4-BE49-F238E27FC236}">
                <a16:creationId xmlns:a16="http://schemas.microsoft.com/office/drawing/2014/main" id="{6A5C5A93-2540-4327-B48A-1161FA88CABB}"/>
              </a:ext>
            </a:extLst>
          </p:cNvPr>
          <p:cNvSpPr>
            <a:spLocks xmlns:a="http://schemas.openxmlformats.org/drawingml/2006/main" noGrp="1"/>
          </p:cNvSpPr>
          <p:nvPr/>
        </p:nvSpPr>
        <p:spPr>
          <a:xfrm xmlns:a="http://schemas.openxmlformats.org/drawingml/2006/main">
            <a:off x="695325" y="3305175"/>
            <a:ext cx="1847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Empleado y vehículo</a:t>
            </a:r>
          </a:p>
        </p:txBody>
      </p:sp>
      <p:sp>
        <p:nvSpPr>
          <p:cNvPr id="6" name="">
            <a:extLst xmlns:a="http://schemas.openxmlformats.org/drawingml/2006/main">
              <a:ext uri="{FF2B5EF4-FFF2-40B4-BE49-F238E27FC236}">
                <a16:creationId xmlns:a16="http://schemas.microsoft.com/office/drawing/2014/main" id="{ECB42E22-2F64-44C9-83AE-3E93F4540F66}"/>
              </a:ext>
            </a:extLst>
          </p:cNvPr>
          <p:cNvSpPr>
            <a:spLocks xmlns:a="http://schemas.openxmlformats.org/drawingml/2006/main" noGrp="1"/>
          </p:cNvSpPr>
          <p:nvPr/>
        </p:nvSpPr>
        <p:spPr>
          <a:xfrm xmlns:a="http://schemas.openxmlformats.org/drawingml/2006/main">
            <a:off x="2857500" y="2619375"/>
            <a:ext cx="2000250" cy="15716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7" name="">
            <a:extLst xmlns:a="http://schemas.openxmlformats.org/drawingml/2006/main">
              <a:ext uri="{FF2B5EF4-FFF2-40B4-BE49-F238E27FC236}">
                <a16:creationId xmlns:a16="http://schemas.microsoft.com/office/drawing/2014/main" id="{5FBC2E9A-572A-461F-9789-18AC6A4D67C7}"/>
              </a:ext>
            </a:extLst>
          </p:cNvPr>
          <p:cNvSpPr>
            <a:spLocks xmlns:a="http://schemas.openxmlformats.org/drawingml/2006/main" noGrp="1"/>
          </p:cNvSpPr>
          <p:nvPr/>
        </p:nvSpPr>
        <p:spPr>
          <a:xfrm xmlns:a="http://schemas.openxmlformats.org/drawingml/2006/main">
            <a:off x="2933700" y="279082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D35"/>
                </a:solidFill>
                <a:latin typeface="DejaVu Sans"/>
                <a:ea typeface="DejaVu Sans"/>
                <a:cs typeface="DejaVu Sans"/>
              </a:defRPr>
            </a:pPr>
            <a:r>
              <a:rPr sz="1800" b="1">
                <a:solidFill>
                  <a:srgbClr val="173D35"/>
                </a:solidFill>
                <a:latin typeface="DejaVu Sans"/>
                <a:ea typeface="DejaVu Sans"/>
                <a:cs typeface="DejaVu Sans"/>
              </a:rPr>
              <a:t>Aprobación</a:t>
            </a:r>
          </a:p>
        </p:txBody>
      </p:sp>
      <p:sp>
        <p:nvSpPr>
          <p:cNvPr id="8" name="">
            <a:extLst xmlns:a="http://schemas.openxmlformats.org/drawingml/2006/main">
              <a:ext uri="{FF2B5EF4-FFF2-40B4-BE49-F238E27FC236}">
                <a16:creationId xmlns:a16="http://schemas.microsoft.com/office/drawing/2014/main" id="{9C0AF9B8-A6A8-4AE4-B315-F0EE4BADDBFB}"/>
              </a:ext>
            </a:extLst>
          </p:cNvPr>
          <p:cNvSpPr>
            <a:spLocks xmlns:a="http://schemas.openxmlformats.org/drawingml/2006/main" noGrp="1"/>
          </p:cNvSpPr>
          <p:nvPr/>
        </p:nvSpPr>
        <p:spPr>
          <a:xfrm xmlns:a="http://schemas.openxmlformats.org/drawingml/2006/main">
            <a:off x="2933700" y="3305175"/>
            <a:ext cx="1847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Cantidad y vigencia</a:t>
            </a:r>
          </a:p>
        </p:txBody>
      </p:sp>
      <p:cxnSp>
        <p:nvCxnSpPr>
          <p:cNvPr id="32" name=""/>
          <p:cNvCxnSpPr>
            <a:stCxn xmlns:a="http://schemas.openxmlformats.org/drawingml/2006/main" id="3" idx="3"/>
            <a:endCxn xmlns:a="http://schemas.openxmlformats.org/drawingml/2006/main" id="6" idx="1"/>
          </p:cNvCxnSpPr>
          <p:nvPr/>
        </p:nvCxnSpPr>
        <p:spPr>
          <a:xfrm xmlns:a="http://schemas.openxmlformats.org/drawingml/2006/main">
            <a:off x="2619375" y="3405188"/>
            <a:ext cx="238125" cy="0"/>
          </a:xfrm>
          <a:prstGeom xmlns:a="http://schemas.openxmlformats.org/drawingml/2006/main" prst="straightConnector1">
            <a:avLst/>
          </a:prstGeom>
          <a:ln xmlns:a="http://schemas.openxmlformats.org/drawingml/2006/main" w="28575">
            <a:solidFill>
              <a:srgbClr val="D99A32"/>
            </a:solidFill>
            <a:tailEnd type="arrow" w="med" len="med"/>
          </a:ln>
        </p:spPr>
      </p:cxnSp>
      <p:sp>
        <p:nvSpPr>
          <p:cNvPr id="10" name="">
            <a:extLst xmlns:a="http://schemas.openxmlformats.org/drawingml/2006/main">
              <a:ext uri="{FF2B5EF4-FFF2-40B4-BE49-F238E27FC236}">
                <a16:creationId xmlns:a16="http://schemas.microsoft.com/office/drawing/2014/main" id="{B47C2BEE-25AB-4964-B9E5-CAC5759F8500}"/>
              </a:ext>
            </a:extLst>
          </p:cNvPr>
          <p:cNvSpPr>
            <a:spLocks xmlns:a="http://schemas.openxmlformats.org/drawingml/2006/main" noGrp="1"/>
          </p:cNvSpPr>
          <p:nvPr/>
        </p:nvSpPr>
        <p:spPr>
          <a:xfrm xmlns:a="http://schemas.openxmlformats.org/drawingml/2006/main">
            <a:off x="5095875" y="2619375"/>
            <a:ext cx="2000250" cy="15716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11" name="">
            <a:extLst xmlns:a="http://schemas.openxmlformats.org/drawingml/2006/main">
              <a:ext uri="{FF2B5EF4-FFF2-40B4-BE49-F238E27FC236}">
                <a16:creationId xmlns:a16="http://schemas.microsoft.com/office/drawing/2014/main" id="{411A3175-04E1-4170-8ADF-B8F4E1A61AD2}"/>
              </a:ext>
            </a:extLst>
          </p:cNvPr>
          <p:cNvSpPr>
            <a:spLocks xmlns:a="http://schemas.openxmlformats.org/drawingml/2006/main" noGrp="1"/>
          </p:cNvSpPr>
          <p:nvPr/>
        </p:nvSpPr>
        <p:spPr>
          <a:xfrm xmlns:a="http://schemas.openxmlformats.org/drawingml/2006/main">
            <a:off x="5172075" y="279082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D35"/>
                </a:solidFill>
                <a:latin typeface="DejaVu Sans"/>
                <a:ea typeface="DejaVu Sans"/>
                <a:cs typeface="DejaVu Sans"/>
              </a:defRPr>
            </a:pPr>
            <a:r>
              <a:rPr sz="1800" b="1">
                <a:solidFill>
                  <a:srgbClr val="173D35"/>
                </a:solidFill>
                <a:latin typeface="DejaVu Sans"/>
                <a:ea typeface="DejaVu Sans"/>
                <a:cs typeface="DejaVu Sans"/>
              </a:rPr>
              <a:t>Ticket</a:t>
            </a:r>
          </a:p>
        </p:txBody>
      </p:sp>
      <p:sp>
        <p:nvSpPr>
          <p:cNvPr id="12" name="">
            <a:extLst xmlns:a="http://schemas.openxmlformats.org/drawingml/2006/main">
              <a:ext uri="{FF2B5EF4-FFF2-40B4-BE49-F238E27FC236}">
                <a16:creationId xmlns:a16="http://schemas.microsoft.com/office/drawing/2014/main" id="{95AE76F9-FC23-4E60-A387-2D1CCFA1CB7B}"/>
              </a:ext>
            </a:extLst>
          </p:cNvPr>
          <p:cNvSpPr>
            <a:spLocks xmlns:a="http://schemas.openxmlformats.org/drawingml/2006/main" noGrp="1"/>
          </p:cNvSpPr>
          <p:nvPr/>
        </p:nvSpPr>
        <p:spPr>
          <a:xfrm xmlns:a="http://schemas.openxmlformats.org/drawingml/2006/main">
            <a:off x="5172075" y="3305175"/>
            <a:ext cx="1847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PDF y QR firmado</a:t>
            </a:r>
          </a:p>
        </p:txBody>
      </p:sp>
      <p:cxnSp>
        <p:nvCxnSpPr>
          <p:cNvPr id="36" name=""/>
          <p:cNvCxnSpPr>
            <a:stCxn xmlns:a="http://schemas.openxmlformats.org/drawingml/2006/main" id="6" idx="3"/>
            <a:endCxn xmlns:a="http://schemas.openxmlformats.org/drawingml/2006/main" id="10" idx="1"/>
          </p:cNvCxnSpPr>
          <p:nvPr/>
        </p:nvCxnSpPr>
        <p:spPr>
          <a:xfrm xmlns:a="http://schemas.openxmlformats.org/drawingml/2006/main">
            <a:off x="4857750" y="3405188"/>
            <a:ext cx="238125" cy="0"/>
          </a:xfrm>
          <a:prstGeom xmlns:a="http://schemas.openxmlformats.org/drawingml/2006/main" prst="straightConnector1">
            <a:avLst/>
          </a:prstGeom>
          <a:ln xmlns:a="http://schemas.openxmlformats.org/drawingml/2006/main" w="28575">
            <a:solidFill>
              <a:srgbClr val="D99A32"/>
            </a:solidFill>
            <a:tailEnd type="arrow" w="med" len="med"/>
          </a:ln>
        </p:spPr>
      </p:cxnSp>
      <p:sp>
        <p:nvSpPr>
          <p:cNvPr id="14" name="">
            <a:extLst xmlns:a="http://schemas.openxmlformats.org/drawingml/2006/main">
              <a:ext uri="{FF2B5EF4-FFF2-40B4-BE49-F238E27FC236}">
                <a16:creationId xmlns:a16="http://schemas.microsoft.com/office/drawing/2014/main" id="{7151DC95-1F8B-40D6-9583-C322E4AF7FC8}"/>
              </a:ext>
            </a:extLst>
          </p:cNvPr>
          <p:cNvSpPr>
            <a:spLocks xmlns:a="http://schemas.openxmlformats.org/drawingml/2006/main" noGrp="1"/>
          </p:cNvSpPr>
          <p:nvPr/>
        </p:nvSpPr>
        <p:spPr>
          <a:xfrm xmlns:a="http://schemas.openxmlformats.org/drawingml/2006/main">
            <a:off x="7334250" y="2619375"/>
            <a:ext cx="2000250" cy="15716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15" name="">
            <a:extLst xmlns:a="http://schemas.openxmlformats.org/drawingml/2006/main">
              <a:ext uri="{FF2B5EF4-FFF2-40B4-BE49-F238E27FC236}">
                <a16:creationId xmlns:a16="http://schemas.microsoft.com/office/drawing/2014/main" id="{F03C31F5-B81D-4A4B-9C23-F927496ECB2C}"/>
              </a:ext>
            </a:extLst>
          </p:cNvPr>
          <p:cNvSpPr>
            <a:spLocks xmlns:a="http://schemas.openxmlformats.org/drawingml/2006/main" noGrp="1"/>
          </p:cNvSpPr>
          <p:nvPr/>
        </p:nvSpPr>
        <p:spPr>
          <a:xfrm xmlns:a="http://schemas.openxmlformats.org/drawingml/2006/main">
            <a:off x="7410450" y="279082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D35"/>
                </a:solidFill>
                <a:latin typeface="DejaVu Sans"/>
                <a:ea typeface="DejaVu Sans"/>
                <a:cs typeface="DejaVu Sans"/>
              </a:defRPr>
            </a:pPr>
            <a:r>
              <a:rPr sz="1800" b="1">
                <a:solidFill>
                  <a:srgbClr val="173D35"/>
                </a:solidFill>
                <a:latin typeface="DejaVu Sans"/>
                <a:ea typeface="DejaVu Sans"/>
                <a:cs typeface="DejaVu Sans"/>
              </a:rPr>
              <a:t>Despacho</a:t>
            </a:r>
          </a:p>
        </p:txBody>
      </p:sp>
      <p:sp>
        <p:nvSpPr>
          <p:cNvPr id="16" name="">
            <a:extLst xmlns:a="http://schemas.openxmlformats.org/drawingml/2006/main">
              <a:ext uri="{FF2B5EF4-FFF2-40B4-BE49-F238E27FC236}">
                <a16:creationId xmlns:a16="http://schemas.microsoft.com/office/drawing/2014/main" id="{87D4566A-ADA6-4687-817C-44F00D0D8B6B}"/>
              </a:ext>
            </a:extLst>
          </p:cNvPr>
          <p:cNvSpPr>
            <a:spLocks xmlns:a="http://schemas.openxmlformats.org/drawingml/2006/main" noGrp="1"/>
          </p:cNvSpPr>
          <p:nvPr/>
        </p:nvSpPr>
        <p:spPr>
          <a:xfrm xmlns:a="http://schemas.openxmlformats.org/drawingml/2006/main">
            <a:off x="7410450" y="3305175"/>
            <a:ext cx="1847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Identidad y galones</a:t>
            </a:r>
          </a:p>
        </p:txBody>
      </p:sp>
      <p:cxnSp>
        <p:nvCxnSpPr>
          <p:cNvPr id="40" name=""/>
          <p:cNvCxnSpPr>
            <a:stCxn xmlns:a="http://schemas.openxmlformats.org/drawingml/2006/main" id="10" idx="3"/>
            <a:endCxn xmlns:a="http://schemas.openxmlformats.org/drawingml/2006/main" id="14" idx="1"/>
          </p:cNvCxnSpPr>
          <p:nvPr/>
        </p:nvCxnSpPr>
        <p:spPr>
          <a:xfrm xmlns:a="http://schemas.openxmlformats.org/drawingml/2006/main">
            <a:off x="7096125" y="3405188"/>
            <a:ext cx="238125" cy="0"/>
          </a:xfrm>
          <a:prstGeom xmlns:a="http://schemas.openxmlformats.org/drawingml/2006/main" prst="straightConnector1">
            <a:avLst/>
          </a:prstGeom>
          <a:ln xmlns:a="http://schemas.openxmlformats.org/drawingml/2006/main" w="28575">
            <a:solidFill>
              <a:srgbClr val="D99A32"/>
            </a:solidFill>
            <a:tailEnd type="arrow" w="med" len="med"/>
          </a:ln>
        </p:spPr>
      </p:cxnSp>
      <p:sp>
        <p:nvSpPr>
          <p:cNvPr id="18" name="">
            <a:extLst xmlns:a="http://schemas.openxmlformats.org/drawingml/2006/main">
              <a:ext uri="{FF2B5EF4-FFF2-40B4-BE49-F238E27FC236}">
                <a16:creationId xmlns:a16="http://schemas.microsoft.com/office/drawing/2014/main" id="{9D231E80-AED1-4AFC-8F99-F41642113890}"/>
              </a:ext>
            </a:extLst>
          </p:cNvPr>
          <p:cNvSpPr>
            <a:spLocks xmlns:a="http://schemas.openxmlformats.org/drawingml/2006/main" noGrp="1"/>
          </p:cNvSpPr>
          <p:nvPr/>
        </p:nvSpPr>
        <p:spPr>
          <a:xfrm xmlns:a="http://schemas.openxmlformats.org/drawingml/2006/main">
            <a:off x="9572625" y="2619375"/>
            <a:ext cx="2000250" cy="15716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19" name="">
            <a:extLst xmlns:a="http://schemas.openxmlformats.org/drawingml/2006/main">
              <a:ext uri="{FF2B5EF4-FFF2-40B4-BE49-F238E27FC236}">
                <a16:creationId xmlns:a16="http://schemas.microsoft.com/office/drawing/2014/main" id="{C90DC807-27DA-4DFC-B49C-5469388F4B7D}"/>
              </a:ext>
            </a:extLst>
          </p:cNvPr>
          <p:cNvSpPr>
            <a:spLocks xmlns:a="http://schemas.openxmlformats.org/drawingml/2006/main" noGrp="1"/>
          </p:cNvSpPr>
          <p:nvPr/>
        </p:nvSpPr>
        <p:spPr>
          <a:xfrm xmlns:a="http://schemas.openxmlformats.org/drawingml/2006/main">
            <a:off x="9648825" y="2790825"/>
            <a:ext cx="18478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73D35"/>
                </a:solidFill>
                <a:latin typeface="DejaVu Sans"/>
                <a:ea typeface="DejaVu Sans"/>
                <a:cs typeface="DejaVu Sans"/>
              </a:defRPr>
            </a:pPr>
            <a:r>
              <a:rPr sz="1800" b="1">
                <a:solidFill>
                  <a:srgbClr val="173D35"/>
                </a:solidFill>
                <a:latin typeface="DejaVu Sans"/>
                <a:ea typeface="DejaVu Sans"/>
                <a:cs typeface="DejaVu Sans"/>
              </a:rPr>
              <a:t>Control</a:t>
            </a:r>
          </a:p>
        </p:txBody>
      </p:sp>
      <p:sp>
        <p:nvSpPr>
          <p:cNvPr id="20" name="">
            <a:extLst xmlns:a="http://schemas.openxmlformats.org/drawingml/2006/main">
              <a:ext uri="{FF2B5EF4-FFF2-40B4-BE49-F238E27FC236}">
                <a16:creationId xmlns:a16="http://schemas.microsoft.com/office/drawing/2014/main" id="{73769800-3695-4DFE-ADA6-112955579977}"/>
              </a:ext>
            </a:extLst>
          </p:cNvPr>
          <p:cNvSpPr>
            <a:spLocks xmlns:a="http://schemas.openxmlformats.org/drawingml/2006/main" noGrp="1"/>
          </p:cNvSpPr>
          <p:nvPr/>
        </p:nvSpPr>
        <p:spPr>
          <a:xfrm xmlns:a="http://schemas.openxmlformats.org/drawingml/2006/main">
            <a:off x="9648825" y="3305175"/>
            <a:ext cx="184785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Saldo y auditoría</a:t>
            </a:r>
          </a:p>
        </p:txBody>
      </p:sp>
      <p:cxnSp>
        <p:nvCxnSpPr>
          <p:cNvPr id="44" name=""/>
          <p:cNvCxnSpPr>
            <a:stCxn xmlns:a="http://schemas.openxmlformats.org/drawingml/2006/main" id="14" idx="3"/>
            <a:endCxn xmlns:a="http://schemas.openxmlformats.org/drawingml/2006/main" id="18" idx="1"/>
          </p:cNvCxnSpPr>
          <p:nvPr/>
        </p:nvCxnSpPr>
        <p:spPr>
          <a:xfrm xmlns:a="http://schemas.openxmlformats.org/drawingml/2006/main">
            <a:off x="9334500" y="3405188"/>
            <a:ext cx="238125" cy="0"/>
          </a:xfrm>
          <a:prstGeom xmlns:a="http://schemas.openxmlformats.org/drawingml/2006/main" prst="straightConnector1">
            <a:avLst/>
          </a:prstGeom>
          <a:ln xmlns:a="http://schemas.openxmlformats.org/drawingml/2006/main" w="28575">
            <a:solidFill>
              <a:srgbClr val="D99A32"/>
            </a:solidFill>
            <a:tailEnd type="arrow" w="med" len="med"/>
          </a:ln>
        </p:spPr>
      </p:cxnSp>
      <p:sp>
        <p:nvSpPr>
          <p:cNvPr id="22" name="">
            <a:extLst xmlns:a="http://schemas.openxmlformats.org/drawingml/2006/main">
              <a:ext uri="{FF2B5EF4-FFF2-40B4-BE49-F238E27FC236}">
                <a16:creationId xmlns:a16="http://schemas.microsoft.com/office/drawing/2014/main" id="{BD43E99C-58A2-4A77-B42E-CA0380E2D696}"/>
              </a:ext>
            </a:extLst>
          </p:cNvPr>
          <p:cNvSpPr>
            <a:spLocks xmlns:a="http://schemas.openxmlformats.org/drawingml/2006/main" noGrp="1"/>
          </p:cNvSpPr>
          <p:nvPr/>
        </p:nvSpPr>
        <p:spPr>
          <a:xfrm xmlns:a="http://schemas.openxmlformats.org/drawingml/2006/main">
            <a:off x="666750" y="46672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1">
                <a:solidFill>
                  <a:srgbClr val="173D35"/>
                </a:solidFill>
                <a:latin typeface="DejaVu Sans"/>
                <a:ea typeface="DejaVu Sans"/>
                <a:cs typeface="DejaVu Sans"/>
              </a:defRPr>
            </a:pPr>
            <a:r>
              <a:rPr sz="2400" b="1">
                <a:solidFill>
                  <a:srgbClr val="173D35"/>
                </a:solidFill>
                <a:latin typeface="DejaVu Sans"/>
                <a:ea typeface="DejaVu Sans"/>
                <a:cs typeface="DejaVu Sans"/>
              </a:rPr>
              <a:t>El inventario disminuye cuando se confirma el despacho</a:t>
            </a:r>
          </a:p>
        </p:txBody>
      </p:sp>
      <p:sp>
        <p:nvSpPr>
          <p:cNvPr id="23" name="">
            <a:extLst xmlns:a="http://schemas.openxmlformats.org/drawingml/2006/main">
              <a:ext uri="{FF2B5EF4-FFF2-40B4-BE49-F238E27FC236}">
                <a16:creationId xmlns:a16="http://schemas.microsoft.com/office/drawing/2014/main" id="{C849EEFA-38E4-4080-BDEA-0F80E103F569}"/>
              </a:ext>
            </a:extLst>
          </p:cNvPr>
          <p:cNvSpPr>
            <a:spLocks xmlns:a="http://schemas.openxmlformats.org/drawingml/2006/main" noGrp="1"/>
          </p:cNvSpPr>
          <p:nvPr/>
        </p:nvSpPr>
        <p:spPr>
          <a:xfrm xmlns:a="http://schemas.openxmlformats.org/drawingml/2006/main">
            <a:off x="666750" y="55245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66B"/>
                </a:solidFill>
                <a:latin typeface="DejaVu Sans"/>
                <a:ea typeface="DejaVu Sans"/>
                <a:cs typeface="DejaVu Sans"/>
              </a:defRPr>
            </a:pPr>
            <a:r>
              <a:rPr sz="1950" b="0">
                <a:solidFill>
                  <a:srgbClr val="53666B"/>
                </a:solidFill>
                <a:latin typeface="DejaVu Sans"/>
                <a:ea typeface="DejaVu Sans"/>
                <a:cs typeface="DejaVu Sans"/>
              </a:rPr>
              <a:t>Cada paso conserva su responsable y permite revisar la operación</a:t>
            </a:r>
          </a:p>
        </p:txBody>
      </p:sp>
    </p:spTree>
    <p:extLst>
      <p:ext uri="{BB962C8B-B14F-4D97-AF65-F5344CB8AC3E}">
        <p14:creationId xmlns:p14="http://schemas.microsoft.com/office/powerpoint/2010/main" val="311106037"/>
      </p:ext>
    </p:extLst>
  </p:cSld>
</p:sld>
</file>

<file path=ppt/slides/slide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EF5E3064-A35F-40A3-961E-62E95A92C05E}"/>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Solicitudes programadas</a:t>
            </a:r>
          </a:p>
        </p:txBody>
      </p:sp>
      <p:sp>
        <p:nvSpPr>
          <p:cNvPr id="2" name="">
            <a:extLst xmlns:a="http://schemas.openxmlformats.org/drawingml/2006/main">
              <a:ext uri="{FF2B5EF4-FFF2-40B4-BE49-F238E27FC236}">
                <a16:creationId xmlns:a16="http://schemas.microsoft.com/office/drawing/2014/main" id="{5CF287EC-0B8B-4A1B-86E7-349087ED593C}"/>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06</a:t>
            </a:r>
          </a:p>
        </p:txBody>
      </p:sp>
      <p:sp>
        <p:nvSpPr>
          <p:cNvPr id="3" name="">
            <a:extLst xmlns:a="http://schemas.openxmlformats.org/drawingml/2006/main">
              <a:ext uri="{FF2B5EF4-FFF2-40B4-BE49-F238E27FC236}">
                <a16:creationId xmlns:a16="http://schemas.microsoft.com/office/drawing/2014/main" id="{AD3422D6-0386-4498-8F63-1ACAF012186D}"/>
              </a:ext>
            </a:extLst>
          </p:cNvPr>
          <p:cNvSpPr>
            <a:spLocks xmlns:a="http://schemas.openxmlformats.org/drawingml/2006/main" noGrp="1"/>
          </p:cNvSpPr>
          <p:nvPr/>
        </p:nvSpPr>
        <p:spPr>
          <a:xfrm xmlns:a="http://schemas.openxmlformats.org/drawingml/2006/main">
            <a:off x="666750" y="1552575"/>
            <a:ext cx="10668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173D35"/>
                </a:solidFill>
                <a:latin typeface="DejaVu Sans"/>
                <a:ea typeface="DejaVu Sans"/>
                <a:cs typeface="DejaVu Sans"/>
              </a:defRPr>
            </a:pPr>
            <a:r>
              <a:rPr sz="2250" b="1">
                <a:solidFill>
                  <a:srgbClr val="173D35"/>
                </a:solidFill>
                <a:latin typeface="DejaVu Sans"/>
                <a:ea typeface="DejaVu Sans"/>
                <a:cs typeface="DejaVu Sans"/>
              </a:rPr>
              <a:t>Cantidad fija o consumo histórico</a:t>
            </a:r>
          </a:p>
        </p:txBody>
      </p:sp>
      <p:pic>
        <p:nvPicPr>
          <p:cNvPr id="9" name=""/>
          <p:cNvPicPr>
            <a:picLocks xmlns:a="http://schemas.openxmlformats.org/drawingml/2006/main" noChangeAspect="1"/>
          </p:cNvPicPr>
          <p:nvPr/>
        </p:nvPicPr>
        <p:blipFill>
          <a:blip xmlns:r="http://schemas.openxmlformats.org/officeDocument/2006/relationships" xmlns:a="http://schemas.openxmlformats.org/drawingml/2006/main" r:embed="R4dd9d680c4ba4e86"/>
          <a:stretch xmlns:a="http://schemas.openxmlformats.org/drawingml/2006/main"/>
        </p:blipFill>
        <p:spPr>
          <a:xfrm xmlns:a="http://schemas.openxmlformats.org/drawingml/2006/main">
            <a:off x="4781550" y="2286000"/>
            <a:ext cx="6248400" cy="39052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FEE72E9-7241-4CE6-9C21-60498D315B64}"/>
              </a:ext>
            </a:extLst>
          </p:cNvPr>
          <p:cNvSpPr>
            <a:spLocks xmlns:a="http://schemas.openxmlformats.org/drawingml/2006/main" noGrp="1"/>
          </p:cNvSpPr>
          <p:nvPr/>
        </p:nvSpPr>
        <p:spPr>
          <a:xfrm xmlns:a="http://schemas.openxmlformats.org/drawingml/2006/main">
            <a:off x="666750" y="2457450"/>
            <a:ext cx="3333750" cy="3429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42C32"/>
                </a:solidFill>
                <a:latin typeface="DejaVu Sans"/>
                <a:ea typeface="DejaVu Sans"/>
                <a:cs typeface="DejaVu Sans"/>
              </a:defRPr>
            </a:pPr>
            <a:r>
              <a:rPr sz="2025" b="0">
                <a:solidFill>
                  <a:srgbClr val="142C32"/>
                </a:solidFill>
                <a:latin typeface="DejaVu Sans"/>
                <a:ea typeface="DejaVu Sans"/>
                <a:cs typeface="DejaVu Sans"/>
              </a:rPr>
              <a:t>Programación diaria, semanal o mensual.</a:t>
            </a:r>
          </a:p>
          <a:p xmlns:a="http://schemas.openxmlformats.org/drawingml/2006/main">
            <a:r>
              <a:t/>
            </a:r>
          </a:p>
          <a:p xmlns:a="http://schemas.openxmlformats.org/drawingml/2006/main">
            <a:pPr>
              <a:defRPr sz="2025" b="0">
                <a:solidFill>
                  <a:srgbClr val="142C32"/>
                </a:solidFill>
                <a:latin typeface="DejaVu Sans"/>
                <a:ea typeface="DejaVu Sans"/>
                <a:cs typeface="DejaVu Sans"/>
              </a:defRPr>
            </a:pPr>
            <a:r>
              <a:rPr sz="2025" b="0">
                <a:solidFill>
                  <a:srgbClr val="142C32"/>
                </a:solidFill>
                <a:latin typeface="DejaVu Sans"/>
                <a:ea typeface="DejaVu Sans"/>
                <a:cs typeface="DejaVu Sans"/>
              </a:rPr>
              <a:t>Sin aprobación no se emite el ticket.</a:t>
            </a:r>
          </a:p>
          <a:p xmlns:a="http://schemas.openxmlformats.org/drawingml/2006/main">
            <a:r>
              <a:t/>
            </a:r>
          </a:p>
          <a:p xmlns:a="http://schemas.openxmlformats.org/drawingml/2006/main">
            <a:pPr>
              <a:defRPr sz="2025" b="0">
                <a:solidFill>
                  <a:srgbClr val="142C32"/>
                </a:solidFill>
                <a:latin typeface="DejaVu Sans"/>
                <a:ea typeface="DejaVu Sans"/>
                <a:cs typeface="DejaVu Sans"/>
              </a:defRPr>
            </a:pPr>
            <a:r>
              <a:rPr sz="2025" b="0">
                <a:solidFill>
                  <a:srgbClr val="142C32"/>
                </a:solidFill>
                <a:latin typeface="DejaVu Sans"/>
                <a:ea typeface="DejaVu Sans"/>
                <a:cs typeface="DejaVu Sans"/>
              </a:rPr>
              <a:t>Una reserva impide generar dos veces el mismo día.</a:t>
            </a:r>
          </a:p>
        </p:txBody>
      </p:sp>
    </p:spTree>
    <p:extLst>
      <p:ext uri="{BB962C8B-B14F-4D97-AF65-F5344CB8AC3E}">
        <p14:creationId xmlns:p14="http://schemas.microsoft.com/office/powerpoint/2010/main" val="118883730"/>
      </p:ext>
    </p:extLst>
  </p:cSld>
</p:sld>
</file>

<file path=ppt/slides/slide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1408A74C-66A7-455F-AB48-BABDAF9977EB}"/>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Tickets verificables</a:t>
            </a:r>
          </a:p>
        </p:txBody>
      </p:sp>
      <p:sp>
        <p:nvSpPr>
          <p:cNvPr id="2" name="">
            <a:extLst xmlns:a="http://schemas.openxmlformats.org/drawingml/2006/main">
              <a:ext uri="{FF2B5EF4-FFF2-40B4-BE49-F238E27FC236}">
                <a16:creationId xmlns:a16="http://schemas.microsoft.com/office/drawing/2014/main" id="{86DCD973-237C-4F84-B8F7-1589C51731E6}"/>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07</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d324246e601e47a9"/>
          <a:stretch xmlns:a="http://schemas.openxmlformats.org/drawingml/2006/main"/>
        </p:blipFill>
        <p:spPr>
          <a:xfrm xmlns:a="http://schemas.openxmlformats.org/drawingml/2006/main">
            <a:off x="4605338" y="1685925"/>
            <a:ext cx="6934200"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99A52D50-08D1-4F82-AD14-A31E4F537BBA}"/>
              </a:ext>
            </a:extLst>
          </p:cNvPr>
          <p:cNvSpPr>
            <a:spLocks xmlns:a="http://schemas.openxmlformats.org/drawingml/2006/main" noGrp="1"/>
          </p:cNvSpPr>
          <p:nvPr/>
        </p:nvSpPr>
        <p:spPr>
          <a:xfrm xmlns:a="http://schemas.openxmlformats.org/drawingml/2006/main">
            <a:off x="666750" y="1762125"/>
            <a:ext cx="3524250" cy="438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Identificador único</a:t>
            </a:r>
          </a:p>
          <a:p xmlns:a="http://schemas.openxmlformats.org/drawingml/2006/main">
            <a:r>
              <a:t/>
            </a:r>
          </a:p>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Secuencia correlativa</a:t>
            </a:r>
          </a:p>
          <a:p xmlns:a="http://schemas.openxmlformats.org/drawingml/2006/main">
            <a:r>
              <a:t/>
            </a:r>
          </a:p>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Vigencia y autorización</a:t>
            </a:r>
          </a:p>
          <a:p xmlns:a="http://schemas.openxmlformats.org/drawingml/2006/main">
            <a:r>
              <a:t/>
            </a:r>
          </a:p>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PDF con QR firmado</a:t>
            </a:r>
          </a:p>
          <a:p xmlns:a="http://schemas.openxmlformats.org/drawingml/2006/main">
            <a:r>
              <a:t/>
            </a:r>
          </a:p>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Control de uso único</a:t>
            </a:r>
          </a:p>
        </p:txBody>
      </p:sp>
    </p:spTree>
    <p:extLst>
      <p:ext uri="{BB962C8B-B14F-4D97-AF65-F5344CB8AC3E}">
        <p14:creationId xmlns:p14="http://schemas.microsoft.com/office/powerpoint/2010/main" val="433072152"/>
      </p:ext>
    </p:extLst>
  </p:cSld>
</p:sld>
</file>

<file path=ppt/slides/slide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43E933-2BAD-4623-AC1B-FDF43FD7DE3F}"/>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FuelTrack en Android</a:t>
            </a:r>
          </a:p>
        </p:txBody>
      </p:sp>
      <p:sp>
        <p:nvSpPr>
          <p:cNvPr id="2" name="">
            <a:extLst xmlns:a="http://schemas.openxmlformats.org/drawingml/2006/main">
              <a:ext uri="{FF2B5EF4-FFF2-40B4-BE49-F238E27FC236}">
                <a16:creationId xmlns:a16="http://schemas.microsoft.com/office/drawing/2014/main" id="{2BC4CB98-6490-4D6B-BFE4-4B3F98CF552F}"/>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08</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e31ef25137046cf"/>
          <a:stretch xmlns:a="http://schemas.openxmlformats.org/drawingml/2006/main"/>
        </p:blipFill>
        <p:spPr>
          <a:xfrm xmlns:a="http://schemas.openxmlformats.org/drawingml/2006/main">
            <a:off x="8003381" y="1504950"/>
            <a:ext cx="2185988" cy="48577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EC5C8F29-93F3-4E62-9334-5E7517826A4D}"/>
              </a:ext>
            </a:extLst>
          </p:cNvPr>
          <p:cNvSpPr>
            <a:spLocks xmlns:a="http://schemas.openxmlformats.org/drawingml/2006/main" noGrp="1"/>
          </p:cNvSpPr>
          <p:nvPr/>
        </p:nvSpPr>
        <p:spPr>
          <a:xfrm xmlns:a="http://schemas.openxmlformats.org/drawingml/2006/main">
            <a:off x="714375" y="1809750"/>
            <a:ext cx="6429375"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C32"/>
                </a:solidFill>
                <a:latin typeface="DejaVu Sans"/>
                <a:ea typeface="DejaVu Sans"/>
                <a:cs typeface="DejaVu Sans"/>
              </a:defRPr>
            </a:pPr>
            <a:r>
              <a:rPr sz="2325" b="0">
                <a:solidFill>
                  <a:srgbClr val="142C32"/>
                </a:solidFill>
                <a:latin typeface="DejaVu Sans"/>
                <a:ea typeface="DejaVu Sans"/>
                <a:cs typeface="DejaVu Sans"/>
              </a:rPr>
              <a:t>Acceso por usuario</a:t>
            </a:r>
          </a:p>
          <a:p xmlns:a="http://schemas.openxmlformats.org/drawingml/2006/main">
            <a:r>
              <a:t/>
            </a:r>
          </a:p>
          <a:p xmlns:a="http://schemas.openxmlformats.org/drawingml/2006/main">
            <a:pPr>
              <a:defRPr sz="2325" b="0">
                <a:solidFill>
                  <a:srgbClr val="142C32"/>
                </a:solidFill>
                <a:latin typeface="DejaVu Sans"/>
                <a:ea typeface="DejaVu Sans"/>
                <a:cs typeface="DejaVu Sans"/>
              </a:defRPr>
            </a:pPr>
            <a:r>
              <a:rPr sz="2325" b="0">
                <a:solidFill>
                  <a:srgbClr val="142C32"/>
                </a:solidFill>
                <a:latin typeface="DejaVu Sans"/>
                <a:ea typeface="DejaVu Sans"/>
                <a:cs typeface="DejaVu Sans"/>
              </a:rPr>
              <a:t>Consulta de tickets</a:t>
            </a:r>
          </a:p>
          <a:p xmlns:a="http://schemas.openxmlformats.org/drawingml/2006/main">
            <a:r>
              <a:t/>
            </a:r>
          </a:p>
          <a:p xmlns:a="http://schemas.openxmlformats.org/drawingml/2006/main">
            <a:pPr>
              <a:defRPr sz="2325" b="0">
                <a:solidFill>
                  <a:srgbClr val="142C32"/>
                </a:solidFill>
                <a:latin typeface="DejaVu Sans"/>
                <a:ea typeface="DejaVu Sans"/>
                <a:cs typeface="DejaVu Sans"/>
              </a:defRPr>
            </a:pPr>
            <a:r>
              <a:rPr sz="2325" b="0">
                <a:solidFill>
                  <a:srgbClr val="142C32"/>
                </a:solidFill>
                <a:latin typeface="DejaVu Sans"/>
                <a:ea typeface="DejaVu Sans"/>
                <a:cs typeface="DejaVu Sans"/>
              </a:rPr>
              <a:t>Validación en línea</a:t>
            </a:r>
          </a:p>
          <a:p xmlns:a="http://schemas.openxmlformats.org/drawingml/2006/main">
            <a:r>
              <a:t/>
            </a:r>
          </a:p>
          <a:p xmlns:a="http://schemas.openxmlformats.org/drawingml/2006/main">
            <a:pPr>
              <a:defRPr sz="2325" b="0">
                <a:solidFill>
                  <a:srgbClr val="142C32"/>
                </a:solidFill>
                <a:latin typeface="DejaVu Sans"/>
                <a:ea typeface="DejaVu Sans"/>
                <a:cs typeface="DejaVu Sans"/>
              </a:defRPr>
            </a:pPr>
            <a:r>
              <a:rPr sz="2325" b="0">
                <a:solidFill>
                  <a:srgbClr val="142C32"/>
                </a:solidFill>
                <a:latin typeface="DejaVu Sans"/>
                <a:ea typeface="DejaVu Sans"/>
                <a:cs typeface="DejaVu Sans"/>
              </a:rPr>
              <a:t>Confirmación de identidad</a:t>
            </a:r>
          </a:p>
          <a:p xmlns:a="http://schemas.openxmlformats.org/drawingml/2006/main">
            <a:r>
              <a:t/>
            </a:r>
          </a:p>
          <a:p xmlns:a="http://schemas.openxmlformats.org/drawingml/2006/main">
            <a:pPr>
              <a:defRPr sz="2325" b="0">
                <a:solidFill>
                  <a:srgbClr val="142C32"/>
                </a:solidFill>
                <a:latin typeface="DejaVu Sans"/>
                <a:ea typeface="DejaVu Sans"/>
                <a:cs typeface="DejaVu Sans"/>
              </a:defRPr>
            </a:pPr>
            <a:r>
              <a:rPr sz="2325" b="0">
                <a:solidFill>
                  <a:srgbClr val="142C32"/>
                </a:solidFill>
                <a:latin typeface="DejaVu Sans"/>
                <a:ea typeface="DejaVu Sans"/>
                <a:cs typeface="DejaVu Sans"/>
              </a:rPr>
              <a:t>Registro del despacho</a:t>
            </a:r>
          </a:p>
        </p:txBody>
      </p:sp>
    </p:spTree>
    <p:extLst>
      <p:ext uri="{BB962C8B-B14F-4D97-AF65-F5344CB8AC3E}">
        <p14:creationId xmlns:p14="http://schemas.microsoft.com/office/powerpoint/2010/main" val="1297435558"/>
      </p:ext>
    </p:extLst>
  </p:cSld>
</p:sld>
</file>

<file path=ppt/slides/slide9.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D39121F3-6C78-424F-B328-0CC4B88AA034}"/>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Inventario con reglas de negocio</a:t>
            </a:r>
          </a:p>
        </p:txBody>
      </p:sp>
      <p:sp>
        <p:nvSpPr>
          <p:cNvPr id="2" name="">
            <a:extLst xmlns:a="http://schemas.openxmlformats.org/drawingml/2006/main">
              <a:ext uri="{FF2B5EF4-FFF2-40B4-BE49-F238E27FC236}">
                <a16:creationId xmlns:a16="http://schemas.microsoft.com/office/drawing/2014/main" id="{2D9645A6-5D29-41AB-8ADE-5A5FF95B39AF}"/>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09</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c02854231ccb4f67"/>
          <a:stretch xmlns:a="http://schemas.openxmlformats.org/drawingml/2006/main"/>
        </p:blipFill>
        <p:spPr>
          <a:xfrm xmlns:a="http://schemas.openxmlformats.org/drawingml/2006/main">
            <a:off x="4524375" y="1735336"/>
            <a:ext cx="7096125" cy="4435078"/>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7C4F66B6-7EDA-48A0-89A7-5A5759122615}"/>
              </a:ext>
            </a:extLst>
          </p:cNvPr>
          <p:cNvSpPr>
            <a:spLocks xmlns:a="http://schemas.openxmlformats.org/drawingml/2006/main" noGrp="1"/>
          </p:cNvSpPr>
          <p:nvPr/>
        </p:nvSpPr>
        <p:spPr>
          <a:xfrm xmlns:a="http://schemas.openxmlformats.org/drawingml/2006/main">
            <a:off x="666750" y="1857375"/>
            <a:ext cx="3429000" cy="419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Recepciones y compras</a:t>
            </a:r>
          </a:p>
          <a:p xmlns:a="http://schemas.openxmlformats.org/drawingml/2006/main">
            <a:r>
              <a:t/>
            </a:r>
          </a:p>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Despachos y mermas</a:t>
            </a:r>
          </a:p>
          <a:p xmlns:a="http://schemas.openxmlformats.org/drawingml/2006/main">
            <a:r>
              <a:t/>
            </a:r>
          </a:p>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Ajustes con motivo</a:t>
            </a:r>
          </a:p>
          <a:p xmlns:a="http://schemas.openxmlformats.org/drawingml/2006/main">
            <a:r>
              <a:t/>
            </a:r>
          </a:p>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Transferencias compatibles</a:t>
            </a:r>
          </a:p>
          <a:p xmlns:a="http://schemas.openxmlformats.org/drawingml/2006/main">
            <a:r>
              <a:t/>
            </a:r>
          </a:p>
          <a:p xmlns:a="http://schemas.openxmlformats.org/drawingml/2006/main">
            <a:pPr>
              <a:defRPr sz="2100" b="0">
                <a:solidFill>
                  <a:srgbClr val="142C32"/>
                </a:solidFill>
                <a:latin typeface="DejaVu Sans"/>
                <a:ea typeface="DejaVu Sans"/>
                <a:cs typeface="DejaVu Sans"/>
              </a:defRPr>
            </a:pPr>
            <a:r>
              <a:rPr sz="2100" b="0">
                <a:solidFill>
                  <a:srgbClr val="142C32"/>
                </a:solidFill>
                <a:latin typeface="DejaVu Sans"/>
                <a:ea typeface="DejaVu Sans"/>
                <a:cs typeface="DejaVu Sans"/>
              </a:rPr>
              <a:t>Historial de movimientos</a:t>
            </a:r>
          </a:p>
        </p:txBody>
      </p:sp>
    </p:spTree>
    <p:extLst>
      <p:ext uri="{BB962C8B-B14F-4D97-AF65-F5344CB8AC3E}">
        <p14:creationId xmlns:p14="http://schemas.microsoft.com/office/powerpoint/2010/main" val="738790640"/>
      </p:ext>
    </p:extLst>
  </p:cSld>
</p:sld>
</file>

<file path=ppt/slides/slide10.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75FC8C8-3384-482E-9D60-53FFBAA3588C}"/>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Información para decidir</a:t>
            </a:r>
          </a:p>
        </p:txBody>
      </p:sp>
      <p:sp>
        <p:nvSpPr>
          <p:cNvPr id="2" name="">
            <a:extLst xmlns:a="http://schemas.openxmlformats.org/drawingml/2006/main">
              <a:ext uri="{FF2B5EF4-FFF2-40B4-BE49-F238E27FC236}">
                <a16:creationId xmlns:a16="http://schemas.microsoft.com/office/drawing/2014/main" id="{9D439FFA-3A2F-4DA4-87A4-57B80604B516}"/>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10</a:t>
            </a:r>
          </a:p>
        </p:txBody>
      </p:sp>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9faa7759f730412d"/>
          <a:stretch xmlns:a="http://schemas.openxmlformats.org/drawingml/2006/main"/>
        </p:blipFill>
        <p:spPr>
          <a:xfrm xmlns:a="http://schemas.openxmlformats.org/drawingml/2006/main">
            <a:off x="2514600" y="1476375"/>
            <a:ext cx="7162800" cy="4476750"/>
          </a:xfrm>
          <a:prstGeom xmlns:a="http://schemas.openxmlformats.org/drawingml/2006/main" prst="rect">
            <a:avLst/>
          </a:prstGeom>
        </p:spPr>
      </p:pic>
    </p:spTree>
    <p:extLst>
      <p:ext uri="{BB962C8B-B14F-4D97-AF65-F5344CB8AC3E}">
        <p14:creationId xmlns:p14="http://schemas.microsoft.com/office/powerpoint/2010/main" val="478463739"/>
      </p:ext>
    </p:extLst>
  </p:cSld>
</p:sld>
</file>

<file path=ppt/slides/slide11.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2C03F14A-06E2-402C-90CB-C1DEA808FA69}"/>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Reportes y cierre diario</a:t>
            </a:r>
          </a:p>
        </p:txBody>
      </p:sp>
      <p:sp>
        <p:nvSpPr>
          <p:cNvPr id="2" name="">
            <a:extLst xmlns:a="http://schemas.openxmlformats.org/drawingml/2006/main">
              <a:ext uri="{FF2B5EF4-FFF2-40B4-BE49-F238E27FC236}">
                <a16:creationId xmlns:a16="http://schemas.microsoft.com/office/drawing/2014/main" id="{2D0C95E9-BE67-4488-9FE6-9C52DA57B5B4}"/>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11</a:t>
            </a:r>
          </a:p>
        </p:txBody>
      </p:sp>
      <p:pic>
        <p:nvPicPr>
          <p:cNvPr id="7" name=""/>
          <p:cNvPicPr>
            <a:picLocks xmlns:a="http://schemas.openxmlformats.org/drawingml/2006/main" noChangeAspect="1"/>
          </p:cNvPicPr>
          <p:nvPr/>
        </p:nvPicPr>
        <p:blipFill>
          <a:blip xmlns:r="http://schemas.openxmlformats.org/officeDocument/2006/relationships" xmlns:a="http://schemas.openxmlformats.org/drawingml/2006/main" r:embed="R7036d46bf0484dc3"/>
          <a:stretch xmlns:a="http://schemas.openxmlformats.org/drawingml/2006/main"/>
        </p:blipFill>
        <p:spPr>
          <a:xfrm xmlns:a="http://schemas.openxmlformats.org/drawingml/2006/main">
            <a:off x="4719638" y="1666875"/>
            <a:ext cx="6705600" cy="419100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F0186923-C0FD-4AC5-AE67-16675F0EF479}"/>
              </a:ext>
            </a:extLst>
          </p:cNvPr>
          <p:cNvSpPr>
            <a:spLocks xmlns:a="http://schemas.openxmlformats.org/drawingml/2006/main" noGrp="1"/>
          </p:cNvSpPr>
          <p:nvPr/>
        </p:nvSpPr>
        <p:spPr>
          <a:xfrm xmlns:a="http://schemas.openxmlformats.org/drawingml/2006/main">
            <a:off x="666750" y="2000250"/>
            <a:ext cx="3476625" cy="3476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32"/>
                </a:solidFill>
                <a:latin typeface="DejaVu Sans"/>
                <a:ea typeface="DejaVu Sans"/>
                <a:cs typeface="DejaVu Sans"/>
              </a:defRPr>
            </a:pPr>
            <a:r>
              <a:rPr sz="2250" b="0">
                <a:solidFill>
                  <a:srgbClr val="142C32"/>
                </a:solidFill>
                <a:latin typeface="DejaVu Sans"/>
                <a:ea typeface="DejaVu Sans"/>
                <a:cs typeface="DejaVu Sans"/>
              </a:rPr>
              <a:t>Filtros por operación</a:t>
            </a:r>
          </a:p>
          <a:p xmlns:a="http://schemas.openxmlformats.org/drawingml/2006/main">
            <a:r>
              <a:t/>
            </a:r>
          </a:p>
          <a:p xmlns:a="http://schemas.openxmlformats.org/drawingml/2006/main">
            <a:pPr>
              <a:defRPr sz="2250" b="0">
                <a:solidFill>
                  <a:srgbClr val="142C32"/>
                </a:solidFill>
                <a:latin typeface="DejaVu Sans"/>
                <a:ea typeface="DejaVu Sans"/>
                <a:cs typeface="DejaVu Sans"/>
              </a:defRPr>
            </a:pPr>
            <a:r>
              <a:rPr sz="2250" b="0">
                <a:solidFill>
                  <a:srgbClr val="142C32"/>
                </a:solidFill>
                <a:latin typeface="DejaVu Sans"/>
                <a:ea typeface="DejaVu Sans"/>
                <a:cs typeface="DejaVu Sans"/>
              </a:rPr>
              <a:t>Excel, CSV y PDF</a:t>
            </a:r>
          </a:p>
          <a:p xmlns:a="http://schemas.openxmlformats.org/drawingml/2006/main">
            <a:r>
              <a:t/>
            </a:r>
          </a:p>
          <a:p xmlns:a="http://schemas.openxmlformats.org/drawingml/2006/main">
            <a:pPr>
              <a:defRPr sz="2250" b="0">
                <a:solidFill>
                  <a:srgbClr val="142C32"/>
                </a:solidFill>
                <a:latin typeface="DejaVu Sans"/>
                <a:ea typeface="DejaVu Sans"/>
                <a:cs typeface="DejaVu Sans"/>
              </a:defRPr>
            </a:pPr>
            <a:r>
              <a:rPr sz="2250" b="0">
                <a:solidFill>
                  <a:srgbClr val="142C32"/>
                </a:solidFill>
                <a:latin typeface="DejaVu Sans"/>
                <a:ea typeface="DejaVu Sans"/>
                <a:cs typeface="DejaVu Sans"/>
              </a:rPr>
              <a:t>Acta de cierre</a:t>
            </a:r>
          </a:p>
          <a:p xmlns:a="http://schemas.openxmlformats.org/drawingml/2006/main">
            <a:r>
              <a:t/>
            </a:r>
          </a:p>
          <a:p xmlns:a="http://schemas.openxmlformats.org/drawingml/2006/main">
            <a:pPr>
              <a:defRPr sz="2250" b="0">
                <a:solidFill>
                  <a:srgbClr val="142C32"/>
                </a:solidFill>
                <a:latin typeface="DejaVu Sans"/>
                <a:ea typeface="DejaVu Sans"/>
                <a:cs typeface="DejaVu Sans"/>
              </a:defRPr>
            </a:pPr>
            <a:r>
              <a:rPr sz="2250" b="0">
                <a:solidFill>
                  <a:srgbClr val="142C32"/>
                </a:solidFill>
                <a:latin typeface="DejaVu Sans"/>
                <a:ea typeface="DejaVu Sans"/>
                <a:cs typeface="DejaVu Sans"/>
              </a:rPr>
              <a:t>Trazabilidad del resultado</a:t>
            </a:r>
          </a:p>
        </p:txBody>
      </p:sp>
    </p:spTree>
    <p:extLst>
      <p:ext uri="{BB962C8B-B14F-4D97-AF65-F5344CB8AC3E}">
        <p14:creationId xmlns:p14="http://schemas.microsoft.com/office/powerpoint/2010/main" val="491269211"/>
      </p:ext>
    </p:extLst>
  </p:cSld>
</p:sld>
</file>

<file path=ppt/slides/slide12.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A8B8398-A24A-4EBF-8BDB-948B00AF6E8A}"/>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Lenguajes y tecnologías</a:t>
            </a:r>
          </a:p>
        </p:txBody>
      </p:sp>
      <p:sp>
        <p:nvSpPr>
          <p:cNvPr id="2" name="">
            <a:extLst xmlns:a="http://schemas.openxmlformats.org/drawingml/2006/main">
              <a:ext uri="{FF2B5EF4-FFF2-40B4-BE49-F238E27FC236}">
                <a16:creationId xmlns:a16="http://schemas.microsoft.com/office/drawing/2014/main" id="{676C04DB-4BD1-45A6-9940-6A87BEB9F056}"/>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12</a:t>
            </a:r>
          </a:p>
        </p:txBody>
      </p:sp>
      <p:graphicFrame>
        <p:nvGraphicFramePr>
          <p:cNvPr id="7" name=""/>
          <p:cNvGraphicFramePr/>
          <p:nvPr/>
        </p:nvGraphicFramePr>
        <p:xfrm>
          <a:off xmlns:a="http://schemas.openxmlformats.org/drawingml/2006/main" x="666750" y="1695450"/>
          <a:ext xmlns:a="http://schemas.openxmlformats.org/drawingml/2006/main" cx="10858500" cy="3619500"/>
        </p:xfrm>
        <a:graphic xmlns:a="http://schemas.openxmlformats.org/drawingml/2006/main">
          <a:graphicData uri="http://schemas.openxmlformats.org/drawingml/2006/table">
            <a:tbl>
              <a:tblPr/>
              <a:tblGrid>
                <a:gridCol w="2238375"/>
                <a:gridCol w="3000375"/>
                <a:gridCol w="5619750"/>
              </a:tblGrid>
              <a:tr h="603250">
                <a:tc>
                  <a:txBody>
                    <a:bodyPr/>
                    <a:lstStyle/>
                    <a:p>
                      <a:r>
                        <a:rPr sz="1800" b="1">
                          <a:solidFill>
                            <a:srgbClr val="FFFFFF"/>
                          </a:solidFill>
                          <a:latin typeface="DejaVu Sans"/>
                          <a:ea typeface="DejaVu Sans"/>
                          <a:cs typeface="DejaVu Sans"/>
                        </a:rPr>
                        <a:t>Capa</a:t>
                      </a:r>
                    </a:p>
                  </a:txBody>
                  <a:tcPr marL="91440" marR="91440" marT="45720" marB="45720">
                    <a:solidFill>
                      <a:srgbClr val="173D35"/>
                    </a:solidFill>
                  </a:tcPr>
                </a:tc>
                <a:tc>
                  <a:txBody>
                    <a:bodyPr/>
                    <a:lstStyle/>
                    <a:p>
                      <a:r>
                        <a:rPr sz="1800" b="1">
                          <a:solidFill>
                            <a:srgbClr val="FFFFFF"/>
                          </a:solidFill>
                          <a:latin typeface="DejaVu Sans"/>
                          <a:ea typeface="DejaVu Sans"/>
                          <a:cs typeface="DejaVu Sans"/>
                        </a:rPr>
                        <a:t>Lenguaje</a:t>
                      </a:r>
                    </a:p>
                  </a:txBody>
                  <a:tcPr marL="91440" marR="91440" marT="45720" marB="45720">
                    <a:solidFill>
                      <a:srgbClr val="173D35"/>
                    </a:solidFill>
                  </a:tcPr>
                </a:tc>
                <a:tc>
                  <a:txBody>
                    <a:bodyPr/>
                    <a:lstStyle/>
                    <a:p>
                      <a:r>
                        <a:rPr sz="1800" b="1">
                          <a:solidFill>
                            <a:srgbClr val="FFFFFF"/>
                          </a:solidFill>
                          <a:latin typeface="DejaVu Sans"/>
                          <a:ea typeface="DejaVu Sans"/>
                          <a:cs typeface="DejaVu Sans"/>
                        </a:rPr>
                        <a:t>Tecnología</a:t>
                      </a:r>
                    </a:p>
                  </a:txBody>
                  <a:tcPr marL="91440" marR="91440" marT="45720" marB="45720">
                    <a:solidFill>
                      <a:srgbClr val="173D35"/>
                    </a:solidFill>
                  </a:tcPr>
                </a:tc>
              </a:tr>
              <a:tr h="603250">
                <a:tc>
                  <a:txBody>
                    <a:bodyPr/>
                    <a:lstStyle/>
                    <a:p>
                      <a:r>
                        <a:rPr sz="1800" b="0">
                          <a:solidFill>
                            <a:srgbClr val="142C32"/>
                          </a:solidFill>
                          <a:latin typeface="DejaVu Sans"/>
                          <a:ea typeface="DejaVu Sans"/>
                          <a:cs typeface="DejaVu Sans"/>
                        </a:rPr>
                        <a:t>Web / PWA</a:t>
                      </a:r>
                    </a:p>
                  </a:txBody>
                  <a:tcPr marL="91440" marR="91440" marT="45720" marB="45720">
                    <a:solidFill>
                      <a:srgbClr val="FFFFFF"/>
                    </a:solidFill>
                  </a:tcPr>
                </a:tc>
                <a:tc>
                  <a:txBody>
                    <a:bodyPr/>
                    <a:lstStyle/>
                    <a:p>
                      <a:r>
                        <a:rPr sz="1800" b="0">
                          <a:solidFill>
                            <a:srgbClr val="142C32"/>
                          </a:solidFill>
                          <a:latin typeface="DejaVu Sans"/>
                          <a:ea typeface="DejaVu Sans"/>
                          <a:cs typeface="DejaVu Sans"/>
                        </a:rPr>
                        <a:t>JavaScript, HTML, CSS</a:t>
                      </a:r>
                    </a:p>
                  </a:txBody>
                  <a:tcPr marL="91440" marR="91440" marT="45720" marB="45720">
                    <a:solidFill>
                      <a:srgbClr val="FFFFFF"/>
                    </a:solidFill>
                  </a:tcPr>
                </a:tc>
                <a:tc>
                  <a:txBody>
                    <a:bodyPr/>
                    <a:lstStyle/>
                    <a:p>
                      <a:r>
                        <a:rPr sz="1800" b="0">
                          <a:solidFill>
                            <a:srgbClr val="142C32"/>
                          </a:solidFill>
                          <a:latin typeface="DejaVu Sans"/>
                          <a:ea typeface="DejaVu Sans"/>
                          <a:cs typeface="DejaVu Sans"/>
                        </a:rPr>
                        <a:t>React, Vite, Tailwind CSS</a:t>
                      </a:r>
                    </a:p>
                  </a:txBody>
                  <a:tcPr marL="91440" marR="91440" marT="45720" marB="45720">
                    <a:solidFill>
                      <a:srgbClr val="FFFFFF"/>
                    </a:solidFill>
                  </a:tcPr>
                </a:tc>
              </a:tr>
              <a:tr h="603250">
                <a:tc>
                  <a:txBody>
                    <a:bodyPr/>
                    <a:lstStyle/>
                    <a:p>
                      <a:r>
                        <a:rPr sz="1800" b="0">
                          <a:solidFill>
                            <a:srgbClr val="142C32"/>
                          </a:solidFill>
                          <a:latin typeface="DejaVu Sans"/>
                          <a:ea typeface="DejaVu Sans"/>
                          <a:cs typeface="DejaVu Sans"/>
                        </a:rPr>
                        <a:t>Servidor</a:t>
                      </a:r>
                    </a:p>
                  </a:txBody>
                  <a:tcPr marL="91440" marR="91440" marT="45720" marB="45720">
                    <a:solidFill>
                      <a:srgbClr val="E7EDE7"/>
                    </a:solidFill>
                  </a:tcPr>
                </a:tc>
                <a:tc>
                  <a:txBody>
                    <a:bodyPr/>
                    <a:lstStyle/>
                    <a:p>
                      <a:r>
                        <a:rPr sz="1800" b="0">
                          <a:solidFill>
                            <a:srgbClr val="142C32"/>
                          </a:solidFill>
                          <a:latin typeface="DejaVu Sans"/>
                          <a:ea typeface="DejaVu Sans"/>
                          <a:cs typeface="DejaVu Sans"/>
                        </a:rPr>
                        <a:t>C#</a:t>
                      </a:r>
                    </a:p>
                  </a:txBody>
                  <a:tcPr marL="91440" marR="91440" marT="45720" marB="45720">
                    <a:solidFill>
                      <a:srgbClr val="E7EDE7"/>
                    </a:solidFill>
                  </a:tcPr>
                </a:tc>
                <a:tc>
                  <a:txBody>
                    <a:bodyPr/>
                    <a:lstStyle/>
                    <a:p>
                      <a:r>
                        <a:rPr sz="1800" b="0">
                          <a:solidFill>
                            <a:srgbClr val="142C32"/>
                          </a:solidFill>
                          <a:latin typeface="DejaVu Sans"/>
                          <a:ea typeface="DejaVu Sans"/>
                          <a:cs typeface="DejaVu Sans"/>
                        </a:rPr>
                        <a:t>.NET 10, Entity Framework Core</a:t>
                      </a:r>
                    </a:p>
                  </a:txBody>
                  <a:tcPr marL="91440" marR="91440" marT="45720" marB="45720">
                    <a:solidFill>
                      <a:srgbClr val="E7EDE7"/>
                    </a:solidFill>
                  </a:tcPr>
                </a:tc>
              </a:tr>
              <a:tr h="603250">
                <a:tc>
                  <a:txBody>
                    <a:bodyPr/>
                    <a:lstStyle/>
                    <a:p>
                      <a:r>
                        <a:rPr sz="1800" b="0">
                          <a:solidFill>
                            <a:srgbClr val="142C32"/>
                          </a:solidFill>
                          <a:latin typeface="DejaVu Sans"/>
                          <a:ea typeface="DejaVu Sans"/>
                          <a:cs typeface="DejaVu Sans"/>
                        </a:rPr>
                        <a:t>Datos</a:t>
                      </a:r>
                    </a:p>
                  </a:txBody>
                  <a:tcPr marL="91440" marR="91440" marT="45720" marB="45720">
                    <a:solidFill>
                      <a:srgbClr val="FFFFFF"/>
                    </a:solidFill>
                  </a:tcPr>
                </a:tc>
                <a:tc>
                  <a:txBody>
                    <a:bodyPr/>
                    <a:lstStyle/>
                    <a:p>
                      <a:r>
                        <a:rPr sz="1800" b="0">
                          <a:solidFill>
                            <a:srgbClr val="142C32"/>
                          </a:solidFill>
                          <a:latin typeface="DejaVu Sans"/>
                          <a:ea typeface="DejaVu Sans"/>
                          <a:cs typeface="DejaVu Sans"/>
                        </a:rPr>
                        <a:t>SQL</a:t>
                      </a:r>
                    </a:p>
                  </a:txBody>
                  <a:tcPr marL="91440" marR="91440" marT="45720" marB="45720">
                    <a:solidFill>
                      <a:srgbClr val="FFFFFF"/>
                    </a:solidFill>
                  </a:tcPr>
                </a:tc>
                <a:tc>
                  <a:txBody>
                    <a:bodyPr/>
                    <a:lstStyle/>
                    <a:p>
                      <a:r>
                        <a:rPr sz="1800" b="0">
                          <a:solidFill>
                            <a:srgbClr val="142C32"/>
                          </a:solidFill>
                          <a:latin typeface="DejaVu Sans"/>
                          <a:ea typeface="DejaVu Sans"/>
                          <a:cs typeface="DejaVu Sans"/>
                        </a:rPr>
                        <a:t>PostgreSQL</a:t>
                      </a:r>
                    </a:p>
                  </a:txBody>
                  <a:tcPr marL="91440" marR="91440" marT="45720" marB="45720">
                    <a:solidFill>
                      <a:srgbClr val="FFFFFF"/>
                    </a:solidFill>
                  </a:tcPr>
                </a:tc>
              </a:tr>
              <a:tr h="603250">
                <a:tc>
                  <a:txBody>
                    <a:bodyPr/>
                    <a:lstStyle/>
                    <a:p>
                      <a:r>
                        <a:rPr sz="1800" b="0">
                          <a:solidFill>
                            <a:srgbClr val="142C32"/>
                          </a:solidFill>
                          <a:latin typeface="DejaVu Sans"/>
                          <a:ea typeface="DejaVu Sans"/>
                          <a:cs typeface="DejaVu Sans"/>
                        </a:rPr>
                        <a:t>Android</a:t>
                      </a:r>
                    </a:p>
                  </a:txBody>
                  <a:tcPr marL="91440" marR="91440" marT="45720" marB="45720">
                    <a:solidFill>
                      <a:srgbClr val="E7EDE7"/>
                    </a:solidFill>
                  </a:tcPr>
                </a:tc>
                <a:tc>
                  <a:txBody>
                    <a:bodyPr/>
                    <a:lstStyle/>
                    <a:p>
                      <a:r>
                        <a:rPr sz="1800" b="0">
                          <a:solidFill>
                            <a:srgbClr val="142C32"/>
                          </a:solidFill>
                          <a:latin typeface="DejaVu Sans"/>
                          <a:ea typeface="DejaVu Sans"/>
                          <a:cs typeface="DejaVu Sans"/>
                        </a:rPr>
                        <a:t>Dart</a:t>
                      </a:r>
                    </a:p>
                  </a:txBody>
                  <a:tcPr marL="91440" marR="91440" marT="45720" marB="45720">
                    <a:solidFill>
                      <a:srgbClr val="E7EDE7"/>
                    </a:solidFill>
                  </a:tcPr>
                </a:tc>
                <a:tc>
                  <a:txBody>
                    <a:bodyPr/>
                    <a:lstStyle/>
                    <a:p>
                      <a:r>
                        <a:rPr sz="1800" b="0">
                          <a:solidFill>
                            <a:srgbClr val="142C32"/>
                          </a:solidFill>
                          <a:latin typeface="DejaVu Sans"/>
                          <a:ea typeface="DejaVu Sans"/>
                          <a:cs typeface="DejaVu Sans"/>
                        </a:rPr>
                        <a:t>Flutter</a:t>
                      </a:r>
                    </a:p>
                  </a:txBody>
                  <a:tcPr marL="91440" marR="91440" marT="45720" marB="45720">
                    <a:solidFill>
                      <a:srgbClr val="E7EDE7"/>
                    </a:solidFill>
                  </a:tcPr>
                </a:tc>
              </a:tr>
              <a:tr h="603250">
                <a:tc>
                  <a:txBody>
                    <a:bodyPr/>
                    <a:lstStyle/>
                    <a:p>
                      <a:r>
                        <a:rPr sz="1800" b="0">
                          <a:solidFill>
                            <a:srgbClr val="142C32"/>
                          </a:solidFill>
                          <a:latin typeface="DejaVu Sans"/>
                          <a:ea typeface="DejaVu Sans"/>
                          <a:cs typeface="DejaVu Sans"/>
                        </a:rPr>
                        <a:t>Identidad e integración</a:t>
                      </a:r>
                    </a:p>
                  </a:txBody>
                  <a:tcPr marL="91440" marR="91440" marT="45720" marB="45720">
                    <a:solidFill>
                      <a:srgbClr val="FFFFFF"/>
                    </a:solidFill>
                  </a:tcPr>
                </a:tc>
                <a:tc>
                  <a:txBody>
                    <a:bodyPr/>
                    <a:lstStyle/>
                    <a:p>
                      <a:r>
                        <a:rPr sz="1800" b="0">
                          <a:solidFill>
                            <a:srgbClr val="142C32"/>
                          </a:solidFill>
                          <a:latin typeface="DejaVu Sans"/>
                          <a:ea typeface="DejaVu Sans"/>
                          <a:cs typeface="DejaVu Sans"/>
                        </a:rPr>
                        <a:t>HTTP / JSON</a:t>
                      </a:r>
                    </a:p>
                  </a:txBody>
                  <a:tcPr marL="91440" marR="91440" marT="45720" marB="45720">
                    <a:solidFill>
                      <a:srgbClr val="FFFFFF"/>
                    </a:solidFill>
                  </a:tcPr>
                </a:tc>
                <a:tc>
                  <a:txBody>
                    <a:bodyPr/>
                    <a:lstStyle/>
                    <a:p>
                      <a:r>
                        <a:rPr sz="1800" b="0">
                          <a:solidFill>
                            <a:srgbClr val="142C32"/>
                          </a:solidFill>
                          <a:latin typeface="DejaVu Sans"/>
                          <a:ea typeface="DejaVu Sans"/>
                          <a:cs typeface="DejaVu Sans"/>
                        </a:rPr>
                        <a:t>JWT, OAuth 2.0, Keycloak, SMTP, Textbee</a:t>
                      </a:r>
                    </a:p>
                  </a:txBody>
                  <a:tcPr marL="91440" marR="91440" marT="45720" marB="45720">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781C6F8B-2AAA-4070-836C-3EF3DE8E3AFC}"/>
              </a:ext>
            </a:extLst>
          </p:cNvPr>
          <p:cNvSpPr>
            <a:spLocks xmlns:a="http://schemas.openxmlformats.org/drawingml/2006/main" noGrp="1"/>
          </p:cNvSpPr>
          <p:nvPr/>
        </p:nvSpPr>
        <p:spPr>
          <a:xfrm xmlns:a="http://schemas.openxmlformats.org/drawingml/2006/main">
            <a:off x="666750" y="5686425"/>
            <a:ext cx="108585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66B"/>
                </a:solidFill>
                <a:latin typeface="DejaVu Sans"/>
                <a:ea typeface="DejaVu Sans"/>
                <a:cs typeface="DejaVu Sans"/>
              </a:defRPr>
            </a:pPr>
            <a:r>
              <a:rPr sz="1800" b="0">
                <a:solidFill>
                  <a:srgbClr val="53666B"/>
                </a:solidFill>
                <a:latin typeface="DejaVu Sans"/>
                <a:ea typeface="DejaVu Sans"/>
                <a:cs typeface="DejaVu Sans"/>
              </a:rPr>
              <a:t>Cambio documentado respecto al SRS: .NET 10 en lugar de .NET 8</a:t>
            </a:r>
          </a:p>
        </p:txBody>
      </p:sp>
    </p:spTree>
    <p:extLst>
      <p:ext uri="{BB962C8B-B14F-4D97-AF65-F5344CB8AC3E}">
        <p14:creationId xmlns:p14="http://schemas.microsoft.com/office/powerpoint/2010/main" val="1264742548"/>
      </p:ext>
    </p:extLst>
  </p:cSld>
</p:sld>
</file>

<file path=ppt/slides/slide13.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8EB31363-1089-4A8E-91E9-E4AC8957EDD7}"/>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Seguridad aplicada</a:t>
            </a:r>
          </a:p>
        </p:txBody>
      </p:sp>
      <p:sp>
        <p:nvSpPr>
          <p:cNvPr id="2" name="">
            <a:extLst xmlns:a="http://schemas.openxmlformats.org/drawingml/2006/main">
              <a:ext uri="{FF2B5EF4-FFF2-40B4-BE49-F238E27FC236}">
                <a16:creationId xmlns:a16="http://schemas.microsoft.com/office/drawing/2014/main" id="{E71E4C6C-8992-4335-97E7-2FB6BB57EF76}"/>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13</a:t>
            </a:r>
          </a:p>
        </p:txBody>
      </p:sp>
      <p:sp>
        <p:nvSpPr>
          <p:cNvPr id="3" name="">
            <a:extLst xmlns:a="http://schemas.openxmlformats.org/drawingml/2006/main">
              <a:ext uri="{FF2B5EF4-FFF2-40B4-BE49-F238E27FC236}">
                <a16:creationId xmlns:a16="http://schemas.microsoft.com/office/drawing/2014/main" id="{D1DC5677-416D-4DF8-8A3C-AFA05C9DA791}"/>
              </a:ext>
            </a:extLst>
          </p:cNvPr>
          <p:cNvSpPr>
            <a:spLocks xmlns:a="http://schemas.openxmlformats.org/drawingml/2006/main" noGrp="1"/>
          </p:cNvSpPr>
          <p:nvPr/>
        </p:nvSpPr>
        <p:spPr>
          <a:xfrm xmlns:a="http://schemas.openxmlformats.org/drawingml/2006/main">
            <a:off x="666750" y="18097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Acceso</a:t>
            </a:r>
          </a:p>
        </p:txBody>
      </p:sp>
      <p:sp>
        <p:nvSpPr>
          <p:cNvPr id="4" name="">
            <a:extLst xmlns:a="http://schemas.openxmlformats.org/drawingml/2006/main">
              <a:ext uri="{FF2B5EF4-FFF2-40B4-BE49-F238E27FC236}">
                <a16:creationId xmlns:a16="http://schemas.microsoft.com/office/drawing/2014/main" id="{6FB91E6F-39D5-4575-9B2A-F5E4964B0218}"/>
              </a:ext>
            </a:extLst>
          </p:cNvPr>
          <p:cNvSpPr>
            <a:spLocks xmlns:a="http://schemas.openxmlformats.org/drawingml/2006/main" noGrp="1"/>
          </p:cNvSpPr>
          <p:nvPr/>
        </p:nvSpPr>
        <p:spPr>
          <a:xfrm xmlns:a="http://schemas.openxmlformats.org/drawingml/2006/main">
            <a:off x="4333875" y="180975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Contraseñas, sesiones, renovación y revocación.</a:t>
            </a:r>
          </a:p>
        </p:txBody>
      </p:sp>
      <p:sp>
        <p:nvSpPr>
          <p:cNvPr id="5" name="">
            <a:extLst xmlns:a="http://schemas.openxmlformats.org/drawingml/2006/main">
              <a:ext uri="{FF2B5EF4-FFF2-40B4-BE49-F238E27FC236}">
                <a16:creationId xmlns:a16="http://schemas.microsoft.com/office/drawing/2014/main" id="{48CC5315-8E20-4833-B54E-2E46F18A7B2E}"/>
              </a:ext>
            </a:extLst>
          </p:cNvPr>
          <p:cNvSpPr>
            <a:spLocks xmlns:a="http://schemas.openxmlformats.org/drawingml/2006/main" noGrp="1"/>
          </p:cNvSpPr>
          <p:nvPr/>
        </p:nvSpPr>
        <p:spPr>
          <a:xfrm xmlns:a="http://schemas.openxmlformats.org/drawingml/2006/main">
            <a:off x="666750" y="28956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Permisos</a:t>
            </a:r>
          </a:p>
        </p:txBody>
      </p:sp>
      <p:sp>
        <p:nvSpPr>
          <p:cNvPr id="6" name="">
            <a:extLst xmlns:a="http://schemas.openxmlformats.org/drawingml/2006/main">
              <a:ext uri="{FF2B5EF4-FFF2-40B4-BE49-F238E27FC236}">
                <a16:creationId xmlns:a16="http://schemas.microsoft.com/office/drawing/2014/main" id="{0D681C76-EA3E-4EBE-B618-6A065E7C5903}"/>
              </a:ext>
            </a:extLst>
          </p:cNvPr>
          <p:cNvSpPr>
            <a:spLocks xmlns:a="http://schemas.openxmlformats.org/drawingml/2006/main" noGrp="1"/>
          </p:cNvSpPr>
          <p:nvPr/>
        </p:nvSpPr>
        <p:spPr>
          <a:xfrm xmlns:a="http://schemas.openxmlformats.org/drawingml/2006/main">
            <a:off x="4333875" y="289560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RBAC y consulta de tickets según su propietario.</a:t>
            </a:r>
          </a:p>
        </p:txBody>
      </p:sp>
      <p:sp>
        <p:nvSpPr>
          <p:cNvPr id="7" name="">
            <a:extLst xmlns:a="http://schemas.openxmlformats.org/drawingml/2006/main">
              <a:ext uri="{FF2B5EF4-FFF2-40B4-BE49-F238E27FC236}">
                <a16:creationId xmlns:a16="http://schemas.microsoft.com/office/drawing/2014/main" id="{28677858-F381-4EE2-A3C8-E31712D5956A}"/>
              </a:ext>
            </a:extLst>
          </p:cNvPr>
          <p:cNvSpPr>
            <a:spLocks xmlns:a="http://schemas.openxmlformats.org/drawingml/2006/main" noGrp="1"/>
          </p:cNvSpPr>
          <p:nvPr/>
        </p:nvSpPr>
        <p:spPr>
          <a:xfrm xmlns:a="http://schemas.openxmlformats.org/drawingml/2006/main">
            <a:off x="666750" y="39814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QR</a:t>
            </a:r>
          </a:p>
        </p:txBody>
      </p:sp>
      <p:sp>
        <p:nvSpPr>
          <p:cNvPr id="8" name="">
            <a:extLst xmlns:a="http://schemas.openxmlformats.org/drawingml/2006/main">
              <a:ext uri="{FF2B5EF4-FFF2-40B4-BE49-F238E27FC236}">
                <a16:creationId xmlns:a16="http://schemas.microsoft.com/office/drawing/2014/main" id="{E33288E9-77B1-46F8-9AEE-157BA85A9296}"/>
              </a:ext>
            </a:extLst>
          </p:cNvPr>
          <p:cNvSpPr>
            <a:spLocks xmlns:a="http://schemas.openxmlformats.org/drawingml/2006/main" noGrp="1"/>
          </p:cNvSpPr>
          <p:nvPr/>
        </p:nvSpPr>
        <p:spPr>
          <a:xfrm xmlns:a="http://schemas.openxmlformats.org/drawingml/2006/main">
            <a:off x="4333875" y="398145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Firma criptográfica, vigencia y rechazo de reutilización.</a:t>
            </a:r>
          </a:p>
        </p:txBody>
      </p:sp>
      <p:sp>
        <p:nvSpPr>
          <p:cNvPr id="9" name="">
            <a:extLst xmlns:a="http://schemas.openxmlformats.org/drawingml/2006/main">
              <a:ext uri="{FF2B5EF4-FFF2-40B4-BE49-F238E27FC236}">
                <a16:creationId xmlns:a16="http://schemas.microsoft.com/office/drawing/2014/main" id="{D9C0F812-C4D9-44F3-B0A4-0137AF81AD76}"/>
              </a:ext>
            </a:extLst>
          </p:cNvPr>
          <p:cNvSpPr>
            <a:spLocks xmlns:a="http://schemas.openxmlformats.org/drawingml/2006/main" noGrp="1"/>
          </p:cNvSpPr>
          <p:nvPr/>
        </p:nvSpPr>
        <p:spPr>
          <a:xfrm xmlns:a="http://schemas.openxmlformats.org/drawingml/2006/main">
            <a:off x="666750" y="50673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Auditoría</a:t>
            </a:r>
          </a:p>
        </p:txBody>
      </p:sp>
      <p:sp>
        <p:nvSpPr>
          <p:cNvPr id="10" name="">
            <a:extLst xmlns:a="http://schemas.openxmlformats.org/drawingml/2006/main">
              <a:ext uri="{FF2B5EF4-FFF2-40B4-BE49-F238E27FC236}">
                <a16:creationId xmlns:a16="http://schemas.microsoft.com/office/drawing/2014/main" id="{1355F951-89F6-4CF3-AA10-7A31B5C5154C}"/>
              </a:ext>
            </a:extLst>
          </p:cNvPr>
          <p:cNvSpPr>
            <a:spLocks xmlns:a="http://schemas.openxmlformats.org/drawingml/2006/main" noGrp="1"/>
          </p:cNvSpPr>
          <p:nvPr/>
        </p:nvSpPr>
        <p:spPr>
          <a:xfrm xmlns:a="http://schemas.openxmlformats.org/drawingml/2006/main">
            <a:off x="4333875" y="506730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Eventos de negocio y protección frente a modificación.</a:t>
            </a:r>
          </a:p>
        </p:txBody>
      </p:sp>
    </p:spTree>
    <p:extLst>
      <p:ext uri="{BB962C8B-B14F-4D97-AF65-F5344CB8AC3E}">
        <p14:creationId xmlns:p14="http://schemas.microsoft.com/office/powerpoint/2010/main" val="2131103569"/>
      </p:ext>
    </p:extLst>
  </p:cSld>
</p:sld>
</file>

<file path=ppt/slides/slide14.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38D89AF-7517-44C2-BC05-2D834668D067}"/>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Integrantes del Grupo 6</a:t>
            </a:r>
          </a:p>
        </p:txBody>
      </p:sp>
      <p:sp>
        <p:nvSpPr>
          <p:cNvPr id="2" name="">
            <a:extLst xmlns:a="http://schemas.openxmlformats.org/drawingml/2006/main">
              <a:ext uri="{FF2B5EF4-FFF2-40B4-BE49-F238E27FC236}">
                <a16:creationId xmlns:a16="http://schemas.microsoft.com/office/drawing/2014/main" id="{9F70D6BE-91B3-4623-975B-5AD64B9E6F69}"/>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14</a:t>
            </a:r>
          </a:p>
        </p:txBody>
      </p:sp>
      <p:sp>
        <p:nvSpPr>
          <p:cNvPr id="3" name="">
            <a:extLst xmlns:a="http://schemas.openxmlformats.org/drawingml/2006/main">
              <a:ext uri="{FF2B5EF4-FFF2-40B4-BE49-F238E27FC236}">
                <a16:creationId xmlns:a16="http://schemas.microsoft.com/office/drawing/2014/main" id="{EAF2B6FC-4AAA-4D0A-8115-5EC8B91B7C12}"/>
              </a:ext>
            </a:extLst>
          </p:cNvPr>
          <p:cNvSpPr>
            <a:spLocks xmlns:a="http://schemas.openxmlformats.org/drawingml/2006/main" noGrp="1"/>
          </p:cNvSpPr>
          <p:nvPr/>
        </p:nvSpPr>
        <p:spPr>
          <a:xfrm xmlns:a="http://schemas.openxmlformats.org/drawingml/2006/main">
            <a:off x="714375" y="1762125"/>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5"/>
                </a:solidFill>
                <a:latin typeface="DejaVu Sans"/>
                <a:ea typeface="DejaVu Sans"/>
                <a:cs typeface="DejaVu Sans"/>
              </a:defRPr>
            </a:pPr>
            <a:r>
              <a:rPr sz="2325" b="1">
                <a:solidFill>
                  <a:srgbClr val="173D35"/>
                </a:solidFill>
                <a:latin typeface="DejaVu Sans"/>
                <a:ea typeface="DejaVu Sans"/>
                <a:cs typeface="DejaVu Sans"/>
              </a:rPr>
              <a:t>Jorge Melo</a:t>
            </a:r>
          </a:p>
        </p:txBody>
      </p:sp>
      <p:sp>
        <p:nvSpPr>
          <p:cNvPr id="4" name="">
            <a:extLst xmlns:a="http://schemas.openxmlformats.org/drawingml/2006/main">
              <a:ext uri="{FF2B5EF4-FFF2-40B4-BE49-F238E27FC236}">
                <a16:creationId xmlns:a16="http://schemas.microsoft.com/office/drawing/2014/main" id="{934F3A2C-3262-4305-8075-74086F0309A6}"/>
              </a:ext>
            </a:extLst>
          </p:cNvPr>
          <p:cNvSpPr>
            <a:spLocks xmlns:a="http://schemas.openxmlformats.org/drawingml/2006/main" noGrp="1"/>
          </p:cNvSpPr>
          <p:nvPr/>
        </p:nvSpPr>
        <p:spPr>
          <a:xfrm xmlns:a="http://schemas.openxmlformats.org/drawingml/2006/main">
            <a:off x="7429500" y="17621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2"/>
                </a:solidFill>
                <a:latin typeface="DejaVu Sans"/>
                <a:ea typeface="DejaVu Sans"/>
                <a:cs typeface="DejaVu Sans"/>
              </a:defRPr>
            </a:pPr>
            <a:r>
              <a:rPr sz="2175" b="0">
                <a:solidFill>
                  <a:srgbClr val="142C32"/>
                </a:solidFill>
                <a:latin typeface="DejaVu Sans"/>
                <a:ea typeface="DejaVu Sans"/>
                <a:cs typeface="DejaVu Sans"/>
              </a:rPr>
              <a:t>1127398</a:t>
            </a:r>
          </a:p>
        </p:txBody>
      </p:sp>
      <p:sp>
        <p:nvSpPr>
          <p:cNvPr id="5" name="">
            <a:extLst xmlns:a="http://schemas.openxmlformats.org/drawingml/2006/main">
              <a:ext uri="{FF2B5EF4-FFF2-40B4-BE49-F238E27FC236}">
                <a16:creationId xmlns:a16="http://schemas.microsoft.com/office/drawing/2014/main" id="{21EFC794-4066-42E7-AC08-A2FB59A0692C}"/>
              </a:ext>
            </a:extLst>
          </p:cNvPr>
          <p:cNvSpPr>
            <a:spLocks xmlns:a="http://schemas.openxmlformats.org/drawingml/2006/main" noGrp="1"/>
          </p:cNvSpPr>
          <p:nvPr/>
        </p:nvSpPr>
        <p:spPr>
          <a:xfrm xmlns:a="http://schemas.openxmlformats.org/drawingml/2006/main">
            <a:off x="714375" y="2381250"/>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5"/>
                </a:solidFill>
                <a:latin typeface="DejaVu Sans"/>
                <a:ea typeface="DejaVu Sans"/>
                <a:cs typeface="DejaVu Sans"/>
              </a:defRPr>
            </a:pPr>
            <a:r>
              <a:rPr sz="2325" b="1">
                <a:solidFill>
                  <a:srgbClr val="173D35"/>
                </a:solidFill>
                <a:latin typeface="DejaVu Sans"/>
                <a:ea typeface="DejaVu Sans"/>
                <a:cs typeface="DejaVu Sans"/>
              </a:rPr>
              <a:t>Ashley Franco</a:t>
            </a:r>
          </a:p>
        </p:txBody>
      </p:sp>
      <p:sp>
        <p:nvSpPr>
          <p:cNvPr id="6" name="">
            <a:extLst xmlns:a="http://schemas.openxmlformats.org/drawingml/2006/main">
              <a:ext uri="{FF2B5EF4-FFF2-40B4-BE49-F238E27FC236}">
                <a16:creationId xmlns:a16="http://schemas.microsoft.com/office/drawing/2014/main" id="{EC4F6A69-6134-417F-A0F7-B644CA9AD633}"/>
              </a:ext>
            </a:extLst>
          </p:cNvPr>
          <p:cNvSpPr>
            <a:spLocks xmlns:a="http://schemas.openxmlformats.org/drawingml/2006/main" noGrp="1"/>
          </p:cNvSpPr>
          <p:nvPr/>
        </p:nvSpPr>
        <p:spPr>
          <a:xfrm xmlns:a="http://schemas.openxmlformats.org/drawingml/2006/main">
            <a:off x="7429500" y="23812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2"/>
                </a:solidFill>
                <a:latin typeface="DejaVu Sans"/>
                <a:ea typeface="DejaVu Sans"/>
                <a:cs typeface="DejaVu Sans"/>
              </a:defRPr>
            </a:pPr>
            <a:r>
              <a:rPr sz="2175" b="0">
                <a:solidFill>
                  <a:srgbClr val="142C32"/>
                </a:solidFill>
                <a:latin typeface="DejaVu Sans"/>
                <a:ea typeface="DejaVu Sans"/>
                <a:cs typeface="DejaVu Sans"/>
              </a:rPr>
              <a:t>1127646</a:t>
            </a:r>
          </a:p>
        </p:txBody>
      </p:sp>
      <p:sp>
        <p:nvSpPr>
          <p:cNvPr id="7" name="">
            <a:extLst xmlns:a="http://schemas.openxmlformats.org/drawingml/2006/main">
              <a:ext uri="{FF2B5EF4-FFF2-40B4-BE49-F238E27FC236}">
                <a16:creationId xmlns:a16="http://schemas.microsoft.com/office/drawing/2014/main" id="{503A8E77-1CCD-4563-BD94-AD3CB30CEAC4}"/>
              </a:ext>
            </a:extLst>
          </p:cNvPr>
          <p:cNvSpPr>
            <a:spLocks xmlns:a="http://schemas.openxmlformats.org/drawingml/2006/main" noGrp="1"/>
          </p:cNvSpPr>
          <p:nvPr/>
        </p:nvSpPr>
        <p:spPr>
          <a:xfrm xmlns:a="http://schemas.openxmlformats.org/drawingml/2006/main">
            <a:off x="714375" y="3000375"/>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5"/>
                </a:solidFill>
                <a:latin typeface="DejaVu Sans"/>
                <a:ea typeface="DejaVu Sans"/>
                <a:cs typeface="DejaVu Sans"/>
              </a:defRPr>
            </a:pPr>
            <a:r>
              <a:rPr sz="2325" b="1">
                <a:solidFill>
                  <a:srgbClr val="173D35"/>
                </a:solidFill>
                <a:latin typeface="DejaVu Sans"/>
                <a:ea typeface="DejaVu Sans"/>
                <a:cs typeface="DejaVu Sans"/>
              </a:rPr>
              <a:t>Rowlis Trinidad</a:t>
            </a:r>
          </a:p>
        </p:txBody>
      </p:sp>
      <p:sp>
        <p:nvSpPr>
          <p:cNvPr id="8" name="">
            <a:extLst xmlns:a="http://schemas.openxmlformats.org/drawingml/2006/main">
              <a:ext uri="{FF2B5EF4-FFF2-40B4-BE49-F238E27FC236}">
                <a16:creationId xmlns:a16="http://schemas.microsoft.com/office/drawing/2014/main" id="{1824D826-FED3-4C1A-B0EA-D5D101AD9E29}"/>
              </a:ext>
            </a:extLst>
          </p:cNvPr>
          <p:cNvSpPr>
            <a:spLocks xmlns:a="http://schemas.openxmlformats.org/drawingml/2006/main" noGrp="1"/>
          </p:cNvSpPr>
          <p:nvPr/>
        </p:nvSpPr>
        <p:spPr>
          <a:xfrm xmlns:a="http://schemas.openxmlformats.org/drawingml/2006/main">
            <a:off x="7429500" y="300037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2"/>
                </a:solidFill>
                <a:latin typeface="DejaVu Sans"/>
                <a:ea typeface="DejaVu Sans"/>
                <a:cs typeface="DejaVu Sans"/>
              </a:defRPr>
            </a:pPr>
            <a:r>
              <a:rPr sz="2175" b="0">
                <a:solidFill>
                  <a:srgbClr val="142C32"/>
                </a:solidFill>
                <a:latin typeface="DejaVu Sans"/>
                <a:ea typeface="DejaVu Sans"/>
                <a:cs typeface="DejaVu Sans"/>
              </a:rPr>
              <a:t>1128666</a:t>
            </a:r>
          </a:p>
        </p:txBody>
      </p:sp>
      <p:sp>
        <p:nvSpPr>
          <p:cNvPr id="9" name="">
            <a:extLst xmlns:a="http://schemas.openxmlformats.org/drawingml/2006/main">
              <a:ext uri="{FF2B5EF4-FFF2-40B4-BE49-F238E27FC236}">
                <a16:creationId xmlns:a16="http://schemas.microsoft.com/office/drawing/2014/main" id="{FEC574B5-BB1B-4FFD-8E6D-B6492221B922}"/>
              </a:ext>
            </a:extLst>
          </p:cNvPr>
          <p:cNvSpPr>
            <a:spLocks xmlns:a="http://schemas.openxmlformats.org/drawingml/2006/main" noGrp="1"/>
          </p:cNvSpPr>
          <p:nvPr/>
        </p:nvSpPr>
        <p:spPr>
          <a:xfrm xmlns:a="http://schemas.openxmlformats.org/drawingml/2006/main">
            <a:off x="714375" y="3619500"/>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5"/>
                </a:solidFill>
                <a:latin typeface="DejaVu Sans"/>
                <a:ea typeface="DejaVu Sans"/>
                <a:cs typeface="DejaVu Sans"/>
              </a:defRPr>
            </a:pPr>
            <a:r>
              <a:rPr sz="2325" b="1">
                <a:solidFill>
                  <a:srgbClr val="173D35"/>
                </a:solidFill>
                <a:latin typeface="DejaVu Sans"/>
                <a:ea typeface="DejaVu Sans"/>
                <a:cs typeface="DejaVu Sans"/>
              </a:rPr>
              <a:t>Rangelis Trinidad</a:t>
            </a:r>
          </a:p>
        </p:txBody>
      </p:sp>
      <p:sp>
        <p:nvSpPr>
          <p:cNvPr id="10" name="">
            <a:extLst xmlns:a="http://schemas.openxmlformats.org/drawingml/2006/main">
              <a:ext uri="{FF2B5EF4-FFF2-40B4-BE49-F238E27FC236}">
                <a16:creationId xmlns:a16="http://schemas.microsoft.com/office/drawing/2014/main" id="{B53B90FE-889F-41BF-9DFD-E8B5DC53C796}"/>
              </a:ext>
            </a:extLst>
          </p:cNvPr>
          <p:cNvSpPr>
            <a:spLocks xmlns:a="http://schemas.openxmlformats.org/drawingml/2006/main" noGrp="1"/>
          </p:cNvSpPr>
          <p:nvPr/>
        </p:nvSpPr>
        <p:spPr>
          <a:xfrm xmlns:a="http://schemas.openxmlformats.org/drawingml/2006/main">
            <a:off x="7429500" y="361950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2"/>
                </a:solidFill>
                <a:latin typeface="DejaVu Sans"/>
                <a:ea typeface="DejaVu Sans"/>
                <a:cs typeface="DejaVu Sans"/>
              </a:defRPr>
            </a:pPr>
            <a:r>
              <a:rPr sz="2175" b="0">
                <a:solidFill>
                  <a:srgbClr val="142C32"/>
                </a:solidFill>
                <a:latin typeface="DejaVu Sans"/>
                <a:ea typeface="DejaVu Sans"/>
                <a:cs typeface="DejaVu Sans"/>
              </a:rPr>
              <a:t>1128680</a:t>
            </a:r>
          </a:p>
        </p:txBody>
      </p:sp>
      <p:sp>
        <p:nvSpPr>
          <p:cNvPr id="11" name="">
            <a:extLst xmlns:a="http://schemas.openxmlformats.org/drawingml/2006/main">
              <a:ext uri="{FF2B5EF4-FFF2-40B4-BE49-F238E27FC236}">
                <a16:creationId xmlns:a16="http://schemas.microsoft.com/office/drawing/2014/main" id="{28E6EE6D-F500-4748-BB84-B6F9936C86AC}"/>
              </a:ext>
            </a:extLst>
          </p:cNvPr>
          <p:cNvSpPr>
            <a:spLocks xmlns:a="http://schemas.openxmlformats.org/drawingml/2006/main" noGrp="1"/>
          </p:cNvSpPr>
          <p:nvPr/>
        </p:nvSpPr>
        <p:spPr>
          <a:xfrm xmlns:a="http://schemas.openxmlformats.org/drawingml/2006/main">
            <a:off x="714375" y="4238625"/>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5"/>
                </a:solidFill>
                <a:latin typeface="DejaVu Sans"/>
                <a:ea typeface="DejaVu Sans"/>
                <a:cs typeface="DejaVu Sans"/>
              </a:defRPr>
            </a:pPr>
            <a:r>
              <a:rPr sz="2325" b="1">
                <a:solidFill>
                  <a:srgbClr val="173D35"/>
                </a:solidFill>
                <a:latin typeface="DejaVu Sans"/>
                <a:ea typeface="DejaVu Sans"/>
                <a:cs typeface="DejaVu Sans"/>
              </a:rPr>
              <a:t>Jarry Gonzalez</a:t>
            </a:r>
          </a:p>
        </p:txBody>
      </p:sp>
      <p:sp>
        <p:nvSpPr>
          <p:cNvPr id="12" name="">
            <a:extLst xmlns:a="http://schemas.openxmlformats.org/drawingml/2006/main">
              <a:ext uri="{FF2B5EF4-FFF2-40B4-BE49-F238E27FC236}">
                <a16:creationId xmlns:a16="http://schemas.microsoft.com/office/drawing/2014/main" id="{581A05EE-82A7-421A-B00F-2E4A655D99A5}"/>
              </a:ext>
            </a:extLst>
          </p:cNvPr>
          <p:cNvSpPr>
            <a:spLocks xmlns:a="http://schemas.openxmlformats.org/drawingml/2006/main" noGrp="1"/>
          </p:cNvSpPr>
          <p:nvPr/>
        </p:nvSpPr>
        <p:spPr>
          <a:xfrm xmlns:a="http://schemas.openxmlformats.org/drawingml/2006/main">
            <a:off x="7429500" y="4238625"/>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2"/>
                </a:solidFill>
                <a:latin typeface="DejaVu Sans"/>
                <a:ea typeface="DejaVu Sans"/>
                <a:cs typeface="DejaVu Sans"/>
              </a:defRPr>
            </a:pPr>
            <a:r>
              <a:rPr sz="2175" b="0">
                <a:solidFill>
                  <a:srgbClr val="142C32"/>
                </a:solidFill>
                <a:latin typeface="DejaVu Sans"/>
                <a:ea typeface="DejaVu Sans"/>
                <a:cs typeface="DejaVu Sans"/>
              </a:rPr>
              <a:t>1127998</a:t>
            </a:r>
          </a:p>
        </p:txBody>
      </p:sp>
      <p:sp>
        <p:nvSpPr>
          <p:cNvPr id="13" name="">
            <a:extLst xmlns:a="http://schemas.openxmlformats.org/drawingml/2006/main">
              <a:ext uri="{FF2B5EF4-FFF2-40B4-BE49-F238E27FC236}">
                <a16:creationId xmlns:a16="http://schemas.microsoft.com/office/drawing/2014/main" id="{32621EE2-C872-46DE-82C2-C511F67C7BA6}"/>
              </a:ext>
            </a:extLst>
          </p:cNvPr>
          <p:cNvSpPr>
            <a:spLocks xmlns:a="http://schemas.openxmlformats.org/drawingml/2006/main" noGrp="1"/>
          </p:cNvSpPr>
          <p:nvPr/>
        </p:nvSpPr>
        <p:spPr>
          <a:xfrm xmlns:a="http://schemas.openxmlformats.org/drawingml/2006/main">
            <a:off x="714375" y="4857750"/>
            <a:ext cx="63341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73D35"/>
                </a:solidFill>
                <a:latin typeface="DejaVu Sans"/>
                <a:ea typeface="DejaVu Sans"/>
                <a:cs typeface="DejaVu Sans"/>
              </a:defRPr>
            </a:pPr>
            <a:r>
              <a:rPr sz="2325" b="1">
                <a:solidFill>
                  <a:srgbClr val="173D35"/>
                </a:solidFill>
                <a:latin typeface="DejaVu Sans"/>
                <a:ea typeface="DejaVu Sans"/>
                <a:cs typeface="DejaVu Sans"/>
              </a:rPr>
              <a:t>Daniel Cruz</a:t>
            </a:r>
          </a:p>
        </p:txBody>
      </p:sp>
      <p:sp>
        <p:nvSpPr>
          <p:cNvPr id="14" name="">
            <a:extLst xmlns:a="http://schemas.openxmlformats.org/drawingml/2006/main">
              <a:ext uri="{FF2B5EF4-FFF2-40B4-BE49-F238E27FC236}">
                <a16:creationId xmlns:a16="http://schemas.microsoft.com/office/drawing/2014/main" id="{E0704A2D-24AF-41C9-B012-9A5F13D4F001}"/>
              </a:ext>
            </a:extLst>
          </p:cNvPr>
          <p:cNvSpPr>
            <a:spLocks xmlns:a="http://schemas.openxmlformats.org/drawingml/2006/main" noGrp="1"/>
          </p:cNvSpPr>
          <p:nvPr/>
        </p:nvSpPr>
        <p:spPr>
          <a:xfrm xmlns:a="http://schemas.openxmlformats.org/drawingml/2006/main">
            <a:off x="7429500" y="4857750"/>
            <a:ext cx="3333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0">
                <a:solidFill>
                  <a:srgbClr val="142C32"/>
                </a:solidFill>
                <a:latin typeface="DejaVu Sans"/>
                <a:ea typeface="DejaVu Sans"/>
                <a:cs typeface="DejaVu Sans"/>
              </a:defRPr>
            </a:pPr>
            <a:r>
              <a:rPr sz="2175" b="0">
                <a:solidFill>
                  <a:srgbClr val="142C32"/>
                </a:solidFill>
                <a:latin typeface="DejaVu Sans"/>
                <a:ea typeface="DejaVu Sans"/>
                <a:cs typeface="DejaVu Sans"/>
              </a:rPr>
              <a:t>1128565</a:t>
            </a:r>
          </a:p>
        </p:txBody>
      </p:sp>
      <p:sp>
        <p:nvSpPr>
          <p:cNvPr id="15" name="">
            <a:extLst xmlns:a="http://schemas.openxmlformats.org/drawingml/2006/main">
              <a:ext uri="{FF2B5EF4-FFF2-40B4-BE49-F238E27FC236}">
                <a16:creationId xmlns:a16="http://schemas.microsoft.com/office/drawing/2014/main" id="{77D80D3D-4EC9-4BC0-9272-C22D22AB8239}"/>
              </a:ext>
            </a:extLst>
          </p:cNvPr>
          <p:cNvSpPr>
            <a:spLocks xmlns:a="http://schemas.openxmlformats.org/drawingml/2006/main" noGrp="1"/>
          </p:cNvSpPr>
          <p:nvPr/>
        </p:nvSpPr>
        <p:spPr>
          <a:xfrm xmlns:a="http://schemas.openxmlformats.org/drawingml/2006/main">
            <a:off x="714375" y="5734050"/>
            <a:ext cx="1000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53666B"/>
                </a:solidFill>
                <a:latin typeface="DejaVu Sans"/>
                <a:ea typeface="DejaVu Sans"/>
                <a:cs typeface="DejaVu Sans"/>
              </a:defRPr>
            </a:pPr>
            <a:r>
              <a:rPr sz="2025" b="0">
                <a:solidFill>
                  <a:srgbClr val="53666B"/>
                </a:solidFill>
                <a:latin typeface="DejaVu Sans"/>
                <a:ea typeface="DejaVu Sans"/>
                <a:cs typeface="DejaVu Sans"/>
              </a:rPr>
              <a:t>Profesor: Santos Ramos</a:t>
            </a:r>
          </a:p>
        </p:txBody>
      </p:sp>
    </p:spTree>
    <p:extLst>
      <p:ext uri="{BB962C8B-B14F-4D97-AF65-F5344CB8AC3E}">
        <p14:creationId xmlns:p14="http://schemas.microsoft.com/office/powerpoint/2010/main" val="1299848433"/>
      </p:ext>
    </p:extLst>
  </p:cSld>
</p:sld>
</file>

<file path=ppt/slides/slide15.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5F43DBE-2ABB-4F88-A1E1-D2D4C36B9D3A}"/>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Correcciones y verificación</a:t>
            </a:r>
          </a:p>
        </p:txBody>
      </p:sp>
      <p:sp>
        <p:nvSpPr>
          <p:cNvPr id="2" name="">
            <a:extLst xmlns:a="http://schemas.openxmlformats.org/drawingml/2006/main">
              <a:ext uri="{FF2B5EF4-FFF2-40B4-BE49-F238E27FC236}">
                <a16:creationId xmlns:a16="http://schemas.microsoft.com/office/drawing/2014/main" id="{227869FF-16F3-4AFA-A757-B77558E483E5}"/>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15</a:t>
            </a:r>
          </a:p>
        </p:txBody>
      </p:sp>
      <p:sp>
        <p:nvSpPr>
          <p:cNvPr id="3" name="">
            <a:extLst xmlns:a="http://schemas.openxmlformats.org/drawingml/2006/main">
              <a:ext uri="{FF2B5EF4-FFF2-40B4-BE49-F238E27FC236}">
                <a16:creationId xmlns:a16="http://schemas.microsoft.com/office/drawing/2014/main" id="{E77F4E77-CF76-459F-BD7B-B6F7054BCD83}"/>
              </a:ext>
            </a:extLst>
          </p:cNvPr>
          <p:cNvSpPr>
            <a:spLocks xmlns:a="http://schemas.openxmlformats.org/drawingml/2006/main" noGrp="1"/>
          </p:cNvSpPr>
          <p:nvPr/>
        </p:nvSpPr>
        <p:spPr>
          <a:xfrm xmlns:a="http://schemas.openxmlformats.org/drawingml/2006/main">
            <a:off x="666750" y="1666875"/>
            <a:ext cx="4762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7200" b="1">
                <a:solidFill>
                  <a:srgbClr val="173D35"/>
                </a:solidFill>
                <a:latin typeface="DejaVu Sans"/>
                <a:ea typeface="DejaVu Sans"/>
                <a:cs typeface="DejaVu Sans"/>
              </a:defRPr>
            </a:pPr>
            <a:r>
              <a:rPr sz="7200" b="1">
                <a:solidFill>
                  <a:srgbClr val="173D35"/>
                </a:solidFill>
                <a:latin typeface="DejaVu Sans"/>
                <a:ea typeface="DejaVu Sans"/>
                <a:cs typeface="DejaVu Sans"/>
              </a:rPr>
              <a:t>463</a:t>
            </a:r>
          </a:p>
        </p:txBody>
      </p:sp>
      <p:sp>
        <p:nvSpPr>
          <p:cNvPr id="4" name="">
            <a:extLst xmlns:a="http://schemas.openxmlformats.org/drawingml/2006/main">
              <a:ext uri="{FF2B5EF4-FFF2-40B4-BE49-F238E27FC236}">
                <a16:creationId xmlns:a16="http://schemas.microsoft.com/office/drawing/2014/main" id="{516C052F-45E9-4F76-8A0B-2AFAFA4F9DC2}"/>
              </a:ext>
            </a:extLst>
          </p:cNvPr>
          <p:cNvSpPr>
            <a:spLocks xmlns:a="http://schemas.openxmlformats.org/drawingml/2006/main" noGrp="1"/>
          </p:cNvSpPr>
          <p:nvPr/>
        </p:nvSpPr>
        <p:spPr>
          <a:xfrm xmlns:a="http://schemas.openxmlformats.org/drawingml/2006/main">
            <a:off x="666750" y="2952750"/>
            <a:ext cx="5238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C32"/>
                </a:solidFill>
                <a:latin typeface="DejaVu Sans"/>
                <a:ea typeface="DejaVu Sans"/>
                <a:cs typeface="DejaVu Sans"/>
              </a:defRPr>
            </a:pPr>
            <a:r>
              <a:rPr sz="2400" b="0">
                <a:solidFill>
                  <a:srgbClr val="142C32"/>
                </a:solidFill>
                <a:latin typeface="DejaVu Sans"/>
                <a:ea typeface="DejaVu Sans"/>
                <a:cs typeface="DejaVu Sans"/>
              </a:rPr>
              <a:t>pruebas del servidor aprobadas</a:t>
            </a:r>
          </a:p>
          <a:p xmlns:a="http://schemas.openxmlformats.org/drawingml/2006/main">
            <a:pPr>
              <a:defRPr sz="2400" b="0">
                <a:solidFill>
                  <a:srgbClr val="142C32"/>
                </a:solidFill>
                <a:latin typeface="DejaVu Sans"/>
                <a:ea typeface="DejaVu Sans"/>
                <a:cs typeface="DejaVu Sans"/>
              </a:defRPr>
            </a:pPr>
            <a:r>
              <a:rPr sz="2400" b="0">
                <a:solidFill>
                  <a:srgbClr val="142C32"/>
                </a:solidFill>
                <a:latin typeface="DejaVu Sans"/>
                <a:ea typeface="DejaVu Sans"/>
                <a:cs typeface="DejaVu Sans"/>
              </a:rPr>
              <a:t>0 fallidas · 0 omitidas</a:t>
            </a:r>
          </a:p>
        </p:txBody>
      </p:sp>
      <p:sp>
        <p:nvSpPr>
          <p:cNvPr id="5" name="">
            <a:extLst xmlns:a="http://schemas.openxmlformats.org/drawingml/2006/main">
              <a:ext uri="{FF2B5EF4-FFF2-40B4-BE49-F238E27FC236}">
                <a16:creationId xmlns:a16="http://schemas.microsoft.com/office/drawing/2014/main" id="{4D8544FA-27A7-44E9-BAA7-77C101461A44}"/>
              </a:ext>
            </a:extLst>
          </p:cNvPr>
          <p:cNvSpPr>
            <a:spLocks xmlns:a="http://schemas.openxmlformats.org/drawingml/2006/main" noGrp="1"/>
          </p:cNvSpPr>
          <p:nvPr/>
        </p:nvSpPr>
        <p:spPr>
          <a:xfrm xmlns:a="http://schemas.openxmlformats.org/drawingml/2006/main">
            <a:off x="6667500" y="1838325"/>
            <a:ext cx="4762500" cy="3333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C32"/>
                </a:solidFill>
                <a:latin typeface="DejaVu Sans"/>
                <a:ea typeface="DejaVu Sans"/>
                <a:cs typeface="DejaVu Sans"/>
              </a:defRPr>
            </a:pPr>
            <a:r>
              <a:rPr sz="2250" b="0">
                <a:solidFill>
                  <a:srgbClr val="142C32"/>
                </a:solidFill>
                <a:latin typeface="DejaVu Sans"/>
                <a:ea typeface="DejaVu Sans"/>
                <a:cs typeface="DejaVu Sans"/>
              </a:rPr>
              <a:t>Revisión por roles</a:t>
            </a:r>
          </a:p>
          <a:p xmlns:a="http://schemas.openxmlformats.org/drawingml/2006/main">
            <a:r>
              <a:t/>
            </a:r>
          </a:p>
          <a:p xmlns:a="http://schemas.openxmlformats.org/drawingml/2006/main">
            <a:pPr>
              <a:defRPr sz="2250" b="0">
                <a:solidFill>
                  <a:srgbClr val="142C32"/>
                </a:solidFill>
                <a:latin typeface="DejaVu Sans"/>
                <a:ea typeface="DejaVu Sans"/>
                <a:cs typeface="DejaVu Sans"/>
              </a:defRPr>
            </a:pPr>
            <a:r>
              <a:rPr sz="2250" b="0">
                <a:solidFill>
                  <a:srgbClr val="142C32"/>
                </a:solidFill>
                <a:latin typeface="DejaVu Sans"/>
                <a:ea typeface="DejaVu Sans"/>
                <a:cs typeface="DejaVu Sans"/>
              </a:rPr>
              <a:t>Casos límite y concurrencia</a:t>
            </a:r>
          </a:p>
          <a:p xmlns:a="http://schemas.openxmlformats.org/drawingml/2006/main">
            <a:r>
              <a:t/>
            </a:r>
          </a:p>
          <a:p xmlns:a="http://schemas.openxmlformats.org/drawingml/2006/main">
            <a:pPr>
              <a:defRPr sz="2250" b="0">
                <a:solidFill>
                  <a:srgbClr val="142C32"/>
                </a:solidFill>
                <a:latin typeface="DejaVu Sans"/>
                <a:ea typeface="DejaVu Sans"/>
                <a:cs typeface="DejaVu Sans"/>
              </a:defRPr>
            </a:pPr>
            <a:r>
              <a:rPr sz="2250" b="0">
                <a:solidFill>
                  <a:srgbClr val="142C32"/>
                </a:solidFill>
                <a:latin typeface="DejaVu Sans"/>
                <a:ea typeface="DejaVu Sans"/>
                <a:cs typeface="DejaVu Sans"/>
              </a:rPr>
              <a:t>Navegador y emulador</a:t>
            </a:r>
          </a:p>
          <a:p xmlns:a="http://schemas.openxmlformats.org/drawingml/2006/main">
            <a:r>
              <a:t/>
            </a:r>
          </a:p>
          <a:p xmlns:a="http://schemas.openxmlformats.org/drawingml/2006/main">
            <a:pPr>
              <a:defRPr sz="2250" b="0">
                <a:solidFill>
                  <a:srgbClr val="142C32"/>
                </a:solidFill>
                <a:latin typeface="DejaVu Sans"/>
                <a:ea typeface="DejaVu Sans"/>
                <a:cs typeface="DejaVu Sans"/>
              </a:defRPr>
            </a:pPr>
            <a:r>
              <a:rPr sz="2250" b="0">
                <a:solidFill>
                  <a:srgbClr val="142C32"/>
                </a:solidFill>
                <a:latin typeface="DejaVu Sans"/>
                <a:ea typeface="DejaVu Sans"/>
                <a:cs typeface="DejaVu Sans"/>
              </a:rPr>
              <a:t>Evidencia y guía manual</a:t>
            </a:r>
          </a:p>
        </p:txBody>
      </p:sp>
      <p:sp>
        <p:nvSpPr>
          <p:cNvPr id="6" name="">
            <a:extLst xmlns:a="http://schemas.openxmlformats.org/drawingml/2006/main">
              <a:ext uri="{FF2B5EF4-FFF2-40B4-BE49-F238E27FC236}">
                <a16:creationId xmlns:a16="http://schemas.microsoft.com/office/drawing/2014/main" id="{3CAC6BB5-C6B4-4A87-9FB6-D11694CD2513}"/>
              </a:ext>
            </a:extLst>
          </p:cNvPr>
          <p:cNvSpPr>
            <a:spLocks xmlns:a="http://schemas.openxmlformats.org/drawingml/2006/main" noGrp="1"/>
          </p:cNvSpPr>
          <p:nvPr/>
        </p:nvSpPr>
        <p:spPr>
          <a:xfrm xmlns:a="http://schemas.openxmlformats.org/drawingml/2006/main">
            <a:off x="666750" y="5629275"/>
            <a:ext cx="10763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66B"/>
                </a:solidFill>
                <a:latin typeface="DejaVu Sans"/>
                <a:ea typeface="DejaVu Sans"/>
                <a:cs typeface="DejaVu Sans"/>
              </a:defRPr>
            </a:pPr>
            <a:r>
              <a:rPr sz="1875" b="0">
                <a:solidFill>
                  <a:srgbClr val="53666B"/>
                </a:solidFill>
                <a:latin typeface="DejaVu Sans"/>
                <a:ea typeface="DejaVu Sans"/>
                <a:cs typeface="DejaVu Sans"/>
              </a:rPr>
              <a:t>El detalle de cobertura y pendientes acompaña esta presentación</a:t>
            </a:r>
          </a:p>
        </p:txBody>
      </p:sp>
    </p:spTree>
    <p:extLst>
      <p:ext uri="{BB962C8B-B14F-4D97-AF65-F5344CB8AC3E}">
        <p14:creationId xmlns:p14="http://schemas.microsoft.com/office/powerpoint/2010/main" val="1575742430"/>
      </p:ext>
    </p:extLst>
  </p:cSld>
</p:sld>
</file>

<file path=ppt/slides/slide16.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BE99A75B-4DDA-45F6-AAB8-B515EB37410D}"/>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SMS con Textbee</a:t>
            </a:r>
          </a:p>
        </p:txBody>
      </p:sp>
      <p:sp>
        <p:nvSpPr>
          <p:cNvPr id="2" name="">
            <a:extLst xmlns:a="http://schemas.openxmlformats.org/drawingml/2006/main">
              <a:ext uri="{FF2B5EF4-FFF2-40B4-BE49-F238E27FC236}">
                <a16:creationId xmlns:a16="http://schemas.microsoft.com/office/drawing/2014/main" id="{9F6C7D81-DC30-4D8C-BE14-98B5FB979B98}"/>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16</a:t>
            </a:r>
          </a:p>
        </p:txBody>
      </p:sp>
      <p:sp>
        <p:nvSpPr>
          <p:cNvPr id="3" name="">
            <a:extLst xmlns:a="http://schemas.openxmlformats.org/drawingml/2006/main">
              <a:ext uri="{FF2B5EF4-FFF2-40B4-BE49-F238E27FC236}">
                <a16:creationId xmlns:a16="http://schemas.microsoft.com/office/drawing/2014/main" id="{7F3B21DD-094A-4B29-853B-52500D98F4BE}"/>
              </a:ext>
            </a:extLst>
          </p:cNvPr>
          <p:cNvSpPr>
            <a:spLocks xmlns:a="http://schemas.openxmlformats.org/drawingml/2006/main" noGrp="1"/>
          </p:cNvSpPr>
          <p:nvPr/>
        </p:nvSpPr>
        <p:spPr>
          <a:xfrm xmlns:a="http://schemas.openxmlformats.org/drawingml/2006/main">
            <a:off x="619125" y="2524125"/>
            <a:ext cx="2333625" cy="13811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4" name="">
            <a:extLst xmlns:a="http://schemas.openxmlformats.org/drawingml/2006/main">
              <a:ext uri="{FF2B5EF4-FFF2-40B4-BE49-F238E27FC236}">
                <a16:creationId xmlns:a16="http://schemas.microsoft.com/office/drawing/2014/main" id="{1B73010F-C3BD-456B-A31F-95B4B9E02B68}"/>
              </a:ext>
            </a:extLst>
          </p:cNvPr>
          <p:cNvSpPr>
            <a:spLocks xmlns:a="http://schemas.openxmlformats.org/drawingml/2006/main" noGrp="1"/>
          </p:cNvSpPr>
          <p:nvPr/>
        </p:nvSpPr>
        <p:spPr>
          <a:xfrm xmlns:a="http://schemas.openxmlformats.org/drawingml/2006/main">
            <a:off x="695325" y="2695575"/>
            <a:ext cx="2181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D35"/>
                </a:solidFill>
                <a:latin typeface="DejaVu Sans"/>
                <a:ea typeface="DejaVu Sans"/>
                <a:cs typeface="DejaVu Sans"/>
              </a:defRPr>
            </a:pPr>
            <a:r>
              <a:rPr sz="1875" b="1">
                <a:solidFill>
                  <a:srgbClr val="173D35"/>
                </a:solidFill>
                <a:latin typeface="DejaVu Sans"/>
                <a:ea typeface="DejaVu Sans"/>
                <a:cs typeface="DejaVu Sans"/>
              </a:rPr>
              <a:t>FuelTrack</a:t>
            </a:r>
          </a:p>
        </p:txBody>
      </p:sp>
      <p:sp>
        <p:nvSpPr>
          <p:cNvPr id="5" name="">
            <a:extLst xmlns:a="http://schemas.openxmlformats.org/drawingml/2006/main">
              <a:ext uri="{FF2B5EF4-FFF2-40B4-BE49-F238E27FC236}">
                <a16:creationId xmlns:a16="http://schemas.microsoft.com/office/drawing/2014/main" id="{A757E42C-C1B7-4BCA-820D-3E2B4C5AAF58}"/>
              </a:ext>
            </a:extLst>
          </p:cNvPr>
          <p:cNvSpPr>
            <a:spLocks xmlns:a="http://schemas.openxmlformats.org/drawingml/2006/main" noGrp="1"/>
          </p:cNvSpPr>
          <p:nvPr/>
        </p:nvSpPr>
        <p:spPr>
          <a:xfrm xmlns:a="http://schemas.openxmlformats.org/drawingml/2006/main">
            <a:off x="695325" y="3209925"/>
            <a:ext cx="21812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API y cola</a:t>
            </a:r>
          </a:p>
        </p:txBody>
      </p:sp>
      <p:sp>
        <p:nvSpPr>
          <p:cNvPr id="6" name="">
            <a:extLst xmlns:a="http://schemas.openxmlformats.org/drawingml/2006/main">
              <a:ext uri="{FF2B5EF4-FFF2-40B4-BE49-F238E27FC236}">
                <a16:creationId xmlns:a16="http://schemas.microsoft.com/office/drawing/2014/main" id="{CD9591CB-DC8E-41D0-A2A5-E505FF22DAD1}"/>
              </a:ext>
            </a:extLst>
          </p:cNvPr>
          <p:cNvSpPr>
            <a:spLocks xmlns:a="http://schemas.openxmlformats.org/drawingml/2006/main" noGrp="1"/>
          </p:cNvSpPr>
          <p:nvPr/>
        </p:nvSpPr>
        <p:spPr>
          <a:xfrm xmlns:a="http://schemas.openxmlformats.org/drawingml/2006/main">
            <a:off x="3476625" y="2524125"/>
            <a:ext cx="2333625" cy="13811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7" name="">
            <a:extLst xmlns:a="http://schemas.openxmlformats.org/drawingml/2006/main">
              <a:ext uri="{FF2B5EF4-FFF2-40B4-BE49-F238E27FC236}">
                <a16:creationId xmlns:a16="http://schemas.microsoft.com/office/drawing/2014/main" id="{6419D883-CA52-410A-A078-FC5E418AA48D}"/>
              </a:ext>
            </a:extLst>
          </p:cNvPr>
          <p:cNvSpPr>
            <a:spLocks xmlns:a="http://schemas.openxmlformats.org/drawingml/2006/main" noGrp="1"/>
          </p:cNvSpPr>
          <p:nvPr/>
        </p:nvSpPr>
        <p:spPr>
          <a:xfrm xmlns:a="http://schemas.openxmlformats.org/drawingml/2006/main">
            <a:off x="3552825" y="2695575"/>
            <a:ext cx="2181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D35"/>
                </a:solidFill>
                <a:latin typeface="DejaVu Sans"/>
                <a:ea typeface="DejaVu Sans"/>
                <a:cs typeface="DejaVu Sans"/>
              </a:defRPr>
            </a:pPr>
            <a:r>
              <a:rPr sz="1875" b="1">
                <a:solidFill>
                  <a:srgbClr val="173D35"/>
                </a:solidFill>
                <a:latin typeface="DejaVu Sans"/>
                <a:ea typeface="DejaVu Sans"/>
                <a:cs typeface="DejaVu Sans"/>
              </a:rPr>
              <a:t>Textbee</a:t>
            </a:r>
          </a:p>
        </p:txBody>
      </p:sp>
      <p:sp>
        <p:nvSpPr>
          <p:cNvPr id="8" name="">
            <a:extLst xmlns:a="http://schemas.openxmlformats.org/drawingml/2006/main">
              <a:ext uri="{FF2B5EF4-FFF2-40B4-BE49-F238E27FC236}">
                <a16:creationId xmlns:a16="http://schemas.microsoft.com/office/drawing/2014/main" id="{4A5BF3B9-FF0C-4108-B4C3-AE655E7D4A5B}"/>
              </a:ext>
            </a:extLst>
          </p:cNvPr>
          <p:cNvSpPr>
            <a:spLocks xmlns:a="http://schemas.openxmlformats.org/drawingml/2006/main" noGrp="1"/>
          </p:cNvSpPr>
          <p:nvPr/>
        </p:nvSpPr>
        <p:spPr>
          <a:xfrm xmlns:a="http://schemas.openxmlformats.org/drawingml/2006/main">
            <a:off x="3552825" y="3209925"/>
            <a:ext cx="21812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Servicio HTTPS</a:t>
            </a:r>
          </a:p>
        </p:txBody>
      </p:sp>
      <p:sp>
        <p:nvSpPr>
          <p:cNvPr id="9" name="">
            <a:extLst xmlns:a="http://schemas.openxmlformats.org/drawingml/2006/main">
              <a:ext uri="{FF2B5EF4-FFF2-40B4-BE49-F238E27FC236}">
                <a16:creationId xmlns:a16="http://schemas.microsoft.com/office/drawing/2014/main" id="{0B121B19-2DEB-450F-86F2-F3C2B030F1F6}"/>
              </a:ext>
            </a:extLst>
          </p:cNvPr>
          <p:cNvSpPr>
            <a:spLocks xmlns:a="http://schemas.openxmlformats.org/drawingml/2006/main" noGrp="1"/>
          </p:cNvSpPr>
          <p:nvPr/>
        </p:nvSpPr>
        <p:spPr>
          <a:xfrm xmlns:a="http://schemas.openxmlformats.org/drawingml/2006/main">
            <a:off x="6334125" y="2524125"/>
            <a:ext cx="2333625" cy="13811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10" name="">
            <a:extLst xmlns:a="http://schemas.openxmlformats.org/drawingml/2006/main">
              <a:ext uri="{FF2B5EF4-FFF2-40B4-BE49-F238E27FC236}">
                <a16:creationId xmlns:a16="http://schemas.microsoft.com/office/drawing/2014/main" id="{15240F6A-561C-4E55-ABF3-0359D8904BAD}"/>
              </a:ext>
            </a:extLst>
          </p:cNvPr>
          <p:cNvSpPr>
            <a:spLocks xmlns:a="http://schemas.openxmlformats.org/drawingml/2006/main" noGrp="1"/>
          </p:cNvSpPr>
          <p:nvPr/>
        </p:nvSpPr>
        <p:spPr>
          <a:xfrm xmlns:a="http://schemas.openxmlformats.org/drawingml/2006/main">
            <a:off x="6410325" y="2695575"/>
            <a:ext cx="2181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D35"/>
                </a:solidFill>
                <a:latin typeface="DejaVu Sans"/>
                <a:ea typeface="DejaVu Sans"/>
                <a:cs typeface="DejaVu Sans"/>
              </a:defRPr>
            </a:pPr>
            <a:r>
              <a:rPr sz="1875" b="1">
                <a:solidFill>
                  <a:srgbClr val="173D35"/>
                </a:solidFill>
                <a:latin typeface="DejaVu Sans"/>
                <a:ea typeface="DejaVu Sans"/>
                <a:cs typeface="DejaVu Sans"/>
              </a:rPr>
              <a:t>Android</a:t>
            </a:r>
          </a:p>
        </p:txBody>
      </p:sp>
      <p:sp>
        <p:nvSpPr>
          <p:cNvPr id="11" name="">
            <a:extLst xmlns:a="http://schemas.openxmlformats.org/drawingml/2006/main">
              <a:ext uri="{FF2B5EF4-FFF2-40B4-BE49-F238E27FC236}">
                <a16:creationId xmlns:a16="http://schemas.microsoft.com/office/drawing/2014/main" id="{A720A4D7-1BA1-4E7A-A588-3103ADC90291}"/>
              </a:ext>
            </a:extLst>
          </p:cNvPr>
          <p:cNvSpPr>
            <a:spLocks xmlns:a="http://schemas.openxmlformats.org/drawingml/2006/main" noGrp="1"/>
          </p:cNvSpPr>
          <p:nvPr/>
        </p:nvSpPr>
        <p:spPr>
          <a:xfrm xmlns:a="http://schemas.openxmlformats.org/drawingml/2006/main">
            <a:off x="6410325" y="3209925"/>
            <a:ext cx="21812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SIM del operador</a:t>
            </a:r>
          </a:p>
        </p:txBody>
      </p:sp>
      <p:sp>
        <p:nvSpPr>
          <p:cNvPr id="12" name="">
            <a:extLst xmlns:a="http://schemas.openxmlformats.org/drawingml/2006/main">
              <a:ext uri="{FF2B5EF4-FFF2-40B4-BE49-F238E27FC236}">
                <a16:creationId xmlns:a16="http://schemas.microsoft.com/office/drawing/2014/main" id="{37FFCC03-4AF4-46C2-A5FD-BA52FFB09688}"/>
              </a:ext>
            </a:extLst>
          </p:cNvPr>
          <p:cNvSpPr>
            <a:spLocks xmlns:a="http://schemas.openxmlformats.org/drawingml/2006/main" noGrp="1"/>
          </p:cNvSpPr>
          <p:nvPr/>
        </p:nvSpPr>
        <p:spPr>
          <a:xfrm xmlns:a="http://schemas.openxmlformats.org/drawingml/2006/main">
            <a:off x="9191625" y="2524125"/>
            <a:ext cx="2333625" cy="1381125"/>
          </a:xfrm>
          <a:prstGeom xmlns:a="http://schemas.openxmlformats.org/drawingml/2006/main" prst="rect">
            <a:avLst/>
          </a:prstGeom>
          <a:solidFill xmlns:a="http://schemas.openxmlformats.org/drawingml/2006/main">
            <a:srgbClr val="E7EDE7"/>
          </a:solidFill>
          <a:ln xmlns:a="http://schemas.openxmlformats.org/drawingml/2006/main" w="19050">
            <a:solidFill>
              <a:srgbClr val="173D35"/>
            </a:solidFill>
          </a:ln>
        </p:spPr>
      </p:sp>
      <p:sp>
        <p:nvSpPr>
          <p:cNvPr id="13" name="">
            <a:extLst xmlns:a="http://schemas.openxmlformats.org/drawingml/2006/main">
              <a:ext uri="{FF2B5EF4-FFF2-40B4-BE49-F238E27FC236}">
                <a16:creationId xmlns:a16="http://schemas.microsoft.com/office/drawing/2014/main" id="{EF5A20DB-E746-4159-8508-B66C87B82F51}"/>
              </a:ext>
            </a:extLst>
          </p:cNvPr>
          <p:cNvSpPr>
            <a:spLocks xmlns:a="http://schemas.openxmlformats.org/drawingml/2006/main" noGrp="1"/>
          </p:cNvSpPr>
          <p:nvPr/>
        </p:nvSpPr>
        <p:spPr>
          <a:xfrm xmlns:a="http://schemas.openxmlformats.org/drawingml/2006/main">
            <a:off x="9267825" y="2695575"/>
            <a:ext cx="21812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173D35"/>
                </a:solidFill>
                <a:latin typeface="DejaVu Sans"/>
                <a:ea typeface="DejaVu Sans"/>
                <a:cs typeface="DejaVu Sans"/>
              </a:defRPr>
            </a:pPr>
            <a:r>
              <a:rPr sz="1875" b="1">
                <a:solidFill>
                  <a:srgbClr val="173D35"/>
                </a:solidFill>
                <a:latin typeface="DejaVu Sans"/>
                <a:ea typeface="DejaVu Sans"/>
                <a:cs typeface="DejaVu Sans"/>
              </a:rPr>
              <a:t>Destinatario</a:t>
            </a:r>
          </a:p>
        </p:txBody>
      </p:sp>
      <p:sp>
        <p:nvSpPr>
          <p:cNvPr id="14" name="">
            <a:extLst xmlns:a="http://schemas.openxmlformats.org/drawingml/2006/main">
              <a:ext uri="{FF2B5EF4-FFF2-40B4-BE49-F238E27FC236}">
                <a16:creationId xmlns:a16="http://schemas.microsoft.com/office/drawing/2014/main" id="{40383BE1-6047-449C-8171-F0FD482F6F30}"/>
              </a:ext>
            </a:extLst>
          </p:cNvPr>
          <p:cNvSpPr>
            <a:spLocks xmlns:a="http://schemas.openxmlformats.org/drawingml/2006/main" noGrp="1"/>
          </p:cNvSpPr>
          <p:nvPr/>
        </p:nvSpPr>
        <p:spPr>
          <a:xfrm xmlns:a="http://schemas.openxmlformats.org/drawingml/2006/main">
            <a:off x="9267825" y="3209925"/>
            <a:ext cx="218122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142C32"/>
                </a:solidFill>
                <a:latin typeface="DejaVu Sans"/>
                <a:ea typeface="DejaVu Sans"/>
                <a:cs typeface="DejaVu Sans"/>
              </a:defRPr>
            </a:pPr>
            <a:r>
              <a:rPr sz="1725" b="0">
                <a:solidFill>
                  <a:srgbClr val="142C32"/>
                </a:solidFill>
                <a:latin typeface="DejaVu Sans"/>
                <a:ea typeface="DejaVu Sans"/>
                <a:cs typeface="DejaVu Sans"/>
              </a:rPr>
              <a:t>iPhone u otro móvil</a:t>
            </a:r>
          </a:p>
        </p:txBody>
      </p:sp>
      <p:cxnSp>
        <p:nvCxnSpPr>
          <p:cNvPr id="34" name=""/>
          <p:cNvCxnSpPr>
            <a:stCxn xmlns:a="http://schemas.openxmlformats.org/drawingml/2006/main" id="3" idx="3"/>
            <a:endCxn xmlns:a="http://schemas.openxmlformats.org/drawingml/2006/main" id="6" idx="1"/>
          </p:cNvCxnSpPr>
          <p:nvPr/>
        </p:nvCxnSpPr>
        <p:spPr>
          <a:xfrm xmlns:a="http://schemas.openxmlformats.org/drawingml/2006/main">
            <a:off x="2952750" y="3214688"/>
            <a:ext cx="523875" cy="0"/>
          </a:xfrm>
          <a:prstGeom xmlns:a="http://schemas.openxmlformats.org/drawingml/2006/main" prst="straightConnector1">
            <a:avLst/>
          </a:prstGeom>
          <a:ln xmlns:a="http://schemas.openxmlformats.org/drawingml/2006/main" w="28575">
            <a:solidFill>
              <a:srgbClr val="D99A32"/>
            </a:solidFill>
            <a:tailEnd type="arrow" w="med" len="med"/>
          </a:ln>
        </p:spPr>
      </p:cxnSp>
      <p:cxnSp>
        <p:nvCxnSpPr>
          <p:cNvPr id="35" name=""/>
          <p:cNvCxnSpPr>
            <a:stCxn xmlns:a="http://schemas.openxmlformats.org/drawingml/2006/main" id="6" idx="3"/>
            <a:endCxn xmlns:a="http://schemas.openxmlformats.org/drawingml/2006/main" id="9" idx="1"/>
          </p:cNvCxnSpPr>
          <p:nvPr/>
        </p:nvCxnSpPr>
        <p:spPr>
          <a:xfrm xmlns:a="http://schemas.openxmlformats.org/drawingml/2006/main">
            <a:off x="5810250" y="3214688"/>
            <a:ext cx="523875" cy="0"/>
          </a:xfrm>
          <a:prstGeom xmlns:a="http://schemas.openxmlformats.org/drawingml/2006/main" prst="straightConnector1">
            <a:avLst/>
          </a:prstGeom>
          <a:ln xmlns:a="http://schemas.openxmlformats.org/drawingml/2006/main" w="28575">
            <a:solidFill>
              <a:srgbClr val="D99A32"/>
            </a:solidFill>
            <a:tailEnd type="arrow" w="med" len="med"/>
          </a:ln>
        </p:spPr>
      </p:cxnSp>
      <p:cxnSp>
        <p:nvCxnSpPr>
          <p:cNvPr id="36" name=""/>
          <p:cNvCxnSpPr>
            <a:stCxn xmlns:a="http://schemas.openxmlformats.org/drawingml/2006/main" id="9" idx="3"/>
            <a:endCxn xmlns:a="http://schemas.openxmlformats.org/drawingml/2006/main" id="12" idx="1"/>
          </p:cNvCxnSpPr>
          <p:nvPr/>
        </p:nvCxnSpPr>
        <p:spPr>
          <a:xfrm xmlns:a="http://schemas.openxmlformats.org/drawingml/2006/main">
            <a:off x="8667750" y="3214688"/>
            <a:ext cx="523875" cy="0"/>
          </a:xfrm>
          <a:prstGeom xmlns:a="http://schemas.openxmlformats.org/drawingml/2006/main" prst="straightConnector1">
            <a:avLst/>
          </a:prstGeom>
          <a:ln xmlns:a="http://schemas.openxmlformats.org/drawingml/2006/main" w="28575">
            <a:solidFill>
              <a:srgbClr val="D99A32"/>
            </a:solidFill>
            <a:tailEnd type="arrow" w="med" len="med"/>
          </a:ln>
        </p:spPr>
      </p:cxnSp>
      <p:sp>
        <p:nvSpPr>
          <p:cNvPr id="18" name="">
            <a:extLst xmlns:a="http://schemas.openxmlformats.org/drawingml/2006/main">
              <a:ext uri="{FF2B5EF4-FFF2-40B4-BE49-F238E27FC236}">
                <a16:creationId xmlns:a16="http://schemas.microsoft.com/office/drawing/2014/main" id="{03B51C2F-ECE6-4C9F-B90B-534F07768196}"/>
              </a:ext>
            </a:extLst>
          </p:cNvPr>
          <p:cNvSpPr>
            <a:spLocks xmlns:a="http://schemas.openxmlformats.org/drawingml/2006/main" noGrp="1"/>
          </p:cNvSpPr>
          <p:nvPr/>
        </p:nvSpPr>
        <p:spPr>
          <a:xfrm xmlns:a="http://schemas.openxmlformats.org/drawingml/2006/main">
            <a:off x="666750" y="46863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75" b="1">
                <a:solidFill>
                  <a:srgbClr val="173D35"/>
                </a:solidFill>
                <a:latin typeface="DejaVu Sans"/>
                <a:ea typeface="DejaVu Sans"/>
                <a:cs typeface="DejaVu Sans"/>
              </a:defRPr>
            </a:pPr>
            <a:r>
              <a:rPr sz="2475" b="1">
                <a:solidFill>
                  <a:srgbClr val="173D35"/>
                </a:solidFill>
                <a:latin typeface="DejaVu Sans"/>
                <a:ea typeface="DejaVu Sans"/>
                <a:cs typeface="DejaVu Sans"/>
              </a:rPr>
              <a:t>El iPhone puede recibir el mensaje y abrir el ticket</a:t>
            </a:r>
          </a:p>
        </p:txBody>
      </p:sp>
      <p:sp>
        <p:nvSpPr>
          <p:cNvPr id="19" name="">
            <a:extLst xmlns:a="http://schemas.openxmlformats.org/drawingml/2006/main">
              <a:ext uri="{FF2B5EF4-FFF2-40B4-BE49-F238E27FC236}">
                <a16:creationId xmlns:a16="http://schemas.microsoft.com/office/drawing/2014/main" id="{751A31D3-9C38-4FCF-A0DA-6F26D653EDCE}"/>
              </a:ext>
            </a:extLst>
          </p:cNvPr>
          <p:cNvSpPr>
            <a:spLocks xmlns:a="http://schemas.openxmlformats.org/drawingml/2006/main" noGrp="1"/>
          </p:cNvSpPr>
          <p:nvPr/>
        </p:nvSpPr>
        <p:spPr>
          <a:xfrm xmlns:a="http://schemas.openxmlformats.org/drawingml/2006/main">
            <a:off x="666750" y="5638800"/>
            <a:ext cx="10668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53666B"/>
                </a:solidFill>
                <a:latin typeface="DejaVu Sans"/>
                <a:ea typeface="DejaVu Sans"/>
                <a:cs typeface="DejaVu Sans"/>
              </a:defRPr>
            </a:pPr>
            <a:r>
              <a:rPr sz="1950" b="0">
                <a:solidFill>
                  <a:srgbClr val="53666B"/>
                </a:solidFill>
                <a:latin typeface="DejaVu Sans"/>
                <a:ea typeface="DejaVu Sans"/>
                <a:cs typeface="DejaVu Sans"/>
              </a:rPr>
              <a:t>Pendiente: Android físico con SIM, cuenta y entrega real</a:t>
            </a:r>
          </a:p>
        </p:txBody>
      </p:sp>
    </p:spTree>
    <p:extLst>
      <p:ext uri="{BB962C8B-B14F-4D97-AF65-F5344CB8AC3E}">
        <p14:creationId xmlns:p14="http://schemas.microsoft.com/office/powerpoint/2010/main" val="616553512"/>
      </p:ext>
    </p:extLst>
  </p:cSld>
</p:sld>
</file>

<file path=ppt/slides/slide17.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A8EDC21-39B1-4CD7-9424-307AD0736EEA}"/>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Demostración en vivo</a:t>
            </a:r>
          </a:p>
        </p:txBody>
      </p:sp>
      <p:sp>
        <p:nvSpPr>
          <p:cNvPr id="2" name="">
            <a:extLst xmlns:a="http://schemas.openxmlformats.org/drawingml/2006/main">
              <a:ext uri="{FF2B5EF4-FFF2-40B4-BE49-F238E27FC236}">
                <a16:creationId xmlns:a16="http://schemas.microsoft.com/office/drawing/2014/main" id="{B34BB5DC-4BFC-4CC8-92FE-B83FAF1BE533}"/>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17</a:t>
            </a:r>
          </a:p>
        </p:txBody>
      </p:sp>
      <p:sp>
        <p:nvSpPr>
          <p:cNvPr id="3" name="">
            <a:extLst xmlns:a="http://schemas.openxmlformats.org/drawingml/2006/main">
              <a:ext uri="{FF2B5EF4-FFF2-40B4-BE49-F238E27FC236}">
                <a16:creationId xmlns:a16="http://schemas.microsoft.com/office/drawing/2014/main" id="{AE8D025C-DE44-455F-B301-7E4C31EA112E}"/>
              </a:ext>
            </a:extLst>
          </p:cNvPr>
          <p:cNvSpPr>
            <a:spLocks xmlns:a="http://schemas.openxmlformats.org/drawingml/2006/main" noGrp="1"/>
          </p:cNvSpPr>
          <p:nvPr/>
        </p:nvSpPr>
        <p:spPr>
          <a:xfrm xmlns:a="http://schemas.openxmlformats.org/drawingml/2006/main">
            <a:off x="666750" y="18097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Solicitante y supervisor</a:t>
            </a:r>
          </a:p>
        </p:txBody>
      </p:sp>
      <p:sp>
        <p:nvSpPr>
          <p:cNvPr id="4" name="">
            <a:extLst xmlns:a="http://schemas.openxmlformats.org/drawingml/2006/main">
              <a:ext uri="{FF2B5EF4-FFF2-40B4-BE49-F238E27FC236}">
                <a16:creationId xmlns:a16="http://schemas.microsoft.com/office/drawing/2014/main" id="{C6DBBF9B-663E-4620-AC13-AA3A0FB3536C}"/>
              </a:ext>
            </a:extLst>
          </p:cNvPr>
          <p:cNvSpPr>
            <a:spLocks xmlns:a="http://schemas.openxmlformats.org/drawingml/2006/main" noGrp="1"/>
          </p:cNvSpPr>
          <p:nvPr/>
        </p:nvSpPr>
        <p:spPr>
          <a:xfrm xmlns:a="http://schemas.openxmlformats.org/drawingml/2006/main">
            <a:off x="4333875" y="180975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Crear una solicitud y aprobarla.</a:t>
            </a:r>
          </a:p>
        </p:txBody>
      </p:sp>
      <p:sp>
        <p:nvSpPr>
          <p:cNvPr id="5" name="">
            <a:extLst xmlns:a="http://schemas.openxmlformats.org/drawingml/2006/main">
              <a:ext uri="{FF2B5EF4-FFF2-40B4-BE49-F238E27FC236}">
                <a16:creationId xmlns:a16="http://schemas.microsoft.com/office/drawing/2014/main" id="{27DFD33C-A050-4C2F-A5D4-E92197F90C3F}"/>
              </a:ext>
            </a:extLst>
          </p:cNvPr>
          <p:cNvSpPr>
            <a:spLocks xmlns:a="http://schemas.openxmlformats.org/drawingml/2006/main" noGrp="1"/>
          </p:cNvSpPr>
          <p:nvPr/>
        </p:nvSpPr>
        <p:spPr>
          <a:xfrm xmlns:a="http://schemas.openxmlformats.org/drawingml/2006/main">
            <a:off x="666750" y="28956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Ticket y despacho</a:t>
            </a:r>
          </a:p>
        </p:txBody>
      </p:sp>
      <p:sp>
        <p:nvSpPr>
          <p:cNvPr id="6" name="">
            <a:extLst xmlns:a="http://schemas.openxmlformats.org/drawingml/2006/main">
              <a:ext uri="{FF2B5EF4-FFF2-40B4-BE49-F238E27FC236}">
                <a16:creationId xmlns:a16="http://schemas.microsoft.com/office/drawing/2014/main" id="{7E49762E-7444-4B66-96CA-2DD20F02E6CF}"/>
              </a:ext>
            </a:extLst>
          </p:cNvPr>
          <p:cNvSpPr>
            <a:spLocks xmlns:a="http://schemas.openxmlformats.org/drawingml/2006/main" noGrp="1"/>
          </p:cNvSpPr>
          <p:nvPr/>
        </p:nvSpPr>
        <p:spPr>
          <a:xfrm xmlns:a="http://schemas.openxmlformats.org/drawingml/2006/main">
            <a:off x="4333875" y="289560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Emitir PDF, validar QR e identidad y servir combustible.</a:t>
            </a:r>
          </a:p>
        </p:txBody>
      </p:sp>
      <p:sp>
        <p:nvSpPr>
          <p:cNvPr id="7" name="">
            <a:extLst xmlns:a="http://schemas.openxmlformats.org/drawingml/2006/main">
              <a:ext uri="{FF2B5EF4-FFF2-40B4-BE49-F238E27FC236}">
                <a16:creationId xmlns:a16="http://schemas.microsoft.com/office/drawing/2014/main" id="{8F7B9632-6EBB-4855-ADD2-78C1DCD00A3A}"/>
              </a:ext>
            </a:extLst>
          </p:cNvPr>
          <p:cNvSpPr>
            <a:spLocks xmlns:a="http://schemas.openxmlformats.org/drawingml/2006/main" noGrp="1"/>
          </p:cNvSpPr>
          <p:nvPr/>
        </p:nvSpPr>
        <p:spPr>
          <a:xfrm xmlns:a="http://schemas.openxmlformats.org/drawingml/2006/main">
            <a:off x="666750" y="39814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Inventario y auditor</a:t>
            </a:r>
          </a:p>
        </p:txBody>
      </p:sp>
      <p:sp>
        <p:nvSpPr>
          <p:cNvPr id="8" name="">
            <a:extLst xmlns:a="http://schemas.openxmlformats.org/drawingml/2006/main">
              <a:ext uri="{FF2B5EF4-FFF2-40B4-BE49-F238E27FC236}">
                <a16:creationId xmlns:a16="http://schemas.microsoft.com/office/drawing/2014/main" id="{4B400C02-A6DF-499D-8E85-6530FEE26CE5}"/>
              </a:ext>
            </a:extLst>
          </p:cNvPr>
          <p:cNvSpPr>
            <a:spLocks xmlns:a="http://schemas.openxmlformats.org/drawingml/2006/main" noGrp="1"/>
          </p:cNvSpPr>
          <p:nvPr/>
        </p:nvSpPr>
        <p:spPr>
          <a:xfrm xmlns:a="http://schemas.openxmlformats.org/drawingml/2006/main">
            <a:off x="4333875" y="398145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Verificar saldo, movimiento y evento de auditoría.</a:t>
            </a:r>
          </a:p>
        </p:txBody>
      </p:sp>
      <p:sp>
        <p:nvSpPr>
          <p:cNvPr id="9" name="">
            <a:extLst xmlns:a="http://schemas.openxmlformats.org/drawingml/2006/main">
              <a:ext uri="{FF2B5EF4-FFF2-40B4-BE49-F238E27FC236}">
                <a16:creationId xmlns:a16="http://schemas.microsoft.com/office/drawing/2014/main" id="{2F551980-F2FF-4A36-8B02-DDFD87993962}"/>
              </a:ext>
            </a:extLst>
          </p:cNvPr>
          <p:cNvSpPr>
            <a:spLocks xmlns:a="http://schemas.openxmlformats.org/drawingml/2006/main" noGrp="1"/>
          </p:cNvSpPr>
          <p:nvPr/>
        </p:nvSpPr>
        <p:spPr>
          <a:xfrm xmlns:a="http://schemas.openxmlformats.org/drawingml/2006/main">
            <a:off x="666750" y="50673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Cierre y reporte</a:t>
            </a:r>
          </a:p>
        </p:txBody>
      </p:sp>
      <p:sp>
        <p:nvSpPr>
          <p:cNvPr id="10" name="">
            <a:extLst xmlns:a="http://schemas.openxmlformats.org/drawingml/2006/main">
              <a:ext uri="{FF2B5EF4-FFF2-40B4-BE49-F238E27FC236}">
                <a16:creationId xmlns:a16="http://schemas.microsoft.com/office/drawing/2014/main" id="{BB0D3554-7361-45C8-BC06-249905C47082}"/>
              </a:ext>
            </a:extLst>
          </p:cNvPr>
          <p:cNvSpPr>
            <a:spLocks xmlns:a="http://schemas.openxmlformats.org/drawingml/2006/main" noGrp="1"/>
          </p:cNvSpPr>
          <p:nvPr/>
        </p:nvSpPr>
        <p:spPr>
          <a:xfrm xmlns:a="http://schemas.openxmlformats.org/drawingml/2006/main">
            <a:off x="4333875" y="506730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Exportar el resultado y revisar el acta diaria.</a:t>
            </a:r>
          </a:p>
        </p:txBody>
      </p:sp>
    </p:spTree>
    <p:extLst>
      <p:ext uri="{BB962C8B-B14F-4D97-AF65-F5344CB8AC3E}">
        <p14:creationId xmlns:p14="http://schemas.microsoft.com/office/powerpoint/2010/main" val="2068614278"/>
      </p:ext>
    </p:extLst>
  </p:cSld>
</p:sld>
</file>

<file path=ppt/slides/slide18.xml><?xml version="1.0" encoding="utf-8"?>
<p:sld xmlns:p="http://schemas.openxmlformats.org/presentationml/2006/main">
  <p:cSld>
    <p:bg>
      <p:bgPr>
        <a:solidFill xmlns:a="http://schemas.openxmlformats.org/drawingml/2006/main">
          <a:srgbClr val="F5F5F0"/>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D02D7D9B-D740-41E8-ADAC-98601D766B7C}"/>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142C32"/>
                </a:solidFill>
                <a:latin typeface="DejaVu Sans"/>
                <a:ea typeface="DejaVu Sans"/>
                <a:cs typeface="DejaVu Sans"/>
              </a:defRPr>
            </a:pPr>
            <a:r>
              <a:rPr sz="3300" b="1">
                <a:solidFill>
                  <a:srgbClr val="142C32"/>
                </a:solidFill>
                <a:latin typeface="DejaVu Sans"/>
                <a:ea typeface="DejaVu Sans"/>
                <a:cs typeface="DejaVu Sans"/>
              </a:rPr>
              <a:t>Aceptación y puesta en servicio</a:t>
            </a:r>
          </a:p>
        </p:txBody>
      </p:sp>
      <p:sp>
        <p:nvSpPr>
          <p:cNvPr id="2" name="">
            <a:extLst xmlns:a="http://schemas.openxmlformats.org/drawingml/2006/main">
              <a:ext uri="{FF2B5EF4-FFF2-40B4-BE49-F238E27FC236}">
                <a16:creationId xmlns:a16="http://schemas.microsoft.com/office/drawing/2014/main" id="{B94582E8-B904-44FF-BCA6-36D2B81475A9}"/>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66B"/>
                </a:solidFill>
                <a:latin typeface="DejaVu Sans"/>
                <a:ea typeface="DejaVu Sans"/>
                <a:cs typeface="DejaVu Sans"/>
              </a:defRPr>
            </a:pPr>
            <a:r>
              <a:rPr sz="1200" b="0">
                <a:solidFill>
                  <a:srgbClr val="53666B"/>
                </a:solidFill>
                <a:latin typeface="DejaVu Sans"/>
                <a:ea typeface="DejaVu Sans"/>
                <a:cs typeface="DejaVu Sans"/>
              </a:rPr>
              <a:t>18</a:t>
            </a:r>
          </a:p>
        </p:txBody>
      </p:sp>
      <p:sp>
        <p:nvSpPr>
          <p:cNvPr id="3" name="">
            <a:extLst xmlns:a="http://schemas.openxmlformats.org/drawingml/2006/main">
              <a:ext uri="{FF2B5EF4-FFF2-40B4-BE49-F238E27FC236}">
                <a16:creationId xmlns:a16="http://schemas.microsoft.com/office/drawing/2014/main" id="{2131FCA8-9F7B-46FA-8128-C64E2BE01996}"/>
              </a:ext>
            </a:extLst>
          </p:cNvPr>
          <p:cNvSpPr>
            <a:spLocks xmlns:a="http://schemas.openxmlformats.org/drawingml/2006/main" noGrp="1"/>
          </p:cNvSpPr>
          <p:nvPr/>
        </p:nvSpPr>
        <p:spPr>
          <a:xfrm xmlns:a="http://schemas.openxmlformats.org/drawingml/2006/main">
            <a:off x="666750" y="18097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Demo publicada</a:t>
            </a:r>
          </a:p>
        </p:txBody>
      </p:sp>
      <p:sp>
        <p:nvSpPr>
          <p:cNvPr id="4" name="">
            <a:extLst xmlns:a="http://schemas.openxmlformats.org/drawingml/2006/main">
              <a:ext uri="{FF2B5EF4-FFF2-40B4-BE49-F238E27FC236}">
                <a16:creationId xmlns:a16="http://schemas.microsoft.com/office/drawing/2014/main" id="{95685806-2D51-49D5-B31C-56E0F6E651D0}"/>
              </a:ext>
            </a:extLst>
          </p:cNvPr>
          <p:cNvSpPr>
            <a:spLocks xmlns:a="http://schemas.openxmlformats.org/drawingml/2006/main" noGrp="1"/>
          </p:cNvSpPr>
          <p:nvPr/>
        </p:nvSpPr>
        <p:spPr>
          <a:xfrm xmlns:a="http://schemas.openxmlformats.org/drawingml/2006/main">
            <a:off x="4333875" y="180975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Render y Neon: HTTPS, roles, inventario y tickets.</a:t>
            </a:r>
          </a:p>
        </p:txBody>
      </p:sp>
      <p:sp>
        <p:nvSpPr>
          <p:cNvPr id="5" name="">
            <a:extLst xmlns:a="http://schemas.openxmlformats.org/drawingml/2006/main">
              <a:ext uri="{FF2B5EF4-FFF2-40B4-BE49-F238E27FC236}">
                <a16:creationId xmlns:a16="http://schemas.microsoft.com/office/drawing/2014/main" id="{5A74D299-C7D8-4BEA-ADFF-C59AAF576DC2}"/>
              </a:ext>
            </a:extLst>
          </p:cNvPr>
          <p:cNvSpPr>
            <a:spLocks xmlns:a="http://schemas.openxmlformats.org/drawingml/2006/main" noGrp="1"/>
          </p:cNvSpPr>
          <p:nvPr/>
        </p:nvSpPr>
        <p:spPr>
          <a:xfrm xmlns:a="http://schemas.openxmlformats.org/drawingml/2006/main">
            <a:off x="666750" y="28956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Pendiente de equipo</a:t>
            </a:r>
          </a:p>
        </p:txBody>
      </p:sp>
      <p:sp>
        <p:nvSpPr>
          <p:cNvPr id="6" name="">
            <a:extLst xmlns:a="http://schemas.openxmlformats.org/drawingml/2006/main">
              <a:ext uri="{FF2B5EF4-FFF2-40B4-BE49-F238E27FC236}">
                <a16:creationId xmlns:a16="http://schemas.microsoft.com/office/drawing/2014/main" id="{C5F9E075-70DF-4264-98E1-F000C22FE6A4}"/>
              </a:ext>
            </a:extLst>
          </p:cNvPr>
          <p:cNvSpPr>
            <a:spLocks xmlns:a="http://schemas.openxmlformats.org/drawingml/2006/main" noGrp="1"/>
          </p:cNvSpPr>
          <p:nvPr/>
        </p:nvSpPr>
        <p:spPr>
          <a:xfrm xmlns:a="http://schemas.openxmlformats.org/drawingml/2006/main">
            <a:off x="4333875" y="289560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SIM, cuenta Textbee y entrega real del SMS.</a:t>
            </a:r>
          </a:p>
        </p:txBody>
      </p:sp>
      <p:sp>
        <p:nvSpPr>
          <p:cNvPr id="7" name="">
            <a:extLst xmlns:a="http://schemas.openxmlformats.org/drawingml/2006/main">
              <a:ext uri="{FF2B5EF4-FFF2-40B4-BE49-F238E27FC236}">
                <a16:creationId xmlns:a16="http://schemas.microsoft.com/office/drawing/2014/main" id="{E95870B9-6B65-4F3D-A91E-6442C7C0572D}"/>
              </a:ext>
            </a:extLst>
          </p:cNvPr>
          <p:cNvSpPr>
            <a:spLocks xmlns:a="http://schemas.openxmlformats.org/drawingml/2006/main" noGrp="1"/>
          </p:cNvSpPr>
          <p:nvPr/>
        </p:nvSpPr>
        <p:spPr>
          <a:xfrm xmlns:a="http://schemas.openxmlformats.org/drawingml/2006/main">
            <a:off x="666750" y="398145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Pendiente operativo</a:t>
            </a:r>
          </a:p>
        </p:txBody>
      </p:sp>
      <p:sp>
        <p:nvSpPr>
          <p:cNvPr id="8" name="">
            <a:extLst xmlns:a="http://schemas.openxmlformats.org/drawingml/2006/main">
              <a:ext uri="{FF2B5EF4-FFF2-40B4-BE49-F238E27FC236}">
                <a16:creationId xmlns:a16="http://schemas.microsoft.com/office/drawing/2014/main" id="{827991F8-5C75-472A-A172-DDC174E744E6}"/>
              </a:ext>
            </a:extLst>
          </p:cNvPr>
          <p:cNvSpPr>
            <a:spLocks xmlns:a="http://schemas.openxmlformats.org/drawingml/2006/main" noGrp="1"/>
          </p:cNvSpPr>
          <p:nvPr/>
        </p:nvSpPr>
        <p:spPr>
          <a:xfrm xmlns:a="http://schemas.openxmlformats.org/drawingml/2006/main">
            <a:off x="4333875" y="398145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Cifrado en reposo, respaldo y restauración.</a:t>
            </a:r>
          </a:p>
        </p:txBody>
      </p:sp>
      <p:sp>
        <p:nvSpPr>
          <p:cNvPr id="9" name="">
            <a:extLst xmlns:a="http://schemas.openxmlformats.org/drawingml/2006/main">
              <a:ext uri="{FF2B5EF4-FFF2-40B4-BE49-F238E27FC236}">
                <a16:creationId xmlns:a16="http://schemas.microsoft.com/office/drawing/2014/main" id="{9264133E-004D-4798-9E7E-2BF25D4BDB4D}"/>
              </a:ext>
            </a:extLst>
          </p:cNvPr>
          <p:cNvSpPr>
            <a:spLocks xmlns:a="http://schemas.openxmlformats.org/drawingml/2006/main" noGrp="1"/>
          </p:cNvSpPr>
          <p:nvPr/>
        </p:nvSpPr>
        <p:spPr>
          <a:xfrm xmlns:a="http://schemas.openxmlformats.org/drawingml/2006/main">
            <a:off x="666750" y="5067300"/>
            <a:ext cx="33337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75" b="1">
                <a:solidFill>
                  <a:srgbClr val="173D35"/>
                </a:solidFill>
                <a:latin typeface="DejaVu Sans"/>
                <a:ea typeface="DejaVu Sans"/>
                <a:cs typeface="DejaVu Sans"/>
              </a:defRPr>
            </a:pPr>
            <a:r>
              <a:rPr sz="2175" b="1">
                <a:solidFill>
                  <a:srgbClr val="173D35"/>
                </a:solidFill>
                <a:latin typeface="DejaVu Sans"/>
                <a:ea typeface="DejaVu Sans"/>
                <a:cs typeface="DejaVu Sans"/>
              </a:rPr>
              <a:t>Entrega al cliente</a:t>
            </a:r>
          </a:p>
        </p:txBody>
      </p:sp>
      <p:sp>
        <p:nvSpPr>
          <p:cNvPr id="10" name="">
            <a:extLst xmlns:a="http://schemas.openxmlformats.org/drawingml/2006/main">
              <a:ext uri="{FF2B5EF4-FFF2-40B4-BE49-F238E27FC236}">
                <a16:creationId xmlns:a16="http://schemas.microsoft.com/office/drawing/2014/main" id="{04FB5DF8-4A0B-424C-808E-7BD982447D3B}"/>
              </a:ext>
            </a:extLst>
          </p:cNvPr>
          <p:cNvSpPr>
            <a:spLocks xmlns:a="http://schemas.openxmlformats.org/drawingml/2006/main" noGrp="1"/>
          </p:cNvSpPr>
          <p:nvPr/>
        </p:nvSpPr>
        <p:spPr>
          <a:xfrm xmlns:a="http://schemas.openxmlformats.org/drawingml/2006/main">
            <a:off x="4333875" y="5067300"/>
            <a:ext cx="70485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0">
                <a:solidFill>
                  <a:srgbClr val="142C32"/>
                </a:solidFill>
                <a:latin typeface="DejaVu Sans"/>
                <a:ea typeface="DejaVu Sans"/>
                <a:cs typeface="DejaVu Sans"/>
              </a:defRPr>
            </a:pPr>
            <a:r>
              <a:rPr sz="1950" b="0">
                <a:solidFill>
                  <a:srgbClr val="142C32"/>
                </a:solidFill>
                <a:latin typeface="DejaVu Sans"/>
                <a:ea typeface="DejaVu Sans"/>
                <a:cs typeface="DejaVu Sans"/>
              </a:rPr>
              <a:t>Presentación, aplicación, guion y matriz de requisitos.</a:t>
            </a:r>
          </a:p>
        </p:txBody>
      </p:sp>
    </p:spTree>
    <p:extLst>
      <p:ext uri="{BB962C8B-B14F-4D97-AF65-F5344CB8AC3E}">
        <p14:creationId xmlns:p14="http://schemas.microsoft.com/office/powerpoint/2010/main" val="1001949896"/>
      </p:ext>
    </p:extLst>
  </p:cSld>
</p:sld>
</file>

<file path=ppt/slides/slide19.xml><?xml version="1.0" encoding="utf-8"?>
<p:sld xmlns:p="http://schemas.openxmlformats.org/presentationml/2006/main">
  <p:cSld>
    <p:bg>
      <p:bgPr>
        <a:solidFill xmlns:a="http://schemas.openxmlformats.org/drawingml/2006/main">
          <a:srgbClr val="173D35"/>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33C33936-2CE3-4143-8CD1-C6D7E672D913}"/>
              </a:ext>
            </a:extLst>
          </p:cNvPr>
          <p:cNvSpPr>
            <a:spLocks xmlns:a="http://schemas.openxmlformats.org/drawingml/2006/main" noGrp="1"/>
          </p:cNvSpPr>
          <p:nvPr/>
        </p:nvSpPr>
        <p:spPr>
          <a:xfrm xmlns:a="http://schemas.openxmlformats.org/drawingml/2006/main">
            <a:off x="619125" y="457200"/>
            <a:ext cx="10953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FuelTrack</a:t>
            </a:r>
          </a:p>
        </p:txBody>
      </p:sp>
      <p:sp>
        <p:nvSpPr>
          <p:cNvPr id="2" name="">
            <a:extLst xmlns:a="http://schemas.openxmlformats.org/drawingml/2006/main">
              <a:ext uri="{FF2B5EF4-FFF2-40B4-BE49-F238E27FC236}">
                <a16:creationId xmlns:a16="http://schemas.microsoft.com/office/drawing/2014/main" id="{41848344-9959-4CAE-8830-E68C74791751}"/>
              </a:ext>
            </a:extLst>
          </p:cNvPr>
          <p:cNvSpPr>
            <a:spLocks xmlns:a="http://schemas.openxmlformats.org/drawingml/2006/main" noGrp="1"/>
          </p:cNvSpPr>
          <p:nvPr/>
        </p:nvSpPr>
        <p:spPr>
          <a:xfrm xmlns:a="http://schemas.openxmlformats.org/drawingml/2006/main">
            <a:off x="11144250" y="6315075"/>
            <a:ext cx="476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CBDDD5"/>
                </a:solidFill>
                <a:latin typeface="DejaVu Sans"/>
                <a:ea typeface="DejaVu Sans"/>
                <a:cs typeface="DejaVu Sans"/>
              </a:defRPr>
            </a:pPr>
            <a:r>
              <a:rPr sz="1200" b="0">
                <a:solidFill>
                  <a:srgbClr val="CBDDD5"/>
                </a:solidFill>
                <a:latin typeface="DejaVu Sans"/>
                <a:ea typeface="DejaVu Sans"/>
                <a:cs typeface="DejaVu Sans"/>
              </a:rPr>
              <a:t>19</a:t>
            </a:r>
          </a:p>
        </p:txBody>
      </p:sp>
      <p:sp>
        <p:nvSpPr>
          <p:cNvPr id="3" name="">
            <a:extLst xmlns:a="http://schemas.openxmlformats.org/drawingml/2006/main">
              <a:ext uri="{FF2B5EF4-FFF2-40B4-BE49-F238E27FC236}">
                <a16:creationId xmlns:a16="http://schemas.microsoft.com/office/drawing/2014/main" id="{BE23F8FB-0939-4592-B285-354C8B31C188}"/>
              </a:ext>
            </a:extLst>
          </p:cNvPr>
          <p:cNvSpPr>
            <a:spLocks xmlns:a="http://schemas.openxmlformats.org/drawingml/2006/main" noGrp="1"/>
          </p:cNvSpPr>
          <p:nvPr/>
        </p:nvSpPr>
        <p:spPr>
          <a:xfrm xmlns:a="http://schemas.openxmlformats.org/drawingml/2006/main">
            <a:off x="666750" y="2190750"/>
            <a:ext cx="10763250" cy="1952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Control del combustible</a:t>
            </a:r>
          </a:p>
          <a:p xmlns:a="http://schemas.openxmlformats.org/drawingml/2006/main">
            <a:pPr>
              <a:defRPr sz="4275" b="1">
                <a:solidFill>
                  <a:srgbClr val="FFFFFF"/>
                </a:solidFill>
                <a:latin typeface="DejaVu Sans"/>
                <a:ea typeface="DejaVu Sans"/>
                <a:cs typeface="DejaVu Sans"/>
              </a:defRPr>
            </a:pPr>
            <a:r>
              <a:rPr sz="4275" b="1">
                <a:solidFill>
                  <a:srgbClr val="FFFFFF"/>
                </a:solidFill>
                <a:latin typeface="DejaVu Sans"/>
                <a:ea typeface="DejaVu Sans"/>
                <a:cs typeface="DejaVu Sans"/>
              </a:rPr>
              <a:t>con evidencia de cada operación</a:t>
            </a:r>
          </a:p>
        </p:txBody>
      </p:sp>
      <p:sp>
        <p:nvSpPr>
          <p:cNvPr id="4" name="">
            <a:extLst xmlns:a="http://schemas.openxmlformats.org/drawingml/2006/main">
              <a:ext uri="{FF2B5EF4-FFF2-40B4-BE49-F238E27FC236}">
                <a16:creationId xmlns:a16="http://schemas.microsoft.com/office/drawing/2014/main" id="{7CDDC504-728E-4D69-8358-55FC69A60E42}"/>
              </a:ext>
            </a:extLst>
          </p:cNvPr>
          <p:cNvSpPr>
            <a:spLocks xmlns:a="http://schemas.openxmlformats.org/drawingml/2006/main" noGrp="1"/>
          </p:cNvSpPr>
          <p:nvPr/>
        </p:nvSpPr>
        <p:spPr>
          <a:xfrm xmlns:a="http://schemas.openxmlformats.org/drawingml/2006/main">
            <a:off x="714375" y="5143500"/>
            <a:ext cx="1047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CBDDD5"/>
                </a:solidFill>
                <a:latin typeface="DejaVu Sans"/>
                <a:ea typeface="DejaVu Sans"/>
                <a:cs typeface="DejaVu Sans"/>
              </a:defRPr>
            </a:pPr>
            <a:r>
              <a:rPr sz="2325" b="0">
                <a:solidFill>
                  <a:srgbClr val="CBDDD5"/>
                </a:solidFill>
                <a:latin typeface="DejaVu Sans"/>
                <a:ea typeface="DejaVu Sans"/>
                <a:cs typeface="DejaVu Sans"/>
              </a:rPr>
              <a:t>Revisión del producto y preguntas</a:t>
            </a:r>
          </a:p>
        </p:txBody>
      </p:sp>
    </p:spTree>
    <p:extLst>
      <p:ext uri="{BB962C8B-B14F-4D97-AF65-F5344CB8AC3E}">
        <p14:creationId xmlns:p14="http://schemas.microsoft.com/office/powerpoint/2010/main" val="80682390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2026-09-22T06:07:55.7990000Z</dcterms:created>
  <dcterms:modified xsi:type="dcterms:W3CDTF">2026-09-22T06:07:55.7990000Z</dcterms:modified>
</coreProperties>
</file>