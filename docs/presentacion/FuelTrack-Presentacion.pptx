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6d1b9823ec549af" /><Relationship Type="http://schemas.openxmlformats.org/officeDocument/2006/relationships/extended-properties" Target="/docProps/app.xml" Id="R598d9b4c4cba4ba3" /><Relationship Type="http://schemas.openxmlformats.org/officeDocument/2006/relationships/officeDocument" Target="/ppt/presentation.xml" Id="Rf320b5ac13f14ea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39b99fb56644dc9"/>
  </p:sldMasterIdLst>
  <p:notesMasterIdLst>
    <p:notesMasterId xmlns:r="http://schemas.openxmlformats.org/officeDocument/2006/relationships" r:id="R5884f2c769034e8d"/>
  </p:notesMasterIdLst>
  <p:sldIdLst>
    <p:sldId xmlns:r="http://schemas.openxmlformats.org/officeDocument/2006/relationships" id="256" r:id="Re9868c6d25dd4e5c"/>
    <p:sldId xmlns:r="http://schemas.openxmlformats.org/officeDocument/2006/relationships" id="257" r:id="R45de2fe9f5d2450f"/>
    <p:sldId xmlns:r="http://schemas.openxmlformats.org/officeDocument/2006/relationships" id="258" r:id="R5725c84be50e4a83"/>
    <p:sldId xmlns:r="http://schemas.openxmlformats.org/officeDocument/2006/relationships" id="259" r:id="Ra2dfa4863b624570"/>
    <p:sldId xmlns:r="http://schemas.openxmlformats.org/officeDocument/2006/relationships" id="260" r:id="Rb0425021bcdb4d38"/>
    <p:sldId xmlns:r="http://schemas.openxmlformats.org/officeDocument/2006/relationships" id="261" r:id="Ra2b2a0e3916b4e3b"/>
    <p:sldId xmlns:r="http://schemas.openxmlformats.org/officeDocument/2006/relationships" id="262" r:id="Refbc30dbd60046e1"/>
    <p:sldId xmlns:r="http://schemas.openxmlformats.org/officeDocument/2006/relationships" id="263" r:id="Rca60c93a71884545"/>
    <p:sldId xmlns:r="http://schemas.openxmlformats.org/officeDocument/2006/relationships" id="264" r:id="Rcf016b3759324d2a"/>
    <p:sldId xmlns:r="http://schemas.openxmlformats.org/officeDocument/2006/relationships" id="265" r:id="Rb192e442a2914693"/>
    <p:sldId xmlns:r="http://schemas.openxmlformats.org/officeDocument/2006/relationships" id="266" r:id="R94bf376dfb274775"/>
    <p:sldId xmlns:r="http://schemas.openxmlformats.org/officeDocument/2006/relationships" id="267" r:id="R57efd21526a647c4"/>
    <p:sldId xmlns:r="http://schemas.openxmlformats.org/officeDocument/2006/relationships" id="268" r:id="R005fd9d0e10c4051"/>
    <p:sldId xmlns:r="http://schemas.openxmlformats.org/officeDocument/2006/relationships" id="269" r:id="R93023f0e0c194575"/>
    <p:sldId xmlns:r="http://schemas.openxmlformats.org/officeDocument/2006/relationships" id="270" r:id="R7f2011b589f641bd"/>
    <p:sldId xmlns:r="http://schemas.openxmlformats.org/officeDocument/2006/relationships" id="271" r:id="R6b85146589c44568"/>
    <p:sldId xmlns:r="http://schemas.openxmlformats.org/officeDocument/2006/relationships" id="272" r:id="R14ec9e37ab834e3d"/>
    <p:sldId xmlns:r="http://schemas.openxmlformats.org/officeDocument/2006/relationships" id="273" r:id="R9e58e63fca994f59"/>
    <p:sldId xmlns:r="http://schemas.openxmlformats.org/officeDocument/2006/relationships" id="274" r:id="Rc8018912fdf249b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82ab3a157b84748" /><Relationship Type="http://schemas.openxmlformats.org/officeDocument/2006/relationships/slideMaster" Target="/ppt/slideMasters/slideMaster1.xml" Id="Rd39b99fb56644dc9" /><Relationship Type="http://schemas.openxmlformats.org/officeDocument/2006/relationships/notesMaster" Target="/ppt/notesMasters/notesMaster1.xml" Id="R5884f2c769034e8d" /><Relationship Type="http://schemas.openxmlformats.org/officeDocument/2006/relationships/presProps" Target="/ppt/presProps.xml" Id="R1f0d1a18d09b4580" /><Relationship Type="http://schemas.openxmlformats.org/officeDocument/2006/relationships/tableStyles" Target="/ppt/tableStyles.xml" Id="R0b661847adc5486f" /><Relationship Type="http://schemas.openxmlformats.org/officeDocument/2006/relationships/slide" Target="/ppt/slides/slide1.xml" Id="Re9868c6d25dd4e5c" /><Relationship Type="http://schemas.openxmlformats.org/officeDocument/2006/relationships/slide" Target="/ppt/slides/slide2.xml" Id="R45de2fe9f5d2450f" /><Relationship Type="http://schemas.openxmlformats.org/officeDocument/2006/relationships/slide" Target="/ppt/slides/slide3.xml" Id="R5725c84be50e4a83" /><Relationship Type="http://schemas.openxmlformats.org/officeDocument/2006/relationships/slide" Target="/ppt/slides/slide4.xml" Id="Ra2dfa4863b624570" /><Relationship Type="http://schemas.openxmlformats.org/officeDocument/2006/relationships/slide" Target="/ppt/slides/slide5.xml" Id="Rb0425021bcdb4d38" /><Relationship Type="http://schemas.openxmlformats.org/officeDocument/2006/relationships/slide" Target="/ppt/slides/slide6.xml" Id="Ra2b2a0e3916b4e3b" /><Relationship Type="http://schemas.openxmlformats.org/officeDocument/2006/relationships/slide" Target="/ppt/slides/slide7.xml" Id="Refbc30dbd60046e1" /><Relationship Type="http://schemas.openxmlformats.org/officeDocument/2006/relationships/slide" Target="/ppt/slides/slide8.xml" Id="Rca60c93a71884545" /><Relationship Type="http://schemas.openxmlformats.org/officeDocument/2006/relationships/slide" Target="/ppt/slides/slide9.xml" Id="Rcf016b3759324d2a" /><Relationship Type="http://schemas.openxmlformats.org/officeDocument/2006/relationships/slide" Target="/ppt/slides/slide10.xml" Id="Rb192e442a2914693" /><Relationship Type="http://schemas.openxmlformats.org/officeDocument/2006/relationships/slide" Target="/ppt/slides/slide11.xml" Id="R94bf376dfb274775" /><Relationship Type="http://schemas.openxmlformats.org/officeDocument/2006/relationships/slide" Target="/ppt/slides/slide12.xml" Id="R57efd21526a647c4" /><Relationship Type="http://schemas.openxmlformats.org/officeDocument/2006/relationships/slide" Target="/ppt/slides/slide13.xml" Id="R005fd9d0e10c4051" /><Relationship Type="http://schemas.openxmlformats.org/officeDocument/2006/relationships/slide" Target="/ppt/slides/slide14.xml" Id="R93023f0e0c194575" /><Relationship Type="http://schemas.openxmlformats.org/officeDocument/2006/relationships/slide" Target="/ppt/slides/slide15.xml" Id="R7f2011b589f641bd" /><Relationship Type="http://schemas.openxmlformats.org/officeDocument/2006/relationships/slide" Target="/ppt/slides/slide16.xml" Id="R6b85146589c44568" /><Relationship Type="http://schemas.openxmlformats.org/officeDocument/2006/relationships/slide" Target="/ppt/slides/slide17.xml" Id="R14ec9e37ab834e3d" /><Relationship Type="http://schemas.openxmlformats.org/officeDocument/2006/relationships/slide" Target="/ppt/slides/slide18.xml" Id="R9e58e63fca994f59" /><Relationship Type="http://schemas.openxmlformats.org/officeDocument/2006/relationships/slide" Target="/ppt/slides/slide19.xml" Id="Rc8018912fdf249b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552723b5fc463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0115d8ee39b4e2c" /><Relationship Type="http://schemas.openxmlformats.org/officeDocument/2006/relationships/notesMaster" Target="/ppt/notesMasters/notesMaster1.xml" Id="R9dc1e1e3ea40420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78fd2a42c9f470b" /><Relationship Type="http://schemas.openxmlformats.org/officeDocument/2006/relationships/notesMaster" Target="/ppt/notesMasters/notesMaster1.xml" Id="R8bbf6f63065247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77042e2e1b04f37" /><Relationship Type="http://schemas.openxmlformats.org/officeDocument/2006/relationships/notesMaster" Target="/ppt/notesMasters/notesMaster1.xml" Id="R1a22d250c2f240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6b0b6492d0e4584" /><Relationship Type="http://schemas.openxmlformats.org/officeDocument/2006/relationships/notesMaster" Target="/ppt/notesMasters/notesMaster1.xml" Id="Rb527ddd5e0964e2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b15d32bc1c54528" /><Relationship Type="http://schemas.openxmlformats.org/officeDocument/2006/relationships/notesMaster" Target="/ppt/notesMasters/notesMaster1.xml" Id="R6fd7ee648a9e40f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a548647caf4141" /><Relationship Type="http://schemas.openxmlformats.org/officeDocument/2006/relationships/notesMaster" Target="/ppt/notesMasters/notesMaster1.xml" Id="R47eb304077df40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1fa6aa9f804089" /><Relationship Type="http://schemas.openxmlformats.org/officeDocument/2006/relationships/notesMaster" Target="/ppt/notesMasters/notesMaster1.xml" Id="Rad66079836544c7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eca33c1c9734806" /><Relationship Type="http://schemas.openxmlformats.org/officeDocument/2006/relationships/notesMaster" Target="/ppt/notesMasters/notesMaster1.xml" Id="R313a6de647aa43f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02f1c26130e4d6b" /><Relationship Type="http://schemas.openxmlformats.org/officeDocument/2006/relationships/notesMaster" Target="/ppt/notesMasters/notesMaster1.xml" Id="Rce2c254e7e904c1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236a5e73903473b" /><Relationship Type="http://schemas.openxmlformats.org/officeDocument/2006/relationships/notesMaster" Target="/ppt/notesMasters/notesMaster1.xml" Id="R9313b39be9da432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a8d523bb65c478c" /><Relationship Type="http://schemas.openxmlformats.org/officeDocument/2006/relationships/notesMaster" Target="/ppt/notesMasters/notesMaster1.xml" Id="Re6eab58b5e19459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611114942fa4a93" /><Relationship Type="http://schemas.openxmlformats.org/officeDocument/2006/relationships/notesMaster" Target="/ppt/notesMasters/notesMaster1.xml" Id="R9bcf18a88b0045f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cb8d3e1d2de4b9a" /><Relationship Type="http://schemas.openxmlformats.org/officeDocument/2006/relationships/notesMaster" Target="/ppt/notesMasters/notesMaster1.xml" Id="R637f5fc1753c414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7199cb011fa47d8" /><Relationship Type="http://schemas.openxmlformats.org/officeDocument/2006/relationships/notesMaster" Target="/ppt/notesMasters/notesMaster1.xml" Id="Rfeeddd0cb760402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9b7241cca394a17" /><Relationship Type="http://schemas.openxmlformats.org/officeDocument/2006/relationships/notesMaster" Target="/ppt/notesMasters/notesMaster1.xml" Id="R744aa33f96654d4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faaa252202c492f" /><Relationship Type="http://schemas.openxmlformats.org/officeDocument/2006/relationships/notesMaster" Target="/ppt/notesMasters/notesMaster1.xml" Id="Rc83fba6a39794d7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0b70fc2e9494615" /><Relationship Type="http://schemas.openxmlformats.org/officeDocument/2006/relationships/notesMaster" Target="/ppt/notesMasters/notesMaster1.xml" Id="Rf73d8b6b510c402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9c77d004c4748c8" /><Relationship Type="http://schemas.openxmlformats.org/officeDocument/2006/relationships/notesMaster" Target="/ppt/notesMasters/notesMaster1.xml" Id="Re9498b15499343b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410ed631f054831" /><Relationship Type="http://schemas.openxmlformats.org/officeDocument/2006/relationships/notesMaster" Target="/ppt/notesMasters/notesMaster1.xml" Id="R2fd1b896b92247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Presentación académica del Grupo 6 ante el profesor Santos Ramos. Logo oficial: https://identidad.intec.edu.do/manual-de-uso/logo. Se conserva el archivo original y su proporción.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Integrantes y matrículas transcritos de la imagen suministrada por el usuario. Profesor Santos Ramos. No se atribuyen responsabilidades individuales que no hayan sido confirmadas. La división documentada del trabajo incluye desarrollo y pruebas por fases.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SRS plantea control de solicitudes, tickets, despacho e inventario. Presentar estos riesgos como necesidades del cliente, no como incidentes medidos en INTEC. Pregunta de apertura opcional: ¿cómo comprobaría hoy una salida específica de combustible? Fuente: docs/SRS.md, apartados 1 y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navegador y la app Android consumen la misma API. PostgreSQL conserva el estado del negocio. Los avisos complementan la operación. Una notificación pendiente no sustituye la validación del ticket. Fuentes: docs/02-ARQUITECTURA.md y código actual.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separación de responsabilidades. Solicitante consulta su información. Consulta y Auditor no deben registrar operaciones. Los permisos concretos están en docs/27-CONTROL-ACCESO-ROLES-RBAC.md. La demostración cambia cuentas reales; no se cambia un selector de rol ficticio.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Narrar el caso de un empleado y su vehículo. El supervisor puede ajustar la cantidad autorizada. Emitir el QR no descuenta inventario; el despacho confirmado sí. Después se revisan movimientos y cierre. Fuente: controladores de Solicitudes, TicketService, DispatchService, CierreDiarioService.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Programación diaria, semanal o mensual con cantidad fija o histórica. El historial toma los despachos del mismo vehículo y combustible durante los 90 días anteriores; aplica límites de cantidad y capacidad. Las solicitudes generadas requieren aprobación. Fuente: SolicitudRecurrenteService.cs.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QR contiene un sobre FTQR1 con los datos de autorización, SHA-256 y firma ECDSA P-256. Un UUID o número de ticket escrito a mano no autoriza el despacho. El servidor verifica firma, vigencia y estado. El QR de esta presentación no se expone para no compartir una autorización vigente. Fuentes: TicketQrService.cs y DispatchService.cs.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app Android permite acceder, consultar tickets, validar el QR firmado y registrar el despacho. Web y móvil comparten la API. Captura del entorno de validación. Fuente: mobile/lib.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Mostrar que entradas suman, despachos restan y transferencias afectan ambos tanques en una transacción. Las correcciones bloquean sobrecapacidad, cantidades inválidas, combustibles incompatibles y catálogos desactivados. No presentar un ajuste como una compra. Fuente: InventarioController.cs, RecepcionesController.cs y pruebas BusinessIntegrity.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Los indicadores usan datos de la API. La pantalla actualiza periódicamente y permite refresco manual. Los valores de la captura pertenecen al entorno de pruebas, no a una operación real de INTEC. Mostrar en la demo el efecto de un despacho nuevo. Fuente: DashboardPage.jsx y DashboardService.cs.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Mostrar filtros por fechas, empleado, vehículo, departamento, combustible y estado cuando corresponden al tipo de reporte. Exportar conserva los filtros aplicados. El cierre compara el volumen despachado y las existencias, y genera PDF. No todos los filtros son pertinentes para todos los reportes. Fuentes: ReporteService.cs, ReportesPage.jsx, CierreDiarioService.cs.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Web: JavaScript/JSX, React, Vite y Tailwind. Servidor: C#, .NET 10 y Entity Framework Core. Datos: PostgreSQL. Android: Dart y Flutter. El equipo documentó la elección de .NET 10 en docs/16-DECISION-NET10.md.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Sesiones y permisos verificados por la API, control por propietario y QR firmado con validación de vigencia y uso único. Auditoría append-only frente a modificaciones desde la aplicación. Fuente: docs/07-SEGURIDAD.md y pruebas de seguridad.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 validaron reglas de capacidad y compatibilidad, entidades inactivas, relación empleado/vehículo, privacidad, permisos, sesión, reportes y QR. La última suite completa registró 463 pruebas aprobadas, cero fallidas y cero omitidas. Fuente: evidencia de verificación del proyecto.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FuelTrack prepara el mensaje y el enlace del ticket; el adaptador usa la API de Textbee y un Android vinculado con servicio SMS. El estado de la integración queda registrado. Fuentes: https://textbee.dev/docs y backend/FuelTrack.Api/Notifications.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Seguir el guion con cuentas de cada rol y un ticket nuevo. Anotar inventario inicial, autorizar dos galones, confirmar despacho y comparar el saldo. Reutilizar el QR para mostrar su rechazo. Mostrar movimiento, auditoría y cierre.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Relacionar cada capacidad con su utilidad para el cliente: autorización, control de consumo, consulta y trazabilidad. Fuente: docs/SRS.md.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Cierre: FuelTrack permite revisar qué se autorizó, quién despachó combustible y cómo cambió el inventario. Dar paso a preguntas y al recorrido por el producto.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4ad7ab9e3e4f4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8c6c9e73c0c45d1" /><Relationship Type="http://schemas.openxmlformats.org/officeDocument/2006/relationships/slideLayout" Target="/ppt/slideLayouts/slideLayout1.xml" Id="R3d9c4bfb53e24c0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d9c4bfb53e24c0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4f65c190f148ee" /><Relationship Type="http://schemas.openxmlformats.org/officeDocument/2006/relationships/image" Target="/ppt/media/image.png" Id="R830def116f484cf2" /><Relationship Type="http://schemas.openxmlformats.org/officeDocument/2006/relationships/notesSlide" Target="/ppt/notesSlides/notesSlide1.xml" Id="R86deb3fd660a4d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a79120f3df47e6" /><Relationship Type="http://schemas.openxmlformats.org/officeDocument/2006/relationships/notesSlide" Target="/ppt/notesSlides/notesSlide2.xml" Id="Ra4bba211d6d74ca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78220139ac4c40" /><Relationship Type="http://schemas.openxmlformats.org/officeDocument/2006/relationships/notesSlide" Target="/ppt/notesSlides/notesSlide3.xml" Id="R56271e5a6e7641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845ebff2d6479f" /><Relationship Type="http://schemas.openxmlformats.org/officeDocument/2006/relationships/notesSlide" Target="/ppt/notesSlides/notesSlide4.xml" Id="Rf27589c8bc3f435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d7dfe1e29b435e" /><Relationship Type="http://schemas.openxmlformats.org/officeDocument/2006/relationships/notesSlide" Target="/ppt/notesSlides/notesSlide5.xml" Id="R3fd30a2410434a5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b340d6e2ea4e14" /><Relationship Type="http://schemas.openxmlformats.org/officeDocument/2006/relationships/notesSlide" Target="/ppt/notesSlides/notesSlide6.xml" Id="R53d0aa542eb643b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4bfb16541d474d" /><Relationship Type="http://schemas.openxmlformats.org/officeDocument/2006/relationships/image" Target="/ppt/media/image2.png" Id="R60e0cf31e9b84f0d" /><Relationship Type="http://schemas.openxmlformats.org/officeDocument/2006/relationships/notesSlide" Target="/ppt/notesSlides/notesSlide7.xml" Id="R1cf61322d2ef4be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99501856364265" /><Relationship Type="http://schemas.openxmlformats.org/officeDocument/2006/relationships/image" Target="/ppt/media/image3.png" Id="R8fdc25bd5b934b1a" /><Relationship Type="http://schemas.openxmlformats.org/officeDocument/2006/relationships/notesSlide" Target="/ppt/notesSlides/notesSlide8.xml" Id="R9edbea3f33a140c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a866cb9bac491c" /><Relationship Type="http://schemas.openxmlformats.org/officeDocument/2006/relationships/image" Target="/ppt/media/image4.png" Id="Rf857c9920e144825" /><Relationship Type="http://schemas.openxmlformats.org/officeDocument/2006/relationships/notesSlide" Target="/ppt/notesSlides/notesSlide9.xml" Id="Rb3ef51dbc7dd42b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6bc9922bac49e1" /><Relationship Type="http://schemas.openxmlformats.org/officeDocument/2006/relationships/image" Target="/ppt/media/image5.png" Id="R4cf3b2114a0044a0" /><Relationship Type="http://schemas.openxmlformats.org/officeDocument/2006/relationships/notesSlide" Target="/ppt/notesSlides/notesSlide10.xml" Id="R45b2715acbf645e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618f3943c54e6e" /><Relationship Type="http://schemas.openxmlformats.org/officeDocument/2006/relationships/image" Target="/ppt/media/image6.png" Id="R9ca5b790d8084e8e" /><Relationship Type="http://schemas.openxmlformats.org/officeDocument/2006/relationships/notesSlide" Target="/ppt/notesSlides/notesSlide11.xml" Id="R509b36fdb4f64e6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013fda4a924b21" /><Relationship Type="http://schemas.openxmlformats.org/officeDocument/2006/relationships/image" Target="/ppt/media/image7.png" Id="R01a816467dd44242" /><Relationship Type="http://schemas.openxmlformats.org/officeDocument/2006/relationships/notesSlide" Target="/ppt/notesSlides/notesSlide12.xml" Id="Re03861c61934431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9a28e7bb41436d" /><Relationship Type="http://schemas.openxmlformats.org/officeDocument/2006/relationships/notesSlide" Target="/ppt/notesSlides/notesSlide13.xml" Id="Rb59bb1a9fa51436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c9d1b313a84d86" /><Relationship Type="http://schemas.openxmlformats.org/officeDocument/2006/relationships/notesSlide" Target="/ppt/notesSlides/notesSlide14.xml" Id="Rb20d34a032dc473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c8a40b44564b3b" /><Relationship Type="http://schemas.openxmlformats.org/officeDocument/2006/relationships/notesSlide" Target="/ppt/notesSlides/notesSlide15.xml" Id="Rf3f7edd8be9c4c5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2cb6a90e6a4e7e" /><Relationship Type="http://schemas.openxmlformats.org/officeDocument/2006/relationships/notesSlide" Target="/ppt/notesSlides/notesSlide16.xml" Id="R1cef45c1a26946e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f239de2e4f4531" /><Relationship Type="http://schemas.openxmlformats.org/officeDocument/2006/relationships/notesSlide" Target="/ppt/notesSlides/notesSlide17.xml" Id="R53af2758e2eb411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68d832ecba498a" /><Relationship Type="http://schemas.openxmlformats.org/officeDocument/2006/relationships/notesSlide" Target="/ppt/notesSlides/notesSlide18.xml" Id="R2adce3cfea2b4bf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a039ef8c4744e0" /><Relationship Type="http://schemas.openxmlformats.org/officeDocument/2006/relationships/notesSlide" Target="/ppt/notesSlides/notesSlide19.xml" Id="R4170ea6a121d4f3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FA118A-CEAB-46FD-BF5F-71391B25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15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CBDDD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CBDDD5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95210F-658A-449C-BC5F-0AFFBC85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10858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72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FuelTrack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8ABCF0-357E-4381-A141-2C8FB587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86125"/>
            <a:ext cx="9906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E1EAE3"/>
                </a:solidFill>
                <a:latin typeface="DejaVu Sans"/>
                <a:ea typeface="DejaVu Sans"/>
                <a:cs typeface="DejaVu Sans"/>
              </a:defRPr>
            </a:pPr>
            <a:r>
              <a:rPr sz="3450" b="0">
                <a:solidFill>
                  <a:srgbClr val="E1EAE3"/>
                </a:solidFill>
                <a:latin typeface="DejaVu Sans"/>
                <a:ea typeface="DejaVu Sans"/>
                <a:cs typeface="DejaVu Sans"/>
              </a:rPr>
              <a:t>Tickets digitales e inventario</a:t>
            </a:r>
          </a:p>
          <a:p xmlns:a="http://schemas.openxmlformats.org/drawingml/2006/main">
            <a:pPr>
              <a:defRPr sz="3450" b="0">
                <a:solidFill>
                  <a:srgbClr val="E1EAE3"/>
                </a:solidFill>
                <a:latin typeface="DejaVu Sans"/>
                <a:ea typeface="DejaVu Sans"/>
                <a:cs typeface="DejaVu Sans"/>
              </a:defRPr>
            </a:pPr>
            <a:r>
              <a:rPr sz="3450" b="0">
                <a:solidFill>
                  <a:srgbClr val="E1EAE3"/>
                </a:solidFill>
                <a:latin typeface="DejaVu Sans"/>
                <a:ea typeface="DejaVu Sans"/>
                <a:cs typeface="DejaVu Sans"/>
              </a:rPr>
              <a:t>de combustible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A93C5D-9A72-4396-A1B6-93F2CBE3C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86375"/>
            <a:ext cx="952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CBDDD5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CBDDD5"/>
                </a:solidFill>
                <a:latin typeface="DejaVu Sans"/>
                <a:ea typeface="DejaVu Sans"/>
                <a:cs typeface="DejaVu Sans"/>
              </a:rPr>
              <a:t>Grupo 6 · Presentación de producto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22CBCD-FBCD-4A12-A255-D890E0C6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62625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CBDDD5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CBDDD5"/>
                </a:solidFill>
                <a:latin typeface="DejaVu Sans"/>
                <a:ea typeface="DejaVu Sans"/>
                <a:cs typeface="DejaVu Sans"/>
              </a:rPr>
              <a:t>Profesor: Santos Ramos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0def116f484cf2"/>
          <a:stretch xmlns:a="http://schemas.openxmlformats.org/drawingml/2006/main"/>
        </p:blipFill>
        <p:spPr>
          <a:xfrm xmlns:a="http://schemas.openxmlformats.org/drawingml/2006/main">
            <a:off x="9865281" y="476250"/>
            <a:ext cx="1653064" cy="1857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1250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366510-BB01-482B-AA1C-F9418BB6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Integrantes del Grupo 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C6CF12-196B-4942-99CD-7F812FD6C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15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BAC0E9-7339-4B09-866D-B3E892A2F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62125"/>
            <a:ext cx="633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Jorge Melo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F3EA44-9D30-463D-A88B-26059107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6212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1127398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6B4C23-BC6F-4966-96BC-48DE578C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81250"/>
            <a:ext cx="633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Ashley Franco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857711-5CC3-46CC-98A9-0840284F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812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1127646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E46ECC-777C-4299-9D49-72691CD17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00375"/>
            <a:ext cx="633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Rowlis Trinidad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2B9031-479A-4C73-BF5C-0AB0199A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003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1128666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70D4D4-ECD2-4F38-AD84-828E1237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619500"/>
            <a:ext cx="633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Rangelis Trinidad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34DF56-B7EF-48B7-AD92-8C8A7395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195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1128680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2B2CF1-2669-4F88-ABBB-9D1B843F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38625"/>
            <a:ext cx="633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Jarry Gonzalez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B3ABE5-EAC7-497A-B61C-239AEF48F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3862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1127998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BAC31B-FDCF-4CF0-88B7-51A26797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857750"/>
            <a:ext cx="633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Daniel Cruz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D11705-25C2-446A-A741-2CBB5831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8577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1128565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649392-ABD6-4F62-814E-8445B47B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34050"/>
            <a:ext cx="1000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Profesor: Santos Ramos</a:t>
            </a:r>
          </a:p>
        </p:txBody>
      </p:sp>
    </p:spTree>
    <p:extLst>
      <p:ext uri="{BB962C8B-B14F-4D97-AF65-F5344CB8AC3E}">
        <p14:creationId xmlns:p14="http://schemas.microsoft.com/office/powerpoint/2010/main" val="17931643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4D61B5-D4D9-4178-A3C2-249FEBA4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El problema que resolvemos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956BCD-66A7-4AD4-9C28-F49E8FA7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15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9C9456-F388-49A8-9365-EC2E20DB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Autorización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EE8C49-26D1-4167-BBCE-0374747D3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809750"/>
            <a:ext cx="704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Relacionar cada salida con una solicitud aprobada.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06B220-4F0E-435F-B6BA-E3FB42BD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Control de existencias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052AC6-0E8D-4573-AA9C-61EF37CA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895600"/>
            <a:ext cx="704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Conocer entradas, despachos, ajustes y transferencias.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247487-6822-4BC5-B1E5-25A664ABC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Rendición de cuentas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1FE2A8-5535-4D01-8967-F3D23907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981450"/>
            <a:ext cx="704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Reconstruir quién realizó cada operación y cuándo.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F0EC64-3680-4BDB-83FB-8449FC066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6730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Consulta gerencial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22AC9B-2822-48E3-B5F7-770AA6B2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067300"/>
            <a:ext cx="704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Examinar consumo por vehículo y departamento.</a:t>
            </a:r>
          </a:p>
        </p:txBody>
      </p:sp>
    </p:spTree>
    <p:extLst>
      <p:ext uri="{BB962C8B-B14F-4D97-AF65-F5344CB8AC3E}">
        <p14:creationId xmlns:p14="http://schemas.microsoft.com/office/powerpoint/2010/main" val="10064369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6A1CA5-9260-47DC-BF28-B74E1D40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Una operación conectada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C64257-6258-46E2-A6DC-8511D41D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15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4E6CDF-A63D-475A-885C-7ABEE35B6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62125"/>
            <a:ext cx="28575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E7"/>
          </a:solidFill>
          <a:ln xmlns:a="http://schemas.openxmlformats.org/drawingml/2006/main" w="19050">
            <a:solidFill>
              <a:srgbClr val="173D3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6AE189-E6FF-4FAB-8211-F39145B3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933575"/>
            <a:ext cx="2705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Web / PWA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460F7D-79B3-4EB5-B37E-2171D8CAD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47925"/>
            <a:ext cx="27051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Administración y reportes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7442B6-D454-44E0-8CDA-CB39CEBE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952875"/>
            <a:ext cx="28575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E7"/>
          </a:solidFill>
          <a:ln xmlns:a="http://schemas.openxmlformats.org/drawingml/2006/main" w="19050">
            <a:solidFill>
              <a:srgbClr val="173D3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C5AF09-1453-449E-A0DA-54D815D8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24325"/>
            <a:ext cx="2705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Android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F605A0-56D0-4709-AF7E-A75CB375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638675"/>
            <a:ext cx="27051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Validación y despacho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E61E20-FE5C-4265-8361-5CC551EF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57500"/>
            <a:ext cx="28575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E7"/>
          </a:solidFill>
          <a:ln xmlns:a="http://schemas.openxmlformats.org/drawingml/2006/main" w="19050">
            <a:solidFill>
              <a:srgbClr val="173D3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632235-0C7E-4533-A7FE-C7593F91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028950"/>
            <a:ext cx="2705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API .NET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6AD6F2-62C0-4B12-957F-B603BD396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543300"/>
            <a:ext cx="27051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Permisos y reglas comunes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00540B-97A2-4990-ABEB-35FB81892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762125"/>
            <a:ext cx="2714625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E7"/>
          </a:solidFill>
          <a:ln xmlns:a="http://schemas.openxmlformats.org/drawingml/2006/main" w="19050">
            <a:solidFill>
              <a:srgbClr val="173D3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A4100-C3EA-400C-A45D-8125CA63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1933575"/>
            <a:ext cx="25622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PostgreSQL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D8FCBF-CA18-4B63-8DF4-EF09514B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447925"/>
            <a:ext cx="25622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Operaciones y auditoría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7846F4-88B4-4A08-96B1-D09EA254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952875"/>
            <a:ext cx="2714625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E7"/>
          </a:solidFill>
          <a:ln xmlns:a="http://schemas.openxmlformats.org/drawingml/2006/main" w="19050">
            <a:solidFill>
              <a:srgbClr val="173D35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5992A6-345A-4862-AC18-29BAF29D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4124325"/>
            <a:ext cx="25622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Notificaciones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4969F7-4215-4EF5-AA4D-D7D8347AC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4638675"/>
            <a:ext cx="25622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Correo y SMS</a:t>
            </a:r>
          </a:p>
        </p:txBody>
      </p:sp>
      <p:cxnSp>
        <p:nvCxnSpPr>
          <p:cNvPr id="40" name=""/>
          <p:cNvCxnSpPr>
            <a:stCxn xmlns:a="http://schemas.openxmlformats.org/drawingml/2006/main" id="3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476625" y="2500313"/>
            <a:ext cx="1285875" cy="10953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D99A32"/>
            </a:solidFill>
            <a:tailEnd type="arrow" w="med" len="med"/>
          </a:ln>
        </p:spPr>
      </p:cxnSp>
      <p:cxnSp>
        <p:nvCxnSpPr>
          <p:cNvPr id="41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 flipV="1">
            <a:off x="3476625" y="3595688"/>
            <a:ext cx="1285875" cy="10953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D99A32"/>
            </a:solidFill>
            <a:tailEnd type="arrow" w="med" len="med"/>
          </a:ln>
        </p:spPr>
      </p:cxnSp>
      <p:cxnSp>
        <p:nvCxnSpPr>
          <p:cNvPr id="42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 flipV="1">
            <a:off x="7620000" y="2500313"/>
            <a:ext cx="1190625" cy="10953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D99A32"/>
            </a:solidFill>
            <a:tailEnd type="arrow" w="med" len="med"/>
          </a:ln>
        </p:spPr>
      </p:cxnSp>
      <p:cxnSp>
        <p:nvCxnSpPr>
          <p:cNvPr id="43" name=""/>
          <p:cNvCxnSpPr>
            <a:stCxn xmlns:a="http://schemas.openxmlformats.org/drawingml/2006/main" id="9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7620000" y="3595688"/>
            <a:ext cx="1190625" cy="10953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D99A32"/>
            </a:solidFill>
            <a:tailEnd type="arrow" w="med" len="me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76461F-2CF3-47A4-988F-0C1CD47F7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6262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Ambas aplicaciones comparten las mismas reglas y existencias</a:t>
            </a:r>
          </a:p>
        </p:txBody>
      </p:sp>
    </p:spTree>
    <p:extLst>
      <p:ext uri="{BB962C8B-B14F-4D97-AF65-F5344CB8AC3E}">
        <p14:creationId xmlns:p14="http://schemas.microsoft.com/office/powerpoint/2010/main" val="4293935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CEF42A-9C08-4E1E-8EF2-D7944C21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Responsabilidades por 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A01D18-BF7D-455B-9B0B-567A1438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15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ABC5D7-D3B2-4426-93CE-2588D07F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Administrador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66A10A-9DD8-4B63-8455-ADE96DD11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62125"/>
            <a:ext cx="752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Usuarios, configuración, inventario y seguridad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44A406-C206-4ADC-A065-6232B475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0032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Supervisor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AABE24-EB0E-4128-A1F1-5617DE2A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00325"/>
            <a:ext cx="752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Solicitudes, aprobaciones y suministro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DB401D-7D97-4F9B-B67F-12804E0C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3852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Despachador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313C72-EF0C-4164-BC68-E0DFA19C5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438525"/>
            <a:ext cx="752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QR, identidad, despacho y cierre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0F5D43-ACD2-4EDF-9263-37444652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7672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Solicitante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2C8AA2-750F-4E7A-BED7-AC60A2F6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276725"/>
            <a:ext cx="752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Solicitud y consulta de sus tickets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7EEE2E-D094-4676-B740-ABDDB1E78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1492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Auditor / Consulta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4D5582-16D1-4841-BC1C-961F5AEA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114925"/>
            <a:ext cx="752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Lectura y revisión según los permisos asignados</a:t>
            </a:r>
          </a:p>
        </p:txBody>
      </p:sp>
    </p:spTree>
    <p:extLst>
      <p:ext uri="{BB962C8B-B14F-4D97-AF65-F5344CB8AC3E}">
        <p14:creationId xmlns:p14="http://schemas.microsoft.com/office/powerpoint/2010/main" val="7634007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1C737C-F175-44F2-BD11-EF9D08D92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Del pedido al cierre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A0013E-CA55-489D-9BDA-C7195796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15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405674-4C03-42A3-8512-F98EBAD3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19375"/>
            <a:ext cx="200025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E7"/>
          </a:solidFill>
          <a:ln xmlns:a="http://schemas.openxmlformats.org/drawingml/2006/main" w="19050">
            <a:solidFill>
              <a:srgbClr val="173D3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33CDFB-B28E-46D0-91F9-AB99814C4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90825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Solicitud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E27F88-D3FD-4F20-9426-3F35688B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5175"/>
            <a:ext cx="18478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Empleado y vehículo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5AB1BD-2EDA-433B-881A-DB037E2E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19375"/>
            <a:ext cx="200025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E7"/>
          </a:solidFill>
          <a:ln xmlns:a="http://schemas.openxmlformats.org/drawingml/2006/main" w="19050">
            <a:solidFill>
              <a:srgbClr val="173D3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9F8730-3B9C-478A-A9E9-C9D4704DD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90825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Aprobación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60C9A3-E269-4AA4-A7FA-A76F98059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305175"/>
            <a:ext cx="18478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Cantidad y vigencia</a:t>
            </a:r>
          </a:p>
        </p:txBody>
      </p:sp>
      <p:cxnSp>
        <p:nvCxnSpPr>
          <p:cNvPr id="32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619375" y="3405188"/>
            <a:ext cx="2381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99A32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C83225-B6EC-489A-BC10-E0A4C89C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619375"/>
            <a:ext cx="200025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E7"/>
          </a:solidFill>
          <a:ln xmlns:a="http://schemas.openxmlformats.org/drawingml/2006/main" w="19050">
            <a:solidFill>
              <a:srgbClr val="173D3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A26C46-BD14-4A16-8644-395E814C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790825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Ticket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1459EC-40D4-4A36-B586-B11AD0B5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3305175"/>
            <a:ext cx="18478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PDF y QR firmado</a:t>
            </a:r>
          </a:p>
        </p:txBody>
      </p:sp>
      <p:cxnSp>
        <p:nvCxnSpPr>
          <p:cNvPr id="36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857750" y="3405188"/>
            <a:ext cx="2381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99A32"/>
            </a:solidFill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A3BAFC-3A41-4AE6-9C37-D66E0BCC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619375"/>
            <a:ext cx="200025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E7"/>
          </a:solidFill>
          <a:ln xmlns:a="http://schemas.openxmlformats.org/drawingml/2006/main" w="19050">
            <a:solidFill>
              <a:srgbClr val="173D3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2D10D5-1AA3-42ED-9055-1B056BE10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790825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Despacho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2B29FA-5C10-4452-9E07-1F569D9D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305175"/>
            <a:ext cx="18478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Identidad y galones</a:t>
            </a:r>
          </a:p>
        </p:txBody>
      </p:sp>
      <p:cxnSp>
        <p:nvCxnSpPr>
          <p:cNvPr id="40" name="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096125" y="3405188"/>
            <a:ext cx="2381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99A32"/>
            </a:solidFill>
            <a:tailEnd type="arrow" w="med" len="me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BE871D-1957-468C-971B-7319F574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619375"/>
            <a:ext cx="200025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E7"/>
          </a:solidFill>
          <a:ln xmlns:a="http://schemas.openxmlformats.org/drawingml/2006/main" w="19050">
            <a:solidFill>
              <a:srgbClr val="173D3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208F4E-C003-4EA6-AB09-6845619A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2790825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Control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DAD4A4-D75A-4A3B-BC89-BF9C4026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305175"/>
            <a:ext cx="18478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Saldo y auditoría</a:t>
            </a:r>
          </a:p>
        </p:txBody>
      </p:sp>
      <p:cxnSp>
        <p:nvCxnSpPr>
          <p:cNvPr id="44" name="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334500" y="3405188"/>
            <a:ext cx="2381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99A32"/>
            </a:solidFill>
            <a:tailEnd type="arrow" w="med" len="me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CEC4FC-234D-4846-9944-E77BBF1F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El inventario disminuye cuando se confirma el despacho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D53E41-9C3D-4739-A6C3-B304F302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245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Cada paso conserva su responsable y permite revisar la operación</a:t>
            </a:r>
          </a:p>
        </p:txBody>
      </p:sp>
    </p:spTree>
    <p:extLst>
      <p:ext uri="{BB962C8B-B14F-4D97-AF65-F5344CB8AC3E}">
        <p14:creationId xmlns:p14="http://schemas.microsoft.com/office/powerpoint/2010/main" val="5551270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539D41-6B42-4A7D-A9BD-C1E1CC55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Solicitudes programadas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61A5AB-429E-43E9-8DEB-31CF1ED8B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15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5C4369-CA03-4D96-967B-475EAD27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525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Cantidad fija o consumo histórico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e0cf31e9b84f0d"/>
          <a:stretch xmlns:a="http://schemas.openxmlformats.org/drawingml/2006/main"/>
        </p:blipFill>
        <p:spPr>
          <a:xfrm xmlns:a="http://schemas.openxmlformats.org/drawingml/2006/main">
            <a:off x="4781550" y="2286000"/>
            <a:ext cx="6248400" cy="3905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38084C-2494-4F24-9E2B-EA771626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7450"/>
            <a:ext cx="33337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Programación diaria, semanal o mensual.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Sin aprobación no se emite el ticket.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Una reserva impide generar dos veces el mismo día.</a:t>
            </a:r>
          </a:p>
        </p:txBody>
      </p:sp>
    </p:spTree>
    <p:extLst>
      <p:ext uri="{BB962C8B-B14F-4D97-AF65-F5344CB8AC3E}">
        <p14:creationId xmlns:p14="http://schemas.microsoft.com/office/powerpoint/2010/main" val="18184076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536EA4-10F3-4F39-96BF-52D886B4A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Tickets verificables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09403D-50BC-41B0-94F9-EDD0376B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15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dc25bd5b934b1a"/>
          <a:stretch xmlns:a="http://schemas.openxmlformats.org/drawingml/2006/main"/>
        </p:blipFill>
        <p:spPr>
          <a:xfrm xmlns:a="http://schemas.openxmlformats.org/drawingml/2006/main">
            <a:off x="4605338" y="1685925"/>
            <a:ext cx="6934200" cy="43338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BBB882-71E6-4F6B-AA42-19FA735E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524250" cy="438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Identificador único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Secuencia correlativa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Vigencia y autorización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PDF con QR firmado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Control de uso único</a:t>
            </a:r>
          </a:p>
        </p:txBody>
      </p:sp>
    </p:spTree>
    <p:extLst>
      <p:ext uri="{BB962C8B-B14F-4D97-AF65-F5344CB8AC3E}">
        <p14:creationId xmlns:p14="http://schemas.microsoft.com/office/powerpoint/2010/main" val="33070534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7E13BC-D1FF-437C-99EF-DE496F11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FuelTrack en Android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41C2E2-3E63-49E0-8388-8DD8FEFF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15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7c9920e144825"/>
          <a:stretch xmlns:a="http://schemas.openxmlformats.org/drawingml/2006/main"/>
        </p:blipFill>
        <p:spPr>
          <a:xfrm xmlns:a="http://schemas.openxmlformats.org/drawingml/2006/main">
            <a:off x="8003381" y="1504950"/>
            <a:ext cx="2185988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ECBBB-DD0A-4FFB-928E-6F801620F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6429375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Acceso por usuario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Consulta de tickets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Validación en línea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Confirmación de identidad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Registro del despacho</a:t>
            </a:r>
          </a:p>
        </p:txBody>
      </p:sp>
    </p:spTree>
    <p:extLst>
      <p:ext uri="{BB962C8B-B14F-4D97-AF65-F5344CB8AC3E}">
        <p14:creationId xmlns:p14="http://schemas.microsoft.com/office/powerpoint/2010/main" val="14629023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A66F4E-FA8B-4CE0-9FEB-753A24F9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Inventario con reglas de negocio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AD52F-484A-436B-A802-7FCEE379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15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f3b2114a0044a0"/>
          <a:stretch xmlns:a="http://schemas.openxmlformats.org/drawingml/2006/main"/>
        </p:blipFill>
        <p:spPr>
          <a:xfrm xmlns:a="http://schemas.openxmlformats.org/drawingml/2006/main">
            <a:off x="4524375" y="1735336"/>
            <a:ext cx="7096125" cy="4435078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AEB584-2F6F-48B1-BA0E-1F506A4D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57375"/>
            <a:ext cx="34290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Recepciones y compras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Despachos y mermas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Ajustes con motivo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Transferencias compatibles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Historial de movimientos</a:t>
            </a:r>
          </a:p>
        </p:txBody>
      </p:sp>
    </p:spTree>
    <p:extLst>
      <p:ext uri="{BB962C8B-B14F-4D97-AF65-F5344CB8AC3E}">
        <p14:creationId xmlns:p14="http://schemas.microsoft.com/office/powerpoint/2010/main" val="39504656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3855E8-E348-4F24-A07E-A0A03AA12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Información para decidir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D7BDE-0118-4423-AF61-2937ECF7E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15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a5b790d8084e8e"/>
          <a:stretch xmlns:a="http://schemas.openxmlformats.org/drawingml/2006/main"/>
        </p:blipFill>
        <p:spPr>
          <a:xfrm xmlns:a="http://schemas.openxmlformats.org/drawingml/2006/main">
            <a:off x="2514600" y="1476375"/>
            <a:ext cx="7162800" cy="4476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87681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147E4E-BA6C-4551-A7D6-030286D3E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Reportes y cierre diario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9CEE66-4C3A-4932-B6F4-E78E64714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15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a816467dd44242"/>
          <a:stretch xmlns:a="http://schemas.openxmlformats.org/drawingml/2006/main"/>
        </p:blipFill>
        <p:spPr>
          <a:xfrm xmlns:a="http://schemas.openxmlformats.org/drawingml/2006/main">
            <a:off x="4719638" y="1666875"/>
            <a:ext cx="6705600" cy="4191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E006DA-5A8E-48A9-8850-6025A705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3476625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Filtros por operación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Excel, CSV y 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Acta de cierre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Trazabilidad del resultado</a:t>
            </a:r>
          </a:p>
        </p:txBody>
      </p:sp>
    </p:spTree>
    <p:extLst>
      <p:ext uri="{BB962C8B-B14F-4D97-AF65-F5344CB8AC3E}">
        <p14:creationId xmlns:p14="http://schemas.microsoft.com/office/powerpoint/2010/main" val="87871611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B58CC4-881A-4368-93E5-963D5D5E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Lenguajes y tecnologías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14A115-E6F7-4BDF-B9DB-56358ECB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15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666750" y="1695450"/>
          <a:ext xmlns:a="http://schemas.openxmlformats.org/drawingml/2006/main" cx="108585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38375"/>
                <a:gridCol w="3000375"/>
                <a:gridCol w="5619750"/>
              </a:tblGrid>
              <a:tr h="6032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Capa</a:t>
                      </a:r>
                    </a:p>
                  </a:txBody>
                  <a:tcPr marL="91440" marR="91440" marT="45720" marB="45720">
                    <a:solidFill>
                      <a:srgbClr val="173D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Lenguaje</a:t>
                      </a:r>
                    </a:p>
                  </a:txBody>
                  <a:tcPr marL="91440" marR="91440" marT="45720" marB="45720">
                    <a:solidFill>
                      <a:srgbClr val="173D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Tecnología</a:t>
                      </a:r>
                    </a:p>
                  </a:txBody>
                  <a:tcPr marL="91440" marR="91440" marT="45720" marB="45720">
                    <a:solidFill>
                      <a:srgbClr val="173D35"/>
                    </a:solidFill>
                  </a:tcPr>
                </a:tc>
              </a:tr>
              <a:tr h="6032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C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Web / PWA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C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JavaScript, HTML, CSS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C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React, Vite, Tailwind CSS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32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C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Servidor</a:t>
                      </a:r>
                    </a:p>
                  </a:txBody>
                  <a:tcPr marL="91440" marR="91440" marT="45720" marB="45720">
                    <a:solidFill>
                      <a:srgbClr val="E7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C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C#</a:t>
                      </a:r>
                    </a:p>
                  </a:txBody>
                  <a:tcPr marL="91440" marR="91440" marT="45720" marB="45720">
                    <a:solidFill>
                      <a:srgbClr val="E7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C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.NET 10, Entity Framework Core</a:t>
                      </a:r>
                    </a:p>
                  </a:txBody>
                  <a:tcPr marL="91440" marR="91440" marT="45720" marB="45720">
                    <a:solidFill>
                      <a:srgbClr val="E7EDE7"/>
                    </a:solidFill>
                  </a:tcPr>
                </a:tc>
              </a:tr>
              <a:tr h="6032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C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Datos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C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SQL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C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PostgreSQL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32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C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Android</a:t>
                      </a:r>
                    </a:p>
                  </a:txBody>
                  <a:tcPr marL="91440" marR="91440" marT="45720" marB="45720">
                    <a:solidFill>
                      <a:srgbClr val="E7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C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Dart</a:t>
                      </a:r>
                    </a:p>
                  </a:txBody>
                  <a:tcPr marL="91440" marR="91440" marT="45720" marB="45720">
                    <a:solidFill>
                      <a:srgbClr val="E7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C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Flutter</a:t>
                      </a:r>
                    </a:p>
                  </a:txBody>
                  <a:tcPr marL="91440" marR="91440" marT="45720" marB="45720">
                    <a:solidFill>
                      <a:srgbClr val="E7EDE7"/>
                    </a:solidFill>
                  </a:tcPr>
                </a:tc>
              </a:tr>
              <a:tr h="6032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C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Identidad e integración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C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HTTP / JSON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C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JWT, OAuth 2.0, Keycloak, SMTP, Textbee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768EB4-18D8-4273-8595-ED0A2F5A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86425"/>
            <a:ext cx="1085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Cambio documentado respecto al SRS: .NET 10 en lugar de .NET 8</a:t>
            </a:r>
          </a:p>
        </p:txBody>
      </p:sp>
    </p:spTree>
    <p:extLst>
      <p:ext uri="{BB962C8B-B14F-4D97-AF65-F5344CB8AC3E}">
        <p14:creationId xmlns:p14="http://schemas.microsoft.com/office/powerpoint/2010/main" val="152475553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1D7D7E-B69D-48E0-975E-DEFD703E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Seguridad aplicada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90C6D5-6549-4CDD-8F6B-47257946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15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74B6E7-4B84-4478-840D-8053ACBC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Acceso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DA8C0B-C2C8-4AAA-BBA6-D8D74DD1A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809750"/>
            <a:ext cx="704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Contraseñas, sesiones, renovación y revocación.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E28EBC-3F0F-4351-9E62-B72F7649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Permisos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1009BB-9CBE-4C86-9F09-49C81FC2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895600"/>
            <a:ext cx="704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RBAC y consulta de tickets según su propietario.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87D5FA-A6F7-4745-A3C6-C35C8145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QR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A4351E-4A11-4BB4-A34A-980E7C6C8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981450"/>
            <a:ext cx="704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Firma criptográfica, vigencia y rechazo de reutilización.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D183FD-8DAB-4758-B51D-2264D0588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6730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Auditoría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E07B54-2FD4-4919-9E60-3D5B337B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067300"/>
            <a:ext cx="704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Eventos de negocio y protección frente a modificación.</a:t>
            </a:r>
          </a:p>
        </p:txBody>
      </p:sp>
    </p:spTree>
    <p:extLst>
      <p:ext uri="{BB962C8B-B14F-4D97-AF65-F5344CB8AC3E}">
        <p14:creationId xmlns:p14="http://schemas.microsoft.com/office/powerpoint/2010/main" val="160102870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9F2874-4122-4480-9C36-BCE1C1BB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Correcciones y verificación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5C4FB4-A645-49F3-B2F5-CFF3813FA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15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89778B-7FD4-483F-B319-27891F9E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4762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7200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463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AB62D8-15FF-4755-9975-F79C05D8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5238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pruebas del servidor aprobadas</a:t>
            </a:r>
          </a:p>
          <a:p xmlns:a="http://schemas.openxmlformats.org/drawingml/2006/main">
            <a:pPr>
              <a:defRPr sz="240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0 fallidas · 0 omitidas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836AF3-90CA-4437-8955-445774CB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38325"/>
            <a:ext cx="47625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Revisión por roles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Casos límite y concurrencia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Navegador y emulador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Evidencia y guía manual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06FCAF-46D0-444F-86B4-CF40275D4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29275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Pruebas automatizadas y recorridos por roles con evidencia</a:t>
            </a:r>
          </a:p>
        </p:txBody>
      </p:sp>
    </p:spTree>
    <p:extLst>
      <p:ext uri="{BB962C8B-B14F-4D97-AF65-F5344CB8AC3E}">
        <p14:creationId xmlns:p14="http://schemas.microsoft.com/office/powerpoint/2010/main" val="84026353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F93643-7E5A-4C5D-B9A2-83252CFF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SMS con Textbee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C1CDDD-CE94-4017-A9EA-2ADA9696F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15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B6773E-A13C-4D18-8CDD-AC733B17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233362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E7"/>
          </a:solidFill>
          <a:ln xmlns:a="http://schemas.openxmlformats.org/drawingml/2006/main" w="19050">
            <a:solidFill>
              <a:srgbClr val="173D3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7594D2-4296-4C8D-A4D0-233F300F3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95575"/>
            <a:ext cx="21812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FuelTrack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3CB78A-7C5C-4242-A071-78C006EE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209925"/>
            <a:ext cx="21812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API y cola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F8E092-609D-49BF-9816-6F463BF3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524125"/>
            <a:ext cx="233362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E7"/>
          </a:solidFill>
          <a:ln xmlns:a="http://schemas.openxmlformats.org/drawingml/2006/main" w="19050">
            <a:solidFill>
              <a:srgbClr val="173D3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C38694-DB48-4A6D-9EC3-97F9A5B6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695575"/>
            <a:ext cx="21812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Textbee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14201C-2B8B-4B73-866C-C96571B1B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209925"/>
            <a:ext cx="21812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Servicio HTTPS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E3A5A6-1331-41F3-8A83-FBDD0A19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524125"/>
            <a:ext cx="233362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E7"/>
          </a:solidFill>
          <a:ln xmlns:a="http://schemas.openxmlformats.org/drawingml/2006/main" w="19050">
            <a:solidFill>
              <a:srgbClr val="173D3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90C2CE-0D18-44DA-A5F4-207CF483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695575"/>
            <a:ext cx="21812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Android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63966E-4193-405E-BDDC-2BA7C45B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209925"/>
            <a:ext cx="21812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SIM del operador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069C4F-25E6-45E3-ACFE-95944DC74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524125"/>
            <a:ext cx="233362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E7"/>
          </a:solidFill>
          <a:ln xmlns:a="http://schemas.openxmlformats.org/drawingml/2006/main" w="19050">
            <a:solidFill>
              <a:srgbClr val="173D3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3AF069-D537-4933-912E-6F55C5ACA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695575"/>
            <a:ext cx="21812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Destinatario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FEEC79-1CF0-46E1-8BC7-630820C6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3209925"/>
            <a:ext cx="21812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Enlace al ticket</a:t>
            </a:r>
          </a:p>
        </p:txBody>
      </p:sp>
      <p:cxnSp>
        <p:nvCxnSpPr>
          <p:cNvPr id="34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952750" y="321468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99A32"/>
            </a:solidFill>
            <a:tailEnd type="arrow" w="med" len="med"/>
          </a:ln>
        </p:spPr>
      </p:cxnSp>
      <p:cxnSp>
        <p:nvCxnSpPr>
          <p:cNvPr id="35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810250" y="321468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99A32"/>
            </a:solidFill>
            <a:tailEnd type="arrow" w="med" len="med"/>
          </a:ln>
        </p:spPr>
      </p:cxnSp>
      <p:cxnSp>
        <p:nvCxnSpPr>
          <p:cNvPr id="36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667750" y="321468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99A32"/>
            </a:solidFill>
            <a:tailEnd type="arrow" w="med" len="me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793824-9467-49AA-AFDE-539264D5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4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El destinatario recibe un enlace para consultar el ticket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4CA446-62FA-496E-924D-56D000207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388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Textbee conecta la plataforma con un Android vinculado</a:t>
            </a:r>
          </a:p>
        </p:txBody>
      </p:sp>
    </p:spTree>
    <p:extLst>
      <p:ext uri="{BB962C8B-B14F-4D97-AF65-F5344CB8AC3E}">
        <p14:creationId xmlns:p14="http://schemas.microsoft.com/office/powerpoint/2010/main" val="95748511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AC4AC7-CDCF-469C-98E7-F4F124C8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Demostración en vivo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77BC42-2916-4856-B24B-D239E664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15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CAD3BD-83F2-47EE-A171-12050B48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Solicitante y supervisor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BD8982-977F-443B-B2C7-E682CEAB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809750"/>
            <a:ext cx="704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Crear una solicitud y aprobarla.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4C9F41-BED5-4D37-9A07-B5D9C283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Ticket y despacho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D72297-00D5-4B21-AB1D-46C06342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895600"/>
            <a:ext cx="704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Emitir PDF, validar QR e identidad y servir combustible.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920704-9414-4E1D-9B05-E53EECB5A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Inventario y auditor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20F97B-D3B5-4F81-ADB2-EC2B3E11F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981450"/>
            <a:ext cx="704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Verificar saldo, movimiento y evento de auditoría.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E2C3E7-8C44-431F-9AF7-F7E066C4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6730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Cierre y reporte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AA2D65-6B9F-44CB-9B52-EDC14461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067300"/>
            <a:ext cx="704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Exportar el resultado y revisar el acta diaria.</a:t>
            </a:r>
          </a:p>
        </p:txBody>
      </p:sp>
    </p:spTree>
    <p:extLst>
      <p:ext uri="{BB962C8B-B14F-4D97-AF65-F5344CB8AC3E}">
        <p14:creationId xmlns:p14="http://schemas.microsoft.com/office/powerpoint/2010/main" val="1935937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520768-897F-468A-8FE9-3D59CAF5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Valor para la operación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5DABD1-95D4-4803-9F99-6FA642190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15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6B"/>
                </a:solidFill>
                <a:latin typeface="DejaVu Sans"/>
                <a:ea typeface="DejaVu Sans"/>
                <a:cs typeface="DejaVu Sans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DD0158-7AD4-4378-90C7-63C81F09A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Autorización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3AD227-D3CC-44BD-B0C8-F41BD279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809750"/>
            <a:ext cx="704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Cada despacho parte de una solicitud aprobada.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A015BE-C724-42D1-97BE-017116DD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Control de consumo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7021FB-2A8D-4693-BFF4-BC45A34D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895600"/>
            <a:ext cx="704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Existencias y movimientos vinculados al combustible.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FF43C7-D3CF-42A4-B1C7-CF0A030D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Trazabilidad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8BBEE6-A689-40C3-A823-50F71FDC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981450"/>
            <a:ext cx="704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Responsables, fechas y operaciones consultables.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12A397-6C00-463B-B1E5-4657F4E8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6730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D35"/>
                </a:solidFill>
                <a:latin typeface="DejaVu Sans"/>
                <a:ea typeface="DejaVu Sans"/>
                <a:cs typeface="DejaVu Sans"/>
              </a:rPr>
              <a:t>Información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DB98E1-565C-4BCF-A98A-DD058FBA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067300"/>
            <a:ext cx="704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C32"/>
                </a:solidFill>
                <a:latin typeface="DejaVu Sans"/>
                <a:ea typeface="DejaVu Sans"/>
                <a:cs typeface="DejaVu Sans"/>
              </a:rPr>
              <a:t>Reportes y cierres para revisar la operación.</a:t>
            </a:r>
          </a:p>
        </p:txBody>
      </p:sp>
    </p:spTree>
    <p:extLst>
      <p:ext uri="{BB962C8B-B14F-4D97-AF65-F5344CB8AC3E}">
        <p14:creationId xmlns:p14="http://schemas.microsoft.com/office/powerpoint/2010/main" val="47219465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73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C669CA-EBD2-4CF8-9B3C-D8DA1C29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FuelTrack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0C2982-2020-4346-9672-BF17CB1F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15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CBDDD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CBDDD5"/>
                </a:solidFill>
                <a:latin typeface="DejaVu Sans"/>
                <a:ea typeface="DejaVu Sans"/>
                <a:cs typeface="DejaVu Sans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95487D-A7C6-4359-8658-073D44DF4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0763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2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Control del combustible</a:t>
            </a:r>
          </a:p>
          <a:p xmlns:a="http://schemas.openxmlformats.org/drawingml/2006/main">
            <a:pPr>
              <a:defRPr sz="42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2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con evidencia de cada operación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961BE1-13E3-412C-B69D-4289F680D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4350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CBDDD5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CBDDD5"/>
                </a:solidFill>
                <a:latin typeface="DejaVu Sans"/>
                <a:ea typeface="DejaVu Sans"/>
                <a:cs typeface="DejaVu Sans"/>
              </a:rPr>
              <a:t>Revisión del producto y preguntas</a:t>
            </a:r>
          </a:p>
        </p:txBody>
      </p:sp>
    </p:spTree>
    <p:extLst>
      <p:ext uri="{BB962C8B-B14F-4D97-AF65-F5344CB8AC3E}">
        <p14:creationId xmlns:p14="http://schemas.microsoft.com/office/powerpoint/2010/main" val="16055630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2026-09-22T06:15:21.2580000Z</dcterms:created>
  <dcterms:modified xsi:type="dcterms:W3CDTF">2026-09-22T06:15:21.2580000Z</dcterms:modified>
</coreProperties>
</file>